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1.xml.rels" ContentType="application/vnd.openxmlformats-package.relationships+xml"/>
  <Override PartName="/ppt/slideMasters/slideMaster1.xml" ContentType="application/vnd.openxmlformats-officedocument.presentationml.slideMaster+xml"/>
  <Override PartName="/ppt/_rels/presentation.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media/image1.png" ContentType="image/png"/>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_rels/notesSlide16.xml.rels" ContentType="application/vnd.openxmlformats-package.relationships+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0.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1.xml.rels" ContentType="application/vnd.openxmlformats-package.relationships+xml"/>
  <Override PartName="/ppt/notesSlides/_rels/notesSlide1.xml.rels" ContentType="application/vnd.openxmlformats-package.relationships+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rtl="0">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trike="noStrike" u="none">
                <a:solidFill>
                  <a:schemeClr val="dk1"/>
                </a:solidFill>
                <a:uFillTx/>
                <a:latin typeface="Calibri"/>
              </a:rPr>
              <a:t>Double-tap to move the slide</a:t>
            </a:r>
            <a:endParaRPr b="0" lang="en-US" sz="1800" strike="noStrike" u="none">
              <a:solidFill>
                <a:schemeClr val="dk1"/>
              </a:solidFill>
              <a:uFillTx/>
              <a:latin typeface="Calibri"/>
            </a:endParaRPr>
          </a:p>
        </p:txBody>
      </p:sp>
      <p:sp>
        <p:nvSpPr>
          <p:cNvPr id="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Arial"/>
              </a:rPr>
              <a:t>Double-tap to edit the notes format</a:t>
            </a:r>
            <a:endParaRPr b="0" lang="en-US" sz="2000" strike="noStrike" u="none">
              <a:solidFill>
                <a:srgbClr val="000000"/>
              </a:solidFill>
              <a:uFillTx/>
              <a:latin typeface="Arial"/>
            </a:endParaRPr>
          </a:p>
        </p:txBody>
      </p:sp>
      <p:sp>
        <p:nvSpPr>
          <p:cNvPr id="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uFillTx/>
                <a:latin typeface="Arial"/>
              </a:rPr>
              <a:t>&lt;header&gt;</a:t>
            </a:r>
            <a:endParaRPr b="0" lang="en-US" sz="1400" strike="noStrike" u="none">
              <a:solidFill>
                <a:srgbClr val="000000"/>
              </a:solidFill>
              <a:uFillTx/>
              <a:latin typeface="Arial"/>
            </a:endParaRPr>
          </a:p>
        </p:txBody>
      </p:sp>
      <p:sp>
        <p:nvSpPr>
          <p:cNvPr id="5"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Arial"/>
              </a:defRPr>
            </a:lvl1pPr>
          </a:lstStyle>
          <a:p>
            <a:pPr indent="0" algn="r">
              <a:buNone/>
            </a:pPr>
            <a:r>
              <a:rPr b="0" lang="en-US" sz="1400" strike="noStrike" u="none">
                <a:solidFill>
                  <a:srgbClr val="000000"/>
                </a:solidFill>
                <a:uFillTx/>
                <a:latin typeface="Arial"/>
              </a:rPr>
              <a:t>&lt;date/time&gt;</a:t>
            </a:r>
            <a:endParaRPr b="0" lang="en-US" sz="1400" strike="noStrike" u="none">
              <a:solidFill>
                <a:srgbClr val="000000"/>
              </a:solidFill>
              <a:uFillTx/>
              <a:latin typeface="Arial"/>
            </a:endParaRPr>
          </a:p>
        </p:txBody>
      </p:sp>
      <p:sp>
        <p:nvSpPr>
          <p:cNvPr id="6"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uFillTx/>
                <a:latin typeface="Arial"/>
              </a:defRPr>
            </a:lvl1pPr>
          </a:lstStyle>
          <a:p>
            <a:pPr indent="0">
              <a:buNone/>
            </a:pPr>
            <a:r>
              <a:rPr b="0" lang="en-US" sz="1400" strike="noStrike" u="none">
                <a:solidFill>
                  <a:srgbClr val="000000"/>
                </a:solidFill>
                <a:uFillTx/>
                <a:latin typeface="Arial"/>
              </a:rPr>
              <a:t>&lt;footer&gt;</a:t>
            </a:r>
            <a:endParaRPr b="0" lang="en-US" sz="1400" strike="noStrike" u="none">
              <a:solidFill>
                <a:srgbClr val="000000"/>
              </a:solidFill>
              <a:uFillTx/>
              <a:latin typeface="Arial"/>
            </a:endParaRPr>
          </a:p>
        </p:txBody>
      </p:sp>
      <p:sp>
        <p:nvSpPr>
          <p:cNvPr id="7"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uFillTx/>
                <a:latin typeface="Arial"/>
              </a:defRPr>
            </a:lvl1pPr>
          </a:lstStyle>
          <a:p>
            <a:pPr indent="0" algn="r">
              <a:buNone/>
            </a:pPr>
            <a:fld id="{852860AC-1D7C-4944-808E-49B455F20CD1}" type="slidenum">
              <a:rPr b="0" lang="en-US" sz="1400" strike="noStrike" u="none">
                <a:solidFill>
                  <a:srgbClr val="000000"/>
                </a:solidFill>
                <a:uFillTx/>
                <a:latin typeface="Arial"/>
              </a:rPr>
              <a:t>&lt;number&gt;</a:t>
            </a:fld>
            <a:endParaRPr b="0" lang="en-US" sz="1400" strike="noStrike" u="none">
              <a:solidFill>
                <a:srgbClr val="000000"/>
              </a:solidFill>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sldImg"/>
          </p:nvPr>
        </p:nvSpPr>
        <p:spPr>
          <a:xfrm>
            <a:off x="0" y="0"/>
            <a:ext cx="0" cy="0"/>
          </a:xfrm>
          <a:prstGeom prst="rect">
            <a:avLst/>
          </a:prstGeom>
          <a:ln w="0">
            <a:noFill/>
          </a:ln>
        </p:spPr>
      </p:sp>
      <p:sp>
        <p:nvSpPr>
          <p:cNvPr id="54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43"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E795BFC0-8BFE-4435-B1F6-2165FF88D257}"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sldImg"/>
          </p:nvPr>
        </p:nvSpPr>
        <p:spPr>
          <a:xfrm>
            <a:off x="0" y="0"/>
            <a:ext cx="0" cy="0"/>
          </a:xfrm>
          <a:prstGeom prst="rect">
            <a:avLst/>
          </a:prstGeom>
          <a:ln w="0">
            <a:noFill/>
          </a:ln>
        </p:spPr>
      </p:sp>
      <p:sp>
        <p:nvSpPr>
          <p:cNvPr id="54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46"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EAB75284-2FB5-4AF9-BBF2-78B38EF475A2}"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sldImg"/>
          </p:nvPr>
        </p:nvSpPr>
        <p:spPr>
          <a:xfrm>
            <a:off x="0" y="0"/>
            <a:ext cx="0" cy="0"/>
          </a:xfrm>
          <a:prstGeom prst="rect">
            <a:avLst/>
          </a:prstGeom>
          <a:ln w="0">
            <a:noFill/>
          </a:ln>
        </p:spPr>
      </p:sp>
      <p:sp>
        <p:nvSpPr>
          <p:cNvPr id="54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49"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8D187E81-0452-49EF-92F2-1E401E6510A1}"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Img"/>
          </p:nvPr>
        </p:nvSpPr>
        <p:spPr>
          <a:xfrm>
            <a:off x="0" y="0"/>
            <a:ext cx="0" cy="0"/>
          </a:xfrm>
          <a:prstGeom prst="rect">
            <a:avLst/>
          </a:prstGeom>
          <a:ln w="0">
            <a:noFill/>
          </a:ln>
        </p:spPr>
      </p:sp>
      <p:sp>
        <p:nvSpPr>
          <p:cNvPr id="55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52"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0BBBFD07-45DB-4244-B6FD-6787245C1AF7}"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0" y="0"/>
            <a:ext cx="0" cy="0"/>
          </a:xfrm>
          <a:prstGeom prst="rect">
            <a:avLst/>
          </a:prstGeom>
          <a:ln w="0">
            <a:noFill/>
          </a:ln>
        </p:spPr>
      </p:sp>
      <p:sp>
        <p:nvSpPr>
          <p:cNvPr id="55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55"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049B197A-3AFC-4896-9349-F2E65DBF1C5B}"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0" y="0"/>
            <a:ext cx="0" cy="0"/>
          </a:xfrm>
          <a:prstGeom prst="rect">
            <a:avLst/>
          </a:prstGeom>
          <a:ln w="0">
            <a:noFill/>
          </a:ln>
        </p:spPr>
      </p:sp>
      <p:sp>
        <p:nvSpPr>
          <p:cNvPr id="55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58"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3EA2D6BA-7D31-40AB-80CF-FF2F34293D6D}"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0" y="0"/>
            <a:ext cx="0" cy="0"/>
          </a:xfrm>
          <a:prstGeom prst="rect">
            <a:avLst/>
          </a:prstGeom>
          <a:ln w="0">
            <a:noFill/>
          </a:ln>
        </p:spPr>
      </p:sp>
      <p:sp>
        <p:nvSpPr>
          <p:cNvPr id="56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61"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DDD92218-6DB2-4FBA-A83C-F43F2D513630}"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0" y="0"/>
            <a:ext cx="0" cy="0"/>
          </a:xfrm>
          <a:prstGeom prst="rect">
            <a:avLst/>
          </a:prstGeom>
          <a:ln w="0">
            <a:noFill/>
          </a:ln>
        </p:spPr>
      </p:sp>
      <p:sp>
        <p:nvSpPr>
          <p:cNvPr id="56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64"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5272B897-F141-4563-9DF6-171CCBDC5442}"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0" y="0"/>
            <a:ext cx="0" cy="0"/>
          </a:xfrm>
          <a:prstGeom prst="rect">
            <a:avLst/>
          </a:prstGeom>
          <a:ln w="0">
            <a:noFill/>
          </a:ln>
        </p:spPr>
      </p:sp>
      <p:sp>
        <p:nvSpPr>
          <p:cNvPr id="56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67"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65F8B9A5-3596-463A-B26F-0E0F37C1E5F9}"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0" y="0"/>
            <a:ext cx="0" cy="0"/>
          </a:xfrm>
          <a:prstGeom prst="rect">
            <a:avLst/>
          </a:prstGeom>
          <a:ln w="0">
            <a:noFill/>
          </a:ln>
        </p:spPr>
      </p:sp>
      <p:sp>
        <p:nvSpPr>
          <p:cNvPr id="56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70"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759E315B-58FC-496B-8B78-A09284ABA257}"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0" y="0"/>
            <a:ext cx="0" cy="0"/>
          </a:xfrm>
          <a:prstGeom prst="rect">
            <a:avLst/>
          </a:prstGeom>
          <a:ln w="0">
            <a:noFill/>
          </a:ln>
        </p:spPr>
      </p:sp>
      <p:sp>
        <p:nvSpPr>
          <p:cNvPr id="57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73"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69A944BD-70B3-4201-A8C2-34BE657617DA}"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0" y="0"/>
            <a:ext cx="0" cy="0"/>
          </a:xfrm>
          <a:prstGeom prst="rect">
            <a:avLst/>
          </a:prstGeom>
          <a:ln w="0">
            <a:noFill/>
          </a:ln>
        </p:spPr>
      </p:sp>
      <p:sp>
        <p:nvSpPr>
          <p:cNvPr id="5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76"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6D15C12E-790B-4F75-9350-A887AE368F21}"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0" y="0"/>
            <a:ext cx="0" cy="0"/>
          </a:xfrm>
          <a:prstGeom prst="rect">
            <a:avLst/>
          </a:prstGeom>
          <a:ln w="0">
            <a:noFill/>
          </a:ln>
        </p:spPr>
      </p:sp>
      <p:sp>
        <p:nvSpPr>
          <p:cNvPr id="57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79"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66FFE6C2-3C21-465D-9B21-7F2FCAFADC5D}"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0" y="0"/>
            <a:ext cx="0" cy="0"/>
          </a:xfrm>
          <a:prstGeom prst="rect">
            <a:avLst/>
          </a:prstGeom>
          <a:ln w="0">
            <a:noFill/>
          </a:ln>
        </p:spPr>
      </p:sp>
      <p:sp>
        <p:nvSpPr>
          <p:cNvPr id="58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82"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5FE057B5-8D23-4921-ABBF-99BA0960C94F}"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0" y="0"/>
            <a:ext cx="0" cy="0"/>
          </a:xfrm>
          <a:prstGeom prst="rect">
            <a:avLst/>
          </a:prstGeom>
          <a:ln w="0">
            <a:noFill/>
          </a:ln>
        </p:spPr>
      </p:sp>
      <p:sp>
        <p:nvSpPr>
          <p:cNvPr id="58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85"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AC15BEA9-764F-40D5-973D-A0AAE06EA3A8}"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0" y="0"/>
            <a:ext cx="0" cy="0"/>
          </a:xfrm>
          <a:prstGeom prst="rect">
            <a:avLst/>
          </a:prstGeom>
          <a:ln w="0">
            <a:noFill/>
          </a:ln>
        </p:spPr>
      </p:sp>
      <p:sp>
        <p:nvSpPr>
          <p:cNvPr id="58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trike="noStrike" u="none">
              <a:solidFill>
                <a:srgbClr val="000000"/>
              </a:solidFill>
              <a:uFillTx/>
              <a:latin typeface="Arial"/>
            </a:endParaRPr>
          </a:p>
        </p:txBody>
      </p:sp>
      <p:sp>
        <p:nvSpPr>
          <p:cNvPr id="588"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mn-lt"/>
                <a:ea typeface="+mn-ea"/>
              </a:defRPr>
            </a:lvl1pPr>
          </a:lstStyle>
          <a:p>
            <a:pPr indent="0" defTabSz="914400">
              <a:lnSpc>
                <a:spcPct val="100000"/>
              </a:lnSpc>
              <a:buNone/>
            </a:pPr>
            <a:fld id="{315E7A5A-3E98-4664-95B7-2A99A85D501E}" type="slidenum">
              <a:rPr b="0" lang="en-US" sz="1800" strike="noStrike" u="none">
                <a:solidFill>
                  <a:schemeClr val="dk1"/>
                </a:solidFill>
                <a:uFillTx/>
                <a:latin typeface="+mn-lt"/>
                <a:ea typeface="+mn-ea"/>
              </a:rPr>
              <a:t>&lt;number&gt;</a:t>
            </a:fld>
            <a:endParaRPr b="0" lang="en-US" sz="1800" strike="noStrike" u="none">
              <a:solidFill>
                <a:srgbClr val="000000"/>
              </a:solidFill>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trike="noStrike" u="none">
                <a:solidFill>
                  <a:schemeClr val="dk1"/>
                </a:solidFill>
                <a:uFillTx/>
                <a:latin typeface="Calibri"/>
              </a:rPr>
              <a:t>Double-tap to edit the title text format</a:t>
            </a:r>
            <a:endParaRPr b="0" lang="en-US" sz="1800" strike="noStrike" u="none">
              <a:solidFill>
                <a:schemeClr val="dk1"/>
              </a:solidFill>
              <a:uFillTx/>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SzPct val="45000"/>
              <a:buFont typeface="Wingdings" charset="2"/>
              <a:buChar char=""/>
            </a:pPr>
            <a:r>
              <a:rPr b="0" lang="en-US" sz="3200" strike="noStrike" u="none">
                <a:solidFill>
                  <a:schemeClr val="dk1"/>
                </a:solidFill>
                <a:uFillTx/>
                <a:latin typeface="Calibri"/>
              </a:rPr>
              <a:t>Double-tap to edit the outline text format</a:t>
            </a:r>
            <a:endParaRPr b="0" lang="en-US" sz="3200" strike="noStrike" u="none">
              <a:solidFill>
                <a:schemeClr val="dk1"/>
              </a:solidFill>
              <a:uFillTx/>
              <a:latin typeface="Calibri"/>
            </a:endParaRPr>
          </a:p>
          <a:p>
            <a:pPr lvl="1" marL="864000" indent="-324000">
              <a:spcBef>
                <a:spcPts val="1134"/>
              </a:spcBef>
              <a:buSzPct val="75000"/>
              <a:buFont typeface="Symbol" charset="2"/>
              <a:buChar char=""/>
            </a:pPr>
            <a:r>
              <a:rPr b="0" lang="en-US" sz="2400" strike="noStrike" u="none">
                <a:solidFill>
                  <a:schemeClr val="dk1"/>
                </a:solidFill>
                <a:uFillTx/>
                <a:latin typeface="Calibri"/>
              </a:rPr>
              <a:t>Second Outline Level</a:t>
            </a:r>
            <a:endParaRPr b="0" lang="en-US" sz="2400" strike="noStrike" u="none">
              <a:solidFill>
                <a:schemeClr val="dk1"/>
              </a:solidFill>
              <a:uFillTx/>
              <a:latin typeface="Calibri"/>
            </a:endParaRPr>
          </a:p>
          <a:p>
            <a:pPr lvl="2" marL="1296000" indent="-288000">
              <a:spcBef>
                <a:spcPts val="850"/>
              </a:spcBef>
              <a:buSzPct val="45000"/>
              <a:buFont typeface="Wingdings" charset="2"/>
              <a:buChar char=""/>
            </a:pPr>
            <a:r>
              <a:rPr b="0" lang="en-US" sz="2000" strike="noStrike" u="none">
                <a:solidFill>
                  <a:schemeClr val="dk1"/>
                </a:solidFill>
                <a:uFillTx/>
                <a:latin typeface="Calibri"/>
              </a:rPr>
              <a:t>Third Outline Level</a:t>
            </a:r>
            <a:endParaRPr b="0" lang="en-US" sz="2000" strike="noStrike" u="none">
              <a:solidFill>
                <a:schemeClr val="dk1"/>
              </a:solidFill>
              <a:uFillTx/>
              <a:latin typeface="Calibri"/>
            </a:endParaRPr>
          </a:p>
          <a:p>
            <a:pPr lvl="3" marL="1728000" indent="-216000">
              <a:spcBef>
                <a:spcPts val="567"/>
              </a:spcBef>
              <a:buSzPct val="75000"/>
              <a:buFont typeface="Symbol" charset="2"/>
              <a:buChar char=""/>
            </a:pPr>
            <a:r>
              <a:rPr b="0" lang="en-US" sz="2000" strike="noStrike" u="none">
                <a:solidFill>
                  <a:schemeClr val="dk1"/>
                </a:solidFill>
                <a:uFillTx/>
                <a:latin typeface="Calibri"/>
              </a:rPr>
              <a:t>Fourth Outline Level</a:t>
            </a:r>
            <a:endParaRPr b="0" lang="en-US" sz="2000" strike="noStrike" u="none">
              <a:solidFill>
                <a:schemeClr val="dk1"/>
              </a:solidFill>
              <a:uFillTx/>
              <a:latin typeface="Calibri"/>
            </a:endParaRPr>
          </a:p>
          <a:p>
            <a:pPr lvl="4" marL="2160000" indent="-216000">
              <a:spcBef>
                <a:spcPts val="283"/>
              </a:spcBef>
              <a:buSzPct val="45000"/>
              <a:buFont typeface="Wingdings" charset="2"/>
              <a:buChar char=""/>
            </a:pPr>
            <a:r>
              <a:rPr b="0" lang="en-US" sz="2000" strike="noStrike" u="none">
                <a:solidFill>
                  <a:schemeClr val="dk1"/>
                </a:solidFill>
                <a:uFillTx/>
                <a:latin typeface="Calibri"/>
              </a:rPr>
              <a:t>Fifth Outline Level</a:t>
            </a:r>
            <a:endParaRPr b="0" lang="en-US" sz="2000" strike="noStrike" u="none">
              <a:solidFill>
                <a:schemeClr val="dk1"/>
              </a:solidFill>
              <a:uFillTx/>
              <a:latin typeface="Calibri"/>
            </a:endParaRPr>
          </a:p>
          <a:p>
            <a:pPr lvl="5" marL="2592000" indent="-216000">
              <a:spcBef>
                <a:spcPts val="283"/>
              </a:spcBef>
              <a:buSzPct val="45000"/>
              <a:buFont typeface="Wingdings" charset="2"/>
              <a:buChar char=""/>
            </a:pPr>
            <a:r>
              <a:rPr b="0" lang="en-US" sz="2000" strike="noStrike" u="none">
                <a:solidFill>
                  <a:schemeClr val="dk1"/>
                </a:solidFill>
                <a:uFillTx/>
                <a:latin typeface="Calibri"/>
              </a:rPr>
              <a:t>Sixth Outline Level</a:t>
            </a:r>
            <a:endParaRPr b="0" lang="en-US" sz="2000" strike="noStrike" u="none">
              <a:solidFill>
                <a:schemeClr val="dk1"/>
              </a:solidFill>
              <a:uFillTx/>
              <a:latin typeface="Calibri"/>
            </a:endParaRPr>
          </a:p>
          <a:p>
            <a:pPr lvl="6" marL="3024000" indent="-216000">
              <a:spcBef>
                <a:spcPts val="283"/>
              </a:spcBef>
              <a:buSzPct val="45000"/>
              <a:buFont typeface="Wingdings" charset="2"/>
              <a:buChar char=""/>
            </a:pPr>
            <a:r>
              <a:rPr b="0" lang="en-US" sz="2000" strike="noStrike" u="none">
                <a:solidFill>
                  <a:schemeClr val="dk1"/>
                </a:solidFill>
                <a:uFillTx/>
                <a:latin typeface="Calibri"/>
              </a:rPr>
              <a:t>Seventh Outline Level</a:t>
            </a:r>
            <a:endParaRPr b="0" lang="en-US" sz="2000" strike="noStrike" u="none">
              <a:solidFill>
                <a:schemeClr val="dk1"/>
              </a:solidFill>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8" name="Shape 0"/>
          <p:cNvSpPr/>
          <p:nvPr/>
        </p:nvSpPr>
        <p:spPr>
          <a:xfrm>
            <a:off x="5943600" y="-1371600"/>
            <a:ext cx="5486040" cy="5486040"/>
          </a:xfrm>
          <a:prstGeom prst="ellipse">
            <a:avLst/>
          </a:prstGeom>
          <a:solidFill>
            <a:srgbClr val="0077b6">
              <a:alpha val="18000"/>
            </a:srgbClr>
          </a:solidFill>
          <a:ln w="12700">
            <a:solidFill>
              <a:srgbClr val="0077b6">
                <a:alpha val="18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9" name="Shape 1"/>
          <p:cNvSpPr/>
          <p:nvPr/>
        </p:nvSpPr>
        <p:spPr>
          <a:xfrm>
            <a:off x="6858000" y="-457200"/>
            <a:ext cx="3657240" cy="3657240"/>
          </a:xfrm>
          <a:prstGeom prst="ellipse">
            <a:avLst/>
          </a:prstGeom>
          <a:solidFill>
            <a:srgbClr val="00c9e0">
              <a:alpha val="12000"/>
            </a:srgbClr>
          </a:solidFill>
          <a:ln w="12700">
            <a:solidFill>
              <a:srgbClr val="00c9e0">
                <a:alpha val="1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0" name="Shape 2"/>
          <p:cNvSpPr/>
          <p:nvPr/>
        </p:nvSpPr>
        <p:spPr>
          <a:xfrm>
            <a:off x="182880" y="3474720"/>
            <a:ext cx="2285640" cy="2285640"/>
          </a:xfrm>
          <a:prstGeom prst="ellipse">
            <a:avLst/>
          </a:prstGeom>
          <a:solidFill>
            <a:srgbClr val="8b5cf6">
              <a:alpha val="12000"/>
            </a:srgbClr>
          </a:solidFill>
          <a:ln w="12700">
            <a:solidFill>
              <a:srgbClr val="8b5cf6">
                <a:alpha val="1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1" name="Text 3"/>
          <p:cNvSpPr/>
          <p:nvPr/>
        </p:nvSpPr>
        <p:spPr>
          <a:xfrm>
            <a:off x="2743200" y="999720"/>
            <a:ext cx="8229240" cy="1279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6400" strike="noStrike" u="none">
                <a:solidFill>
                  <a:srgbClr val="ffffff"/>
                </a:solidFill>
                <a:uFillTx/>
                <a:latin typeface="Calibri"/>
                <a:ea typeface="Calibri"/>
              </a:rPr>
              <a:t>REST APIs</a:t>
            </a:r>
            <a:endParaRPr b="0" lang="en-US" sz="6400" strike="noStrike" u="none">
              <a:solidFill>
                <a:srgbClr val="ffffff"/>
              </a:solidFill>
              <a:uFillTx/>
              <a:latin typeface="Arial"/>
            </a:endParaRPr>
          </a:p>
        </p:txBody>
      </p:sp>
      <p:sp>
        <p:nvSpPr>
          <p:cNvPr id="12" name="Text 5"/>
          <p:cNvSpPr/>
          <p:nvPr/>
        </p:nvSpPr>
        <p:spPr>
          <a:xfrm>
            <a:off x="548640" y="2633400"/>
            <a:ext cx="6857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trike="noStrike" u="none">
                <a:solidFill>
                  <a:srgbClr val="7ba5c0"/>
                </a:solidFill>
                <a:uFillTx/>
                <a:latin typeface="Calibri"/>
                <a:ea typeface="Calibri"/>
              </a:rPr>
              <a:t>A complete guide to understanding, designing and using REST APIs</a:t>
            </a:r>
            <a:endParaRPr b="0" lang="en-US" sz="1500" strike="noStrike" u="none">
              <a:solidFill>
                <a:srgbClr val="ffffff"/>
              </a:solidFill>
              <a:uFillTx/>
              <a:latin typeface="Arial"/>
            </a:endParaRPr>
          </a:p>
        </p:txBody>
      </p:sp>
      <p:sp>
        <p:nvSpPr>
          <p:cNvPr id="13" name="Shape 6"/>
          <p:cNvSpPr/>
          <p:nvPr/>
        </p:nvSpPr>
        <p:spPr>
          <a:xfrm>
            <a:off x="548640" y="3246120"/>
            <a:ext cx="2285640" cy="1234080"/>
          </a:xfrm>
          <a:prstGeom prst="roundRect">
            <a:avLst>
              <a:gd name="adj" fmla="val 7407"/>
            </a:avLst>
          </a:prstGeom>
          <a:solidFill>
            <a:srgbClr val="13243a"/>
          </a:solidFill>
          <a:ln w="12700">
            <a:solidFill>
              <a:srgbClr val="00c9e0">
                <a:alpha val="4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4" name="Text 7"/>
          <p:cNvSpPr/>
          <p:nvPr/>
        </p:nvSpPr>
        <p:spPr>
          <a:xfrm>
            <a:off x="548640" y="3291840"/>
            <a:ext cx="228564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600" strike="noStrike" u="none">
                <a:solidFill>
                  <a:srgbClr val="00c9e0"/>
                </a:solidFill>
                <a:uFillTx/>
                <a:latin typeface="Calibri"/>
                <a:ea typeface="Calibri"/>
              </a:rPr>
              <a:t>6</a:t>
            </a:r>
            <a:endParaRPr b="0" lang="en-US" sz="3600" strike="noStrike" u="none">
              <a:solidFill>
                <a:srgbClr val="ffffff"/>
              </a:solidFill>
              <a:uFillTx/>
              <a:latin typeface="Arial"/>
            </a:endParaRPr>
          </a:p>
        </p:txBody>
      </p:sp>
      <p:sp>
        <p:nvSpPr>
          <p:cNvPr id="15" name="Text 8"/>
          <p:cNvSpPr/>
          <p:nvPr/>
        </p:nvSpPr>
        <p:spPr>
          <a:xfrm>
            <a:off x="548640" y="3913560"/>
            <a:ext cx="22856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b0cee0"/>
                </a:solidFill>
                <a:uFillTx/>
                <a:latin typeface="Calibri"/>
                <a:ea typeface="Calibri"/>
              </a:rPr>
              <a:t>REST Constraints</a:t>
            </a:r>
            <a:endParaRPr b="0" lang="en-US" sz="1100" strike="noStrike" u="none">
              <a:solidFill>
                <a:srgbClr val="ffffff"/>
              </a:solidFill>
              <a:uFillTx/>
              <a:latin typeface="Arial"/>
            </a:endParaRPr>
          </a:p>
        </p:txBody>
      </p:sp>
      <p:sp>
        <p:nvSpPr>
          <p:cNvPr id="16" name="Shape 9"/>
          <p:cNvSpPr/>
          <p:nvPr/>
        </p:nvSpPr>
        <p:spPr>
          <a:xfrm>
            <a:off x="3200400" y="3246120"/>
            <a:ext cx="2285640" cy="1234080"/>
          </a:xfrm>
          <a:prstGeom prst="roundRect">
            <a:avLst>
              <a:gd name="adj" fmla="val 7407"/>
            </a:avLst>
          </a:prstGeom>
          <a:solidFill>
            <a:srgbClr val="13243a"/>
          </a:solidFill>
          <a:ln w="12700">
            <a:solidFill>
              <a:srgbClr val="00c9e0">
                <a:alpha val="4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7" name="Text 10"/>
          <p:cNvSpPr/>
          <p:nvPr/>
        </p:nvSpPr>
        <p:spPr>
          <a:xfrm>
            <a:off x="3200400" y="3291840"/>
            <a:ext cx="228564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600" strike="noStrike" u="none">
                <a:solidFill>
                  <a:srgbClr val="00c9e0"/>
                </a:solidFill>
                <a:uFillTx/>
                <a:latin typeface="Calibri"/>
                <a:ea typeface="Calibri"/>
              </a:rPr>
              <a:t>5</a:t>
            </a:r>
            <a:endParaRPr b="0" lang="en-US" sz="3600" strike="noStrike" u="none">
              <a:solidFill>
                <a:srgbClr val="ffffff"/>
              </a:solidFill>
              <a:uFillTx/>
              <a:latin typeface="Arial"/>
            </a:endParaRPr>
          </a:p>
        </p:txBody>
      </p:sp>
      <p:sp>
        <p:nvSpPr>
          <p:cNvPr id="18" name="Text 11"/>
          <p:cNvSpPr/>
          <p:nvPr/>
        </p:nvSpPr>
        <p:spPr>
          <a:xfrm>
            <a:off x="3200400" y="3913560"/>
            <a:ext cx="22856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b0cee0"/>
                </a:solidFill>
                <a:uFillTx/>
                <a:latin typeface="Calibri"/>
                <a:ea typeface="Calibri"/>
              </a:rPr>
              <a:t>HTTP Methods</a:t>
            </a:r>
            <a:endParaRPr b="0" lang="en-US" sz="1100" strike="noStrike" u="none">
              <a:solidFill>
                <a:srgbClr val="ffffff"/>
              </a:solidFill>
              <a:uFillTx/>
              <a:latin typeface="Arial"/>
            </a:endParaRPr>
          </a:p>
        </p:txBody>
      </p:sp>
      <p:sp>
        <p:nvSpPr>
          <p:cNvPr id="19" name="Shape 12"/>
          <p:cNvSpPr/>
          <p:nvPr/>
        </p:nvSpPr>
        <p:spPr>
          <a:xfrm>
            <a:off x="5852160" y="3246120"/>
            <a:ext cx="2285640" cy="1234080"/>
          </a:xfrm>
          <a:prstGeom prst="roundRect">
            <a:avLst>
              <a:gd name="adj" fmla="val 7407"/>
            </a:avLst>
          </a:prstGeom>
          <a:solidFill>
            <a:srgbClr val="13243a"/>
          </a:solidFill>
          <a:ln w="12700">
            <a:solidFill>
              <a:srgbClr val="00c9e0">
                <a:alpha val="4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0" name="Text 13"/>
          <p:cNvSpPr/>
          <p:nvPr/>
        </p:nvSpPr>
        <p:spPr>
          <a:xfrm>
            <a:off x="5852160" y="3291840"/>
            <a:ext cx="228564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600" strike="noStrike" u="none">
                <a:solidFill>
                  <a:srgbClr val="00c9e0"/>
                </a:solidFill>
                <a:uFillTx/>
                <a:latin typeface="Calibri"/>
                <a:ea typeface="Calibri"/>
              </a:rPr>
              <a:t>20+</a:t>
            </a:r>
            <a:endParaRPr b="0" lang="en-US" sz="3600" strike="noStrike" u="none">
              <a:solidFill>
                <a:srgbClr val="ffffff"/>
              </a:solidFill>
              <a:uFillTx/>
              <a:latin typeface="Arial"/>
            </a:endParaRPr>
          </a:p>
        </p:txBody>
      </p:sp>
      <p:sp>
        <p:nvSpPr>
          <p:cNvPr id="21" name="Text 14"/>
          <p:cNvSpPr/>
          <p:nvPr/>
        </p:nvSpPr>
        <p:spPr>
          <a:xfrm>
            <a:off x="5852160" y="3913560"/>
            <a:ext cx="22856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b0cee0"/>
                </a:solidFill>
                <a:uFillTx/>
                <a:latin typeface="Calibri"/>
                <a:ea typeface="Calibri"/>
              </a:rPr>
              <a:t>Status Codes</a:t>
            </a:r>
            <a:endParaRPr b="0" lang="en-US" sz="1100" strike="noStrike" u="none">
              <a:solidFill>
                <a:srgbClr val="ffffff"/>
              </a:solidFill>
              <a:uFillTx/>
              <a:latin typeface="Arial"/>
            </a:endParaRPr>
          </a:p>
        </p:txBody>
      </p:sp>
      <p:sp>
        <p:nvSpPr>
          <p:cNvPr id="22" name="Text 15"/>
          <p:cNvSpPr/>
          <p:nvPr/>
        </p:nvSpPr>
        <p:spPr>
          <a:xfrm>
            <a:off x="548640" y="473652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7ba5c0"/>
                </a:solidFill>
                <a:uFillTx/>
                <a:latin typeface="Calibri"/>
                <a:ea typeface="Calibri"/>
              </a:rPr>
              <a:t>Knowledge Sharing Session  ·  2026</a:t>
            </a:r>
            <a:endParaRPr b="0" lang="en-US" sz="1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23"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Agenda</a:t>
            </a:r>
            <a:endParaRPr b="0" lang="en-US" sz="3400" strike="noStrike" u="none">
              <a:solidFill>
                <a:srgbClr val="ffffff"/>
              </a:solidFill>
              <a:uFillTx/>
              <a:latin typeface="Arial"/>
            </a:endParaRPr>
          </a:p>
        </p:txBody>
      </p:sp>
      <p:sp>
        <p:nvSpPr>
          <p:cNvPr id="24"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What we'll cover today</a:t>
            </a:r>
            <a:endParaRPr b="0" lang="en-US" sz="1300" strike="noStrike" u="none">
              <a:solidFill>
                <a:srgbClr val="ffffff"/>
              </a:solidFill>
              <a:uFillTx/>
              <a:latin typeface="Arial"/>
            </a:endParaRPr>
          </a:p>
        </p:txBody>
      </p:sp>
      <p:sp>
        <p:nvSpPr>
          <p:cNvPr id="25"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26" name="Shape 3"/>
          <p:cNvSpPr/>
          <p:nvPr/>
        </p:nvSpPr>
        <p:spPr>
          <a:xfrm>
            <a:off x="384120" y="111564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7" name="Shape 4"/>
          <p:cNvSpPr/>
          <p:nvPr/>
        </p:nvSpPr>
        <p:spPr>
          <a:xfrm>
            <a:off x="475560" y="122544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8" name="Text 5"/>
          <p:cNvSpPr/>
          <p:nvPr/>
        </p:nvSpPr>
        <p:spPr>
          <a:xfrm>
            <a:off x="475560" y="122544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01</a:t>
            </a:r>
            <a:endParaRPr b="0" lang="en-US" sz="1100" strike="noStrike" u="none">
              <a:solidFill>
                <a:srgbClr val="ffffff"/>
              </a:solidFill>
              <a:uFillTx/>
              <a:latin typeface="Arial"/>
            </a:endParaRPr>
          </a:p>
        </p:txBody>
      </p:sp>
      <p:sp>
        <p:nvSpPr>
          <p:cNvPr id="29" name="Text 6"/>
          <p:cNvSpPr/>
          <p:nvPr/>
        </p:nvSpPr>
        <p:spPr>
          <a:xfrm>
            <a:off x="914400" y="111564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What is an API?</a:t>
            </a:r>
            <a:endParaRPr b="0" lang="en-US" sz="1300" strike="noStrike" u="none">
              <a:solidFill>
                <a:srgbClr val="ffffff"/>
              </a:solidFill>
              <a:uFillTx/>
              <a:latin typeface="Arial"/>
            </a:endParaRPr>
          </a:p>
        </p:txBody>
      </p:sp>
      <p:sp>
        <p:nvSpPr>
          <p:cNvPr id="30" name="Shape 7"/>
          <p:cNvSpPr/>
          <p:nvPr/>
        </p:nvSpPr>
        <p:spPr>
          <a:xfrm>
            <a:off x="384120" y="175572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1" name="Shape 8"/>
          <p:cNvSpPr/>
          <p:nvPr/>
        </p:nvSpPr>
        <p:spPr>
          <a:xfrm>
            <a:off x="475560" y="186552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2" name="Text 9"/>
          <p:cNvSpPr/>
          <p:nvPr/>
        </p:nvSpPr>
        <p:spPr>
          <a:xfrm>
            <a:off x="475560" y="1865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02</a:t>
            </a:r>
            <a:endParaRPr b="0" lang="en-US" sz="1100" strike="noStrike" u="none">
              <a:solidFill>
                <a:srgbClr val="ffffff"/>
              </a:solidFill>
              <a:uFillTx/>
              <a:latin typeface="Arial"/>
            </a:endParaRPr>
          </a:p>
        </p:txBody>
      </p:sp>
      <p:sp>
        <p:nvSpPr>
          <p:cNvPr id="33" name="Text 10"/>
          <p:cNvSpPr/>
          <p:nvPr/>
        </p:nvSpPr>
        <p:spPr>
          <a:xfrm>
            <a:off x="914400" y="175572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What is REST?</a:t>
            </a:r>
            <a:endParaRPr b="0" lang="en-US" sz="1300" strike="noStrike" u="none">
              <a:solidFill>
                <a:srgbClr val="ffffff"/>
              </a:solidFill>
              <a:uFillTx/>
              <a:latin typeface="Arial"/>
            </a:endParaRPr>
          </a:p>
        </p:txBody>
      </p:sp>
      <p:sp>
        <p:nvSpPr>
          <p:cNvPr id="34" name="Shape 11"/>
          <p:cNvSpPr/>
          <p:nvPr/>
        </p:nvSpPr>
        <p:spPr>
          <a:xfrm>
            <a:off x="384120" y="239580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5" name="Shape 12"/>
          <p:cNvSpPr/>
          <p:nvPr/>
        </p:nvSpPr>
        <p:spPr>
          <a:xfrm>
            <a:off x="475560" y="250560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6" name="Text 13"/>
          <p:cNvSpPr/>
          <p:nvPr/>
        </p:nvSpPr>
        <p:spPr>
          <a:xfrm>
            <a:off x="475560" y="250560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03</a:t>
            </a:r>
            <a:endParaRPr b="0" lang="en-US" sz="1100" strike="noStrike" u="none">
              <a:solidFill>
                <a:srgbClr val="ffffff"/>
              </a:solidFill>
              <a:uFillTx/>
              <a:latin typeface="Arial"/>
            </a:endParaRPr>
          </a:p>
        </p:txBody>
      </p:sp>
      <p:sp>
        <p:nvSpPr>
          <p:cNvPr id="37" name="Text 14"/>
          <p:cNvSpPr/>
          <p:nvPr/>
        </p:nvSpPr>
        <p:spPr>
          <a:xfrm>
            <a:off x="914400" y="239580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6 Core Principles</a:t>
            </a:r>
            <a:endParaRPr b="0" lang="en-US" sz="1300" strike="noStrike" u="none">
              <a:solidFill>
                <a:srgbClr val="ffffff"/>
              </a:solidFill>
              <a:uFillTx/>
              <a:latin typeface="Arial"/>
            </a:endParaRPr>
          </a:p>
        </p:txBody>
      </p:sp>
      <p:sp>
        <p:nvSpPr>
          <p:cNvPr id="38" name="Shape 15"/>
          <p:cNvSpPr/>
          <p:nvPr/>
        </p:nvSpPr>
        <p:spPr>
          <a:xfrm>
            <a:off x="384120" y="303588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9" name="Shape 16"/>
          <p:cNvSpPr/>
          <p:nvPr/>
        </p:nvSpPr>
        <p:spPr>
          <a:xfrm>
            <a:off x="475560" y="314568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0" name="Text 17"/>
          <p:cNvSpPr/>
          <p:nvPr/>
        </p:nvSpPr>
        <p:spPr>
          <a:xfrm>
            <a:off x="475560" y="314568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04</a:t>
            </a:r>
            <a:endParaRPr b="0" lang="en-US" sz="1100" strike="noStrike" u="none">
              <a:solidFill>
                <a:srgbClr val="ffffff"/>
              </a:solidFill>
              <a:uFillTx/>
              <a:latin typeface="Arial"/>
            </a:endParaRPr>
          </a:p>
        </p:txBody>
      </p:sp>
      <p:sp>
        <p:nvSpPr>
          <p:cNvPr id="41" name="Text 18"/>
          <p:cNvSpPr/>
          <p:nvPr/>
        </p:nvSpPr>
        <p:spPr>
          <a:xfrm>
            <a:off x="914400" y="303588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Resources &amp; URI Design</a:t>
            </a:r>
            <a:endParaRPr b="0" lang="en-US" sz="1300" strike="noStrike" u="none">
              <a:solidFill>
                <a:srgbClr val="ffffff"/>
              </a:solidFill>
              <a:uFillTx/>
              <a:latin typeface="Arial"/>
            </a:endParaRPr>
          </a:p>
        </p:txBody>
      </p:sp>
      <p:sp>
        <p:nvSpPr>
          <p:cNvPr id="42" name="Shape 19"/>
          <p:cNvSpPr/>
          <p:nvPr/>
        </p:nvSpPr>
        <p:spPr>
          <a:xfrm>
            <a:off x="384120" y="367596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3" name="Shape 20"/>
          <p:cNvSpPr/>
          <p:nvPr/>
        </p:nvSpPr>
        <p:spPr>
          <a:xfrm>
            <a:off x="475560" y="378576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4" name="Text 21"/>
          <p:cNvSpPr/>
          <p:nvPr/>
        </p:nvSpPr>
        <p:spPr>
          <a:xfrm>
            <a:off x="475560" y="378576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05</a:t>
            </a:r>
            <a:endParaRPr b="0" lang="en-US" sz="1100" strike="noStrike" u="none">
              <a:solidFill>
                <a:srgbClr val="ffffff"/>
              </a:solidFill>
              <a:uFillTx/>
              <a:latin typeface="Arial"/>
            </a:endParaRPr>
          </a:p>
        </p:txBody>
      </p:sp>
      <p:sp>
        <p:nvSpPr>
          <p:cNvPr id="45" name="Text 22"/>
          <p:cNvSpPr/>
          <p:nvPr/>
        </p:nvSpPr>
        <p:spPr>
          <a:xfrm>
            <a:off x="914400" y="367596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HTTP Methods (CRUD)</a:t>
            </a:r>
            <a:endParaRPr b="0" lang="en-US" sz="1300" strike="noStrike" u="none">
              <a:solidFill>
                <a:srgbClr val="ffffff"/>
              </a:solidFill>
              <a:uFillTx/>
              <a:latin typeface="Arial"/>
            </a:endParaRPr>
          </a:p>
        </p:txBody>
      </p:sp>
      <p:sp>
        <p:nvSpPr>
          <p:cNvPr id="46" name="Shape 23"/>
          <p:cNvSpPr/>
          <p:nvPr/>
        </p:nvSpPr>
        <p:spPr>
          <a:xfrm>
            <a:off x="384120" y="431604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7" name="Shape 24"/>
          <p:cNvSpPr/>
          <p:nvPr/>
        </p:nvSpPr>
        <p:spPr>
          <a:xfrm>
            <a:off x="475560" y="442584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8" name="Text 25"/>
          <p:cNvSpPr/>
          <p:nvPr/>
        </p:nvSpPr>
        <p:spPr>
          <a:xfrm>
            <a:off x="475560" y="442584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06</a:t>
            </a:r>
            <a:endParaRPr b="0" lang="en-US" sz="1100" strike="noStrike" u="none">
              <a:solidFill>
                <a:srgbClr val="ffffff"/>
              </a:solidFill>
              <a:uFillTx/>
              <a:latin typeface="Arial"/>
            </a:endParaRPr>
          </a:p>
        </p:txBody>
      </p:sp>
      <p:sp>
        <p:nvSpPr>
          <p:cNvPr id="49" name="Text 26"/>
          <p:cNvSpPr/>
          <p:nvPr/>
        </p:nvSpPr>
        <p:spPr>
          <a:xfrm>
            <a:off x="914400" y="431604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HTTP Status Codes</a:t>
            </a:r>
            <a:endParaRPr b="0" lang="en-US" sz="1300" strike="noStrike" u="none">
              <a:solidFill>
                <a:srgbClr val="ffffff"/>
              </a:solidFill>
              <a:uFillTx/>
              <a:latin typeface="Arial"/>
            </a:endParaRPr>
          </a:p>
        </p:txBody>
      </p:sp>
      <p:sp>
        <p:nvSpPr>
          <p:cNvPr id="50" name="Shape 27"/>
          <p:cNvSpPr/>
          <p:nvPr/>
        </p:nvSpPr>
        <p:spPr>
          <a:xfrm>
            <a:off x="4617720" y="111564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1" name="Shape 28"/>
          <p:cNvSpPr/>
          <p:nvPr/>
        </p:nvSpPr>
        <p:spPr>
          <a:xfrm>
            <a:off x="4709160" y="122544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2" name="Text 29"/>
          <p:cNvSpPr/>
          <p:nvPr/>
        </p:nvSpPr>
        <p:spPr>
          <a:xfrm>
            <a:off x="4709160" y="122544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07</a:t>
            </a:r>
            <a:endParaRPr b="0" lang="en-US" sz="1100" strike="noStrike" u="none">
              <a:solidFill>
                <a:srgbClr val="ffffff"/>
              </a:solidFill>
              <a:uFillTx/>
              <a:latin typeface="Arial"/>
            </a:endParaRPr>
          </a:p>
        </p:txBody>
      </p:sp>
      <p:sp>
        <p:nvSpPr>
          <p:cNvPr id="53" name="Text 30"/>
          <p:cNvSpPr/>
          <p:nvPr/>
        </p:nvSpPr>
        <p:spPr>
          <a:xfrm>
            <a:off x="5148000" y="111564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JSON — The Data Format</a:t>
            </a:r>
            <a:endParaRPr b="0" lang="en-US" sz="1300" strike="noStrike" u="none">
              <a:solidFill>
                <a:srgbClr val="ffffff"/>
              </a:solidFill>
              <a:uFillTx/>
              <a:latin typeface="Arial"/>
            </a:endParaRPr>
          </a:p>
        </p:txBody>
      </p:sp>
      <p:sp>
        <p:nvSpPr>
          <p:cNvPr id="54" name="Shape 31"/>
          <p:cNvSpPr/>
          <p:nvPr/>
        </p:nvSpPr>
        <p:spPr>
          <a:xfrm>
            <a:off x="4617720" y="175572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5" name="Shape 32"/>
          <p:cNvSpPr/>
          <p:nvPr/>
        </p:nvSpPr>
        <p:spPr>
          <a:xfrm>
            <a:off x="4709160" y="186552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6" name="Text 33"/>
          <p:cNvSpPr/>
          <p:nvPr/>
        </p:nvSpPr>
        <p:spPr>
          <a:xfrm>
            <a:off x="4709160" y="186552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08</a:t>
            </a:r>
            <a:endParaRPr b="0" lang="en-US" sz="1100" strike="noStrike" u="none">
              <a:solidFill>
                <a:srgbClr val="ffffff"/>
              </a:solidFill>
              <a:uFillTx/>
              <a:latin typeface="Arial"/>
            </a:endParaRPr>
          </a:p>
        </p:txBody>
      </p:sp>
      <p:sp>
        <p:nvSpPr>
          <p:cNvPr id="57" name="Text 34"/>
          <p:cNvSpPr/>
          <p:nvPr/>
        </p:nvSpPr>
        <p:spPr>
          <a:xfrm>
            <a:off x="5148000" y="175572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Request &amp; Response Anatomy</a:t>
            </a:r>
            <a:endParaRPr b="0" lang="en-US" sz="1300" strike="noStrike" u="none">
              <a:solidFill>
                <a:srgbClr val="ffffff"/>
              </a:solidFill>
              <a:uFillTx/>
              <a:latin typeface="Arial"/>
            </a:endParaRPr>
          </a:p>
        </p:txBody>
      </p:sp>
      <p:sp>
        <p:nvSpPr>
          <p:cNvPr id="58" name="Shape 35"/>
          <p:cNvSpPr/>
          <p:nvPr/>
        </p:nvSpPr>
        <p:spPr>
          <a:xfrm>
            <a:off x="4617720" y="239580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9" name="Shape 36"/>
          <p:cNvSpPr/>
          <p:nvPr/>
        </p:nvSpPr>
        <p:spPr>
          <a:xfrm>
            <a:off x="4709160" y="250560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60" name="Text 37"/>
          <p:cNvSpPr/>
          <p:nvPr/>
        </p:nvSpPr>
        <p:spPr>
          <a:xfrm>
            <a:off x="4709160" y="250560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09</a:t>
            </a:r>
            <a:endParaRPr b="0" lang="en-US" sz="1100" strike="noStrike" u="none">
              <a:solidFill>
                <a:srgbClr val="ffffff"/>
              </a:solidFill>
              <a:uFillTx/>
              <a:latin typeface="Arial"/>
            </a:endParaRPr>
          </a:p>
        </p:txBody>
      </p:sp>
      <p:sp>
        <p:nvSpPr>
          <p:cNvPr id="61" name="Text 38"/>
          <p:cNvSpPr/>
          <p:nvPr/>
        </p:nvSpPr>
        <p:spPr>
          <a:xfrm>
            <a:off x="5148000" y="239580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Authentication &amp; Security</a:t>
            </a:r>
            <a:endParaRPr b="0" lang="en-US" sz="1300" strike="noStrike" u="none">
              <a:solidFill>
                <a:srgbClr val="ffffff"/>
              </a:solidFill>
              <a:uFillTx/>
              <a:latin typeface="Arial"/>
            </a:endParaRPr>
          </a:p>
        </p:txBody>
      </p:sp>
      <p:sp>
        <p:nvSpPr>
          <p:cNvPr id="62" name="Shape 39"/>
          <p:cNvSpPr/>
          <p:nvPr/>
        </p:nvSpPr>
        <p:spPr>
          <a:xfrm>
            <a:off x="4617720" y="303588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63" name="Shape 40"/>
          <p:cNvSpPr/>
          <p:nvPr/>
        </p:nvSpPr>
        <p:spPr>
          <a:xfrm>
            <a:off x="4709160" y="314568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64" name="Text 41"/>
          <p:cNvSpPr/>
          <p:nvPr/>
        </p:nvSpPr>
        <p:spPr>
          <a:xfrm>
            <a:off x="4709160" y="314568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10</a:t>
            </a:r>
            <a:endParaRPr b="0" lang="en-US" sz="1100" strike="noStrike" u="none">
              <a:solidFill>
                <a:srgbClr val="ffffff"/>
              </a:solidFill>
              <a:uFillTx/>
              <a:latin typeface="Arial"/>
            </a:endParaRPr>
          </a:p>
        </p:txBody>
      </p:sp>
      <p:sp>
        <p:nvSpPr>
          <p:cNvPr id="65" name="Text 42"/>
          <p:cNvSpPr/>
          <p:nvPr/>
        </p:nvSpPr>
        <p:spPr>
          <a:xfrm>
            <a:off x="5148000" y="303588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Best Practices</a:t>
            </a:r>
            <a:endParaRPr b="0" lang="en-US" sz="1300" strike="noStrike" u="none">
              <a:solidFill>
                <a:srgbClr val="ffffff"/>
              </a:solidFill>
              <a:uFillTx/>
              <a:latin typeface="Arial"/>
            </a:endParaRPr>
          </a:p>
        </p:txBody>
      </p:sp>
      <p:sp>
        <p:nvSpPr>
          <p:cNvPr id="66" name="Shape 43"/>
          <p:cNvSpPr/>
          <p:nvPr/>
        </p:nvSpPr>
        <p:spPr>
          <a:xfrm>
            <a:off x="4617720" y="367596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67" name="Shape 44"/>
          <p:cNvSpPr/>
          <p:nvPr/>
        </p:nvSpPr>
        <p:spPr>
          <a:xfrm>
            <a:off x="4709160" y="378576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68" name="Text 45"/>
          <p:cNvSpPr/>
          <p:nvPr/>
        </p:nvSpPr>
        <p:spPr>
          <a:xfrm>
            <a:off x="4709160" y="378576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11</a:t>
            </a:r>
            <a:endParaRPr b="0" lang="en-US" sz="1100" strike="noStrike" u="none">
              <a:solidFill>
                <a:srgbClr val="ffffff"/>
              </a:solidFill>
              <a:uFillTx/>
              <a:latin typeface="Arial"/>
            </a:endParaRPr>
          </a:p>
        </p:txBody>
      </p:sp>
      <p:sp>
        <p:nvSpPr>
          <p:cNvPr id="69" name="Text 46"/>
          <p:cNvSpPr/>
          <p:nvPr/>
        </p:nvSpPr>
        <p:spPr>
          <a:xfrm>
            <a:off x="5148000" y="367596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Real-World APIs</a:t>
            </a:r>
            <a:endParaRPr b="0" lang="en-US" sz="1300" strike="noStrike" u="none">
              <a:solidFill>
                <a:srgbClr val="ffffff"/>
              </a:solidFill>
              <a:uFillTx/>
              <a:latin typeface="Arial"/>
            </a:endParaRPr>
          </a:p>
        </p:txBody>
      </p:sp>
      <p:sp>
        <p:nvSpPr>
          <p:cNvPr id="70" name="Shape 47"/>
          <p:cNvSpPr/>
          <p:nvPr/>
        </p:nvSpPr>
        <p:spPr>
          <a:xfrm>
            <a:off x="4617720" y="4316040"/>
            <a:ext cx="4068720" cy="529920"/>
          </a:xfrm>
          <a:prstGeom prst="roundRect">
            <a:avLst>
              <a:gd name="adj" fmla="val 12069"/>
            </a:avLst>
          </a:prstGeom>
          <a:solidFill>
            <a:srgbClr val="13243a"/>
          </a:solidFill>
          <a:ln w="12700">
            <a:solidFill>
              <a:srgbClr val="0077b6">
                <a:alpha val="3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71" name="Shape 48"/>
          <p:cNvSpPr/>
          <p:nvPr/>
        </p:nvSpPr>
        <p:spPr>
          <a:xfrm>
            <a:off x="4709160" y="4425840"/>
            <a:ext cx="310680" cy="310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72" name="Text 49"/>
          <p:cNvSpPr/>
          <p:nvPr/>
        </p:nvSpPr>
        <p:spPr>
          <a:xfrm>
            <a:off x="4709160" y="4425840"/>
            <a:ext cx="31068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12</a:t>
            </a:r>
            <a:endParaRPr b="0" lang="en-US" sz="1100" strike="noStrike" u="none">
              <a:solidFill>
                <a:srgbClr val="ffffff"/>
              </a:solidFill>
              <a:uFillTx/>
              <a:latin typeface="Arial"/>
            </a:endParaRPr>
          </a:p>
        </p:txBody>
      </p:sp>
      <p:sp>
        <p:nvSpPr>
          <p:cNvPr id="73" name="Text 50"/>
          <p:cNvSpPr/>
          <p:nvPr/>
        </p:nvSpPr>
        <p:spPr>
          <a:xfrm>
            <a:off x="5148000" y="4316040"/>
            <a:ext cx="3382920" cy="529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d8eef8"/>
                </a:solidFill>
                <a:uFillTx/>
                <a:latin typeface="Calibri"/>
                <a:ea typeface="Calibri"/>
              </a:rPr>
              <a:t>Tools &amp; Live Demo</a:t>
            </a:r>
            <a:endParaRPr b="0" lang="en-US" sz="13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74"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What is an API?</a:t>
            </a:r>
            <a:endParaRPr b="0" lang="en-US" sz="3400" strike="noStrike" u="none">
              <a:solidFill>
                <a:srgbClr val="ffffff"/>
              </a:solidFill>
              <a:uFillTx/>
              <a:latin typeface="Arial"/>
            </a:endParaRPr>
          </a:p>
        </p:txBody>
      </p:sp>
      <p:sp>
        <p:nvSpPr>
          <p:cNvPr id="75"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Application Programming Interface</a:t>
            </a:r>
            <a:endParaRPr b="0" lang="en-US" sz="1300" strike="noStrike" u="none">
              <a:solidFill>
                <a:srgbClr val="ffffff"/>
              </a:solidFill>
              <a:uFillTx/>
              <a:latin typeface="Arial"/>
            </a:endParaRPr>
          </a:p>
        </p:txBody>
      </p:sp>
      <p:sp>
        <p:nvSpPr>
          <p:cNvPr id="76"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77" name="Shape 3"/>
          <p:cNvSpPr/>
          <p:nvPr/>
        </p:nvSpPr>
        <p:spPr>
          <a:xfrm>
            <a:off x="457200" y="1143000"/>
            <a:ext cx="8229240" cy="868320"/>
          </a:xfrm>
          <a:prstGeom prst="roundRect">
            <a:avLst>
              <a:gd name="adj" fmla="val 10526"/>
            </a:avLst>
          </a:prstGeom>
          <a:solidFill>
            <a:srgbClr val="13243a"/>
          </a:solidFill>
          <a:ln w="12700">
            <a:solidFill>
              <a:srgbClr val="00c9e0">
                <a:alpha val="6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78" name="Text 4"/>
          <p:cNvSpPr/>
          <p:nvPr/>
        </p:nvSpPr>
        <p:spPr>
          <a:xfrm>
            <a:off x="640080" y="1170360"/>
            <a:ext cx="786348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00c9e0"/>
                </a:solidFill>
                <a:uFillTx/>
                <a:latin typeface="Calibri"/>
                <a:ea typeface="Calibri"/>
              </a:rPr>
              <a:t>API</a:t>
            </a:r>
            <a:r>
              <a:rPr b="0" lang="en-US" sz="1400" strike="noStrike" u="none">
                <a:solidFill>
                  <a:srgbClr val="d8eef8"/>
                </a:solidFill>
                <a:uFillTx/>
                <a:latin typeface="Calibri"/>
                <a:ea typeface="Calibri"/>
              </a:rPr>
              <a:t> — A set of rules and protocols that allows different software applications to communicate with each other. It defines how requests and responses should be made, what data formats to use, and what operations are available.</a:t>
            </a:r>
            <a:endParaRPr b="0" lang="en-US" sz="1400" strike="noStrike" u="none">
              <a:solidFill>
                <a:srgbClr val="ffffff"/>
              </a:solidFill>
              <a:uFillTx/>
              <a:latin typeface="Arial"/>
            </a:endParaRPr>
          </a:p>
        </p:txBody>
      </p:sp>
      <p:sp>
        <p:nvSpPr>
          <p:cNvPr id="79" name="Text 5"/>
          <p:cNvSpPr/>
          <p:nvPr/>
        </p:nvSpPr>
        <p:spPr>
          <a:xfrm>
            <a:off x="457200" y="2148840"/>
            <a:ext cx="45716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ffd166"/>
                </a:solidFill>
                <a:uFillTx/>
                <a:latin typeface="Calibri"/>
                <a:ea typeface="Calibri"/>
              </a:rPr>
              <a:t>The Restaurant Analogy</a:t>
            </a:r>
            <a:endParaRPr b="0" lang="en-US" sz="1400" strike="noStrike" u="none">
              <a:solidFill>
                <a:srgbClr val="ffffff"/>
              </a:solidFill>
              <a:uFillTx/>
              <a:latin typeface="Arial"/>
            </a:endParaRPr>
          </a:p>
        </p:txBody>
      </p:sp>
      <p:sp>
        <p:nvSpPr>
          <p:cNvPr id="80" name="Shape 6"/>
          <p:cNvSpPr/>
          <p:nvPr/>
        </p:nvSpPr>
        <p:spPr>
          <a:xfrm>
            <a:off x="457200" y="2541960"/>
            <a:ext cx="1919880" cy="1005480"/>
          </a:xfrm>
          <a:prstGeom prst="roundRect">
            <a:avLst>
              <a:gd name="adj" fmla="val 9091"/>
            </a:avLst>
          </a:prstGeom>
          <a:solidFill>
            <a:srgbClr val="0077b6">
              <a:alpha val="85000"/>
            </a:srgbClr>
          </a:solidFill>
          <a:ln w="12700">
            <a:solidFill>
              <a:srgbClr val="0077b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81" name="Text 7"/>
          <p:cNvSpPr/>
          <p:nvPr/>
        </p:nvSpPr>
        <p:spPr>
          <a:xfrm>
            <a:off x="457200" y="2578680"/>
            <a:ext cx="19198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82" name="Text 8"/>
          <p:cNvSpPr/>
          <p:nvPr/>
        </p:nvSpPr>
        <p:spPr>
          <a:xfrm>
            <a:off x="457200" y="2999160"/>
            <a:ext cx="191988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You</a:t>
            </a:r>
            <a:endParaRPr b="0" lang="en-US" sz="1200" strike="noStrike" u="none">
              <a:solidFill>
                <a:srgbClr val="ffffff"/>
              </a:solidFill>
              <a:uFillTx/>
              <a:latin typeface="Arial"/>
            </a:endParaRPr>
          </a:p>
          <a:p>
            <a:pPr algn="ctr" defTabSz="914400">
              <a:lnSpc>
                <a:spcPct val="100000"/>
              </a:lnSpc>
              <a:tabLst>
                <a:tab algn="l" pos="0"/>
              </a:tabLst>
            </a:pPr>
            <a:r>
              <a:rPr b="1" lang="en-US" sz="1200" strike="noStrike" u="none">
                <a:solidFill>
                  <a:srgbClr val="ffffff"/>
                </a:solidFill>
                <a:uFillTx/>
                <a:latin typeface="Calibri"/>
                <a:ea typeface="Calibri"/>
              </a:rPr>
              <a:t>(Client)</a:t>
            </a:r>
            <a:endParaRPr b="0" lang="en-US" sz="1200" strike="noStrike" u="none">
              <a:solidFill>
                <a:srgbClr val="ffffff"/>
              </a:solidFill>
              <a:uFillTx/>
              <a:latin typeface="Arial"/>
            </a:endParaRPr>
          </a:p>
        </p:txBody>
      </p:sp>
      <p:sp>
        <p:nvSpPr>
          <p:cNvPr id="83" name="Text 9"/>
          <p:cNvSpPr/>
          <p:nvPr/>
        </p:nvSpPr>
        <p:spPr>
          <a:xfrm>
            <a:off x="2377440" y="2541960"/>
            <a:ext cx="22824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000" strike="noStrike" u="none">
                <a:solidFill>
                  <a:srgbClr val="7ba5c0"/>
                </a:solidFill>
                <a:uFillTx/>
                <a:latin typeface="Calibri"/>
                <a:ea typeface="Calibri"/>
              </a:rPr>
              <a:t>→</a:t>
            </a:r>
            <a:endParaRPr b="0" lang="en-US" sz="2000" strike="noStrike" u="none">
              <a:solidFill>
                <a:srgbClr val="ffffff"/>
              </a:solidFill>
              <a:uFillTx/>
              <a:latin typeface="Arial"/>
            </a:endParaRPr>
          </a:p>
        </p:txBody>
      </p:sp>
      <p:sp>
        <p:nvSpPr>
          <p:cNvPr id="84" name="Shape 10"/>
          <p:cNvSpPr/>
          <p:nvPr/>
        </p:nvSpPr>
        <p:spPr>
          <a:xfrm>
            <a:off x="2606040" y="2541960"/>
            <a:ext cx="1919880" cy="1005480"/>
          </a:xfrm>
          <a:prstGeom prst="roundRect">
            <a:avLst>
              <a:gd name="adj" fmla="val 9091"/>
            </a:avLst>
          </a:prstGeom>
          <a:solidFill>
            <a:srgbClr val="00c9e0">
              <a:alpha val="85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85" name="Text 11"/>
          <p:cNvSpPr/>
          <p:nvPr/>
        </p:nvSpPr>
        <p:spPr>
          <a:xfrm>
            <a:off x="2606040" y="2578680"/>
            <a:ext cx="19198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86" name="Text 12"/>
          <p:cNvSpPr/>
          <p:nvPr/>
        </p:nvSpPr>
        <p:spPr>
          <a:xfrm>
            <a:off x="2606040" y="2999160"/>
            <a:ext cx="191988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Waiter</a:t>
            </a:r>
            <a:endParaRPr b="0" lang="en-US" sz="1200" strike="noStrike" u="none">
              <a:solidFill>
                <a:srgbClr val="ffffff"/>
              </a:solidFill>
              <a:uFillTx/>
              <a:latin typeface="Arial"/>
            </a:endParaRPr>
          </a:p>
          <a:p>
            <a:pPr algn="ctr" defTabSz="914400">
              <a:lnSpc>
                <a:spcPct val="100000"/>
              </a:lnSpc>
              <a:tabLst>
                <a:tab algn="l" pos="0"/>
              </a:tabLst>
            </a:pPr>
            <a:r>
              <a:rPr b="1" lang="en-US" sz="1200" strike="noStrike" u="none">
                <a:solidFill>
                  <a:srgbClr val="ffffff"/>
                </a:solidFill>
                <a:uFillTx/>
                <a:latin typeface="Calibri"/>
                <a:ea typeface="Calibri"/>
              </a:rPr>
              <a:t>(API)</a:t>
            </a:r>
            <a:endParaRPr b="0" lang="en-US" sz="1200" strike="noStrike" u="none">
              <a:solidFill>
                <a:srgbClr val="ffffff"/>
              </a:solidFill>
              <a:uFillTx/>
              <a:latin typeface="Arial"/>
            </a:endParaRPr>
          </a:p>
        </p:txBody>
      </p:sp>
      <p:sp>
        <p:nvSpPr>
          <p:cNvPr id="87" name="Text 13"/>
          <p:cNvSpPr/>
          <p:nvPr/>
        </p:nvSpPr>
        <p:spPr>
          <a:xfrm>
            <a:off x="4526280" y="2541960"/>
            <a:ext cx="22824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000" strike="noStrike" u="none">
                <a:solidFill>
                  <a:srgbClr val="7ba5c0"/>
                </a:solidFill>
                <a:uFillTx/>
                <a:latin typeface="Calibri"/>
                <a:ea typeface="Calibri"/>
              </a:rPr>
              <a:t>→</a:t>
            </a:r>
            <a:endParaRPr b="0" lang="en-US" sz="2000" strike="noStrike" u="none">
              <a:solidFill>
                <a:srgbClr val="ffffff"/>
              </a:solidFill>
              <a:uFillTx/>
              <a:latin typeface="Arial"/>
            </a:endParaRPr>
          </a:p>
        </p:txBody>
      </p:sp>
      <p:sp>
        <p:nvSpPr>
          <p:cNvPr id="88" name="Shape 14"/>
          <p:cNvSpPr/>
          <p:nvPr/>
        </p:nvSpPr>
        <p:spPr>
          <a:xfrm>
            <a:off x="4754880" y="2541960"/>
            <a:ext cx="1919880" cy="1005480"/>
          </a:xfrm>
          <a:prstGeom prst="roundRect">
            <a:avLst>
              <a:gd name="adj" fmla="val 9091"/>
            </a:avLst>
          </a:prstGeom>
          <a:solidFill>
            <a:srgbClr val="06d6a0">
              <a:alpha val="85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89" name="Text 15"/>
          <p:cNvSpPr/>
          <p:nvPr/>
        </p:nvSpPr>
        <p:spPr>
          <a:xfrm>
            <a:off x="4754880" y="2578680"/>
            <a:ext cx="19198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90" name="Text 16"/>
          <p:cNvSpPr/>
          <p:nvPr/>
        </p:nvSpPr>
        <p:spPr>
          <a:xfrm>
            <a:off x="4754880" y="2999160"/>
            <a:ext cx="191988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Kitchen</a:t>
            </a:r>
            <a:endParaRPr b="0" lang="en-US" sz="1200" strike="noStrike" u="none">
              <a:solidFill>
                <a:srgbClr val="ffffff"/>
              </a:solidFill>
              <a:uFillTx/>
              <a:latin typeface="Arial"/>
            </a:endParaRPr>
          </a:p>
          <a:p>
            <a:pPr algn="ctr" defTabSz="914400">
              <a:lnSpc>
                <a:spcPct val="100000"/>
              </a:lnSpc>
              <a:tabLst>
                <a:tab algn="l" pos="0"/>
              </a:tabLst>
            </a:pPr>
            <a:r>
              <a:rPr b="1" lang="en-US" sz="1200" strike="noStrike" u="none">
                <a:solidFill>
                  <a:srgbClr val="ffffff"/>
                </a:solidFill>
                <a:uFillTx/>
                <a:latin typeface="Calibri"/>
                <a:ea typeface="Calibri"/>
              </a:rPr>
              <a:t>(Server)</a:t>
            </a:r>
            <a:endParaRPr b="0" lang="en-US" sz="1200" strike="noStrike" u="none">
              <a:solidFill>
                <a:srgbClr val="ffffff"/>
              </a:solidFill>
              <a:uFillTx/>
              <a:latin typeface="Arial"/>
            </a:endParaRPr>
          </a:p>
        </p:txBody>
      </p:sp>
      <p:sp>
        <p:nvSpPr>
          <p:cNvPr id="91" name="Text 17"/>
          <p:cNvSpPr/>
          <p:nvPr/>
        </p:nvSpPr>
        <p:spPr>
          <a:xfrm>
            <a:off x="6675120" y="2541960"/>
            <a:ext cx="22824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000" strike="noStrike" u="none">
                <a:solidFill>
                  <a:srgbClr val="7ba5c0"/>
                </a:solidFill>
                <a:uFillTx/>
                <a:latin typeface="Calibri"/>
                <a:ea typeface="Calibri"/>
              </a:rPr>
              <a:t>→</a:t>
            </a:r>
            <a:endParaRPr b="0" lang="en-US" sz="2000" strike="noStrike" u="none">
              <a:solidFill>
                <a:srgbClr val="ffffff"/>
              </a:solidFill>
              <a:uFillTx/>
              <a:latin typeface="Arial"/>
            </a:endParaRPr>
          </a:p>
        </p:txBody>
      </p:sp>
      <p:sp>
        <p:nvSpPr>
          <p:cNvPr id="92" name="Shape 18"/>
          <p:cNvSpPr/>
          <p:nvPr/>
        </p:nvSpPr>
        <p:spPr>
          <a:xfrm>
            <a:off x="6903720" y="2541960"/>
            <a:ext cx="1919880" cy="1005480"/>
          </a:xfrm>
          <a:prstGeom prst="roundRect">
            <a:avLst>
              <a:gd name="adj" fmla="val 9091"/>
            </a:avLst>
          </a:prstGeom>
          <a:solidFill>
            <a:srgbClr val="ffd166">
              <a:alpha val="85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93" name="Text 19"/>
          <p:cNvSpPr/>
          <p:nvPr/>
        </p:nvSpPr>
        <p:spPr>
          <a:xfrm>
            <a:off x="6903720" y="2578680"/>
            <a:ext cx="19198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94" name="Text 20"/>
          <p:cNvSpPr/>
          <p:nvPr/>
        </p:nvSpPr>
        <p:spPr>
          <a:xfrm>
            <a:off x="6903720" y="2999160"/>
            <a:ext cx="191988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Food</a:t>
            </a:r>
            <a:endParaRPr b="0" lang="en-US" sz="1200" strike="noStrike" u="none">
              <a:solidFill>
                <a:srgbClr val="ffffff"/>
              </a:solidFill>
              <a:uFillTx/>
              <a:latin typeface="Arial"/>
            </a:endParaRPr>
          </a:p>
          <a:p>
            <a:pPr algn="ctr" defTabSz="914400">
              <a:lnSpc>
                <a:spcPct val="100000"/>
              </a:lnSpc>
              <a:tabLst>
                <a:tab algn="l" pos="0"/>
              </a:tabLst>
            </a:pPr>
            <a:r>
              <a:rPr b="1" lang="en-US" sz="1200" strike="noStrike" u="none">
                <a:solidFill>
                  <a:srgbClr val="ffffff"/>
                </a:solidFill>
                <a:uFillTx/>
                <a:latin typeface="Calibri"/>
                <a:ea typeface="Calibri"/>
              </a:rPr>
              <a:t>(Response)</a:t>
            </a:r>
            <a:endParaRPr b="0" lang="en-US" sz="1200" strike="noStrike" u="none">
              <a:solidFill>
                <a:srgbClr val="ffffff"/>
              </a:solidFill>
              <a:uFillTx/>
              <a:latin typeface="Arial"/>
            </a:endParaRPr>
          </a:p>
        </p:txBody>
      </p:sp>
      <p:sp>
        <p:nvSpPr>
          <p:cNvPr id="95" name="Text 21"/>
          <p:cNvSpPr/>
          <p:nvPr/>
        </p:nvSpPr>
        <p:spPr>
          <a:xfrm>
            <a:off x="457200" y="370332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ffd166"/>
                </a:solidFill>
                <a:uFillTx/>
                <a:latin typeface="Calibri"/>
                <a:ea typeface="Calibri"/>
              </a:rPr>
              <a:t>Why Do We Need APIs?</a:t>
            </a:r>
            <a:endParaRPr b="0" lang="en-US" sz="1400" strike="noStrike" u="none">
              <a:solidFill>
                <a:srgbClr val="ffffff"/>
              </a:solidFill>
              <a:uFillTx/>
              <a:latin typeface="Arial"/>
            </a:endParaRPr>
          </a:p>
        </p:txBody>
      </p:sp>
      <p:sp>
        <p:nvSpPr>
          <p:cNvPr id="96" name="Shape 22"/>
          <p:cNvSpPr/>
          <p:nvPr/>
        </p:nvSpPr>
        <p:spPr>
          <a:xfrm>
            <a:off x="384120" y="4069080"/>
            <a:ext cx="1965600" cy="868320"/>
          </a:xfrm>
          <a:prstGeom prst="roundRect">
            <a:avLst>
              <a:gd name="adj" fmla="val 8421"/>
            </a:avLst>
          </a:prstGeom>
          <a:solidFill>
            <a:srgbClr val="162840"/>
          </a:solidFill>
          <a:ln w="12700">
            <a:solidFill>
              <a:srgbClr val="0077b6">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97" name="Text 23"/>
          <p:cNvSpPr/>
          <p:nvPr/>
        </p:nvSpPr>
        <p:spPr>
          <a:xfrm>
            <a:off x="475560" y="4096440"/>
            <a:ext cx="178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0c9e0"/>
                </a:solidFill>
                <a:uFillTx/>
                <a:latin typeface="Calibri"/>
                <a:ea typeface="Calibri"/>
              </a:rPr>
              <a:t>🔗 </a:t>
            </a:r>
            <a:r>
              <a:rPr b="1" lang="en-US" sz="1200" strike="noStrike" u="none">
                <a:solidFill>
                  <a:srgbClr val="00c9e0"/>
                </a:solidFill>
                <a:uFillTx/>
                <a:latin typeface="Calibri"/>
                <a:ea typeface="Calibri"/>
              </a:rPr>
              <a:t>Integration</a:t>
            </a:r>
            <a:endParaRPr b="0" lang="en-US" sz="1200" strike="noStrike" u="none">
              <a:solidFill>
                <a:srgbClr val="ffffff"/>
              </a:solidFill>
              <a:uFillTx/>
              <a:latin typeface="Arial"/>
            </a:endParaRPr>
          </a:p>
        </p:txBody>
      </p:sp>
      <p:sp>
        <p:nvSpPr>
          <p:cNvPr id="98" name="Text 24"/>
          <p:cNvSpPr/>
          <p:nvPr/>
        </p:nvSpPr>
        <p:spPr>
          <a:xfrm>
            <a:off x="475560" y="4407480"/>
            <a:ext cx="1782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Connects different systems, platforms, languages</a:t>
            </a:r>
            <a:endParaRPr b="0" lang="en-US" sz="1000" strike="noStrike" u="none">
              <a:solidFill>
                <a:srgbClr val="ffffff"/>
              </a:solidFill>
              <a:uFillTx/>
              <a:latin typeface="Arial"/>
            </a:endParaRPr>
          </a:p>
        </p:txBody>
      </p:sp>
      <p:sp>
        <p:nvSpPr>
          <p:cNvPr id="99" name="Shape 25"/>
          <p:cNvSpPr/>
          <p:nvPr/>
        </p:nvSpPr>
        <p:spPr>
          <a:xfrm>
            <a:off x="2578680" y="4069080"/>
            <a:ext cx="1965600" cy="868320"/>
          </a:xfrm>
          <a:prstGeom prst="roundRect">
            <a:avLst>
              <a:gd name="adj" fmla="val 8421"/>
            </a:avLst>
          </a:prstGeom>
          <a:solidFill>
            <a:srgbClr val="162840"/>
          </a:solidFill>
          <a:ln w="12700">
            <a:solidFill>
              <a:srgbClr val="0077b6">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00" name="Text 26"/>
          <p:cNvSpPr/>
          <p:nvPr/>
        </p:nvSpPr>
        <p:spPr>
          <a:xfrm>
            <a:off x="2670120" y="4096440"/>
            <a:ext cx="178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0c9e0"/>
                </a:solidFill>
                <a:uFillTx/>
                <a:latin typeface="Calibri"/>
                <a:ea typeface="Calibri"/>
              </a:rPr>
              <a:t>🧱 </a:t>
            </a:r>
            <a:r>
              <a:rPr b="1" lang="en-US" sz="1200" strike="noStrike" u="none">
                <a:solidFill>
                  <a:srgbClr val="00c9e0"/>
                </a:solidFill>
                <a:uFillTx/>
                <a:latin typeface="Calibri"/>
                <a:ea typeface="Calibri"/>
              </a:rPr>
              <a:t>Abstraction</a:t>
            </a:r>
            <a:endParaRPr b="0" lang="en-US" sz="1200" strike="noStrike" u="none">
              <a:solidFill>
                <a:srgbClr val="ffffff"/>
              </a:solidFill>
              <a:uFillTx/>
              <a:latin typeface="Arial"/>
            </a:endParaRPr>
          </a:p>
        </p:txBody>
      </p:sp>
      <p:sp>
        <p:nvSpPr>
          <p:cNvPr id="101" name="Text 27"/>
          <p:cNvSpPr/>
          <p:nvPr/>
        </p:nvSpPr>
        <p:spPr>
          <a:xfrm>
            <a:off x="2670120" y="4407480"/>
            <a:ext cx="1782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Hides backend complexity from consumers</a:t>
            </a:r>
            <a:endParaRPr b="0" lang="en-US" sz="1000" strike="noStrike" u="none">
              <a:solidFill>
                <a:srgbClr val="ffffff"/>
              </a:solidFill>
              <a:uFillTx/>
              <a:latin typeface="Arial"/>
            </a:endParaRPr>
          </a:p>
        </p:txBody>
      </p:sp>
      <p:sp>
        <p:nvSpPr>
          <p:cNvPr id="102" name="Shape 28"/>
          <p:cNvSpPr/>
          <p:nvPr/>
        </p:nvSpPr>
        <p:spPr>
          <a:xfrm>
            <a:off x="4773240" y="4069080"/>
            <a:ext cx="1965600" cy="868320"/>
          </a:xfrm>
          <a:prstGeom prst="roundRect">
            <a:avLst>
              <a:gd name="adj" fmla="val 8421"/>
            </a:avLst>
          </a:prstGeom>
          <a:solidFill>
            <a:srgbClr val="162840"/>
          </a:solidFill>
          <a:ln w="12700">
            <a:solidFill>
              <a:srgbClr val="0077b6">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03" name="Text 29"/>
          <p:cNvSpPr/>
          <p:nvPr/>
        </p:nvSpPr>
        <p:spPr>
          <a:xfrm>
            <a:off x="4864680" y="4096440"/>
            <a:ext cx="178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0c9e0"/>
                </a:solidFill>
                <a:uFillTx/>
                <a:latin typeface="Calibri"/>
                <a:ea typeface="Calibri"/>
              </a:rPr>
              <a:t>🔄 </a:t>
            </a:r>
            <a:r>
              <a:rPr b="1" lang="en-US" sz="1200" strike="noStrike" u="none">
                <a:solidFill>
                  <a:srgbClr val="00c9e0"/>
                </a:solidFill>
                <a:uFillTx/>
                <a:latin typeface="Calibri"/>
                <a:ea typeface="Calibri"/>
              </a:rPr>
              <a:t>Reusability</a:t>
            </a:r>
            <a:endParaRPr b="0" lang="en-US" sz="1200" strike="noStrike" u="none">
              <a:solidFill>
                <a:srgbClr val="ffffff"/>
              </a:solidFill>
              <a:uFillTx/>
              <a:latin typeface="Arial"/>
            </a:endParaRPr>
          </a:p>
        </p:txBody>
      </p:sp>
      <p:sp>
        <p:nvSpPr>
          <p:cNvPr id="104" name="Text 30"/>
          <p:cNvSpPr/>
          <p:nvPr/>
        </p:nvSpPr>
        <p:spPr>
          <a:xfrm>
            <a:off x="4864680" y="4407480"/>
            <a:ext cx="1782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One API used by web, mobile, IoT, partners</a:t>
            </a:r>
            <a:endParaRPr b="0" lang="en-US" sz="1000" strike="noStrike" u="none">
              <a:solidFill>
                <a:srgbClr val="ffffff"/>
              </a:solidFill>
              <a:uFillTx/>
              <a:latin typeface="Arial"/>
            </a:endParaRPr>
          </a:p>
        </p:txBody>
      </p:sp>
      <p:sp>
        <p:nvSpPr>
          <p:cNvPr id="105" name="Shape 31"/>
          <p:cNvSpPr/>
          <p:nvPr/>
        </p:nvSpPr>
        <p:spPr>
          <a:xfrm>
            <a:off x="6967800" y="4069080"/>
            <a:ext cx="1965600" cy="868320"/>
          </a:xfrm>
          <a:prstGeom prst="roundRect">
            <a:avLst>
              <a:gd name="adj" fmla="val 8421"/>
            </a:avLst>
          </a:prstGeom>
          <a:solidFill>
            <a:srgbClr val="162840"/>
          </a:solidFill>
          <a:ln w="12700">
            <a:solidFill>
              <a:srgbClr val="0077b6">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06" name="Text 32"/>
          <p:cNvSpPr/>
          <p:nvPr/>
        </p:nvSpPr>
        <p:spPr>
          <a:xfrm>
            <a:off x="7059240" y="4096440"/>
            <a:ext cx="178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0c9e0"/>
                </a:solidFill>
                <a:uFillTx/>
                <a:latin typeface="Calibri"/>
                <a:ea typeface="Calibri"/>
              </a:rPr>
              <a:t>🌍 </a:t>
            </a:r>
            <a:r>
              <a:rPr b="1" lang="en-US" sz="1200" strike="noStrike" u="none">
                <a:solidFill>
                  <a:srgbClr val="00c9e0"/>
                </a:solidFill>
                <a:uFillTx/>
                <a:latin typeface="Calibri"/>
                <a:ea typeface="Calibri"/>
              </a:rPr>
              <a:t>Ubiquity</a:t>
            </a:r>
            <a:endParaRPr b="0" lang="en-US" sz="1200" strike="noStrike" u="none">
              <a:solidFill>
                <a:srgbClr val="ffffff"/>
              </a:solidFill>
              <a:uFillTx/>
              <a:latin typeface="Arial"/>
            </a:endParaRPr>
          </a:p>
        </p:txBody>
      </p:sp>
      <p:sp>
        <p:nvSpPr>
          <p:cNvPr id="107" name="Text 33"/>
          <p:cNvSpPr/>
          <p:nvPr/>
        </p:nvSpPr>
        <p:spPr>
          <a:xfrm>
            <a:off x="7059240" y="4407480"/>
            <a:ext cx="1782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Powers Zomato, GPay, Instagram, Uber, etc.</a:t>
            </a:r>
            <a:endParaRPr b="0" lang="en-US" sz="10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108"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What is REST?</a:t>
            </a:r>
            <a:endParaRPr b="0" lang="en-US" sz="3400" strike="noStrike" u="none">
              <a:solidFill>
                <a:srgbClr val="ffffff"/>
              </a:solidFill>
              <a:uFillTx/>
              <a:latin typeface="Arial"/>
            </a:endParaRPr>
          </a:p>
        </p:txBody>
      </p:sp>
      <p:sp>
        <p:nvSpPr>
          <p:cNvPr id="109"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Representational State Transfer</a:t>
            </a:r>
            <a:endParaRPr b="0" lang="en-US" sz="1300" strike="noStrike" u="none">
              <a:solidFill>
                <a:srgbClr val="ffffff"/>
              </a:solidFill>
              <a:uFillTx/>
              <a:latin typeface="Arial"/>
            </a:endParaRPr>
          </a:p>
        </p:txBody>
      </p:sp>
      <p:sp>
        <p:nvSpPr>
          <p:cNvPr id="110"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111" name="Shape 3"/>
          <p:cNvSpPr/>
          <p:nvPr/>
        </p:nvSpPr>
        <p:spPr>
          <a:xfrm>
            <a:off x="457200" y="1143000"/>
            <a:ext cx="4205880" cy="1051200"/>
          </a:xfrm>
          <a:prstGeom prst="roundRect">
            <a:avLst>
              <a:gd name="adj" fmla="val 8696"/>
            </a:avLst>
          </a:prstGeom>
          <a:solidFill>
            <a:srgbClr val="13243a"/>
          </a:solidFill>
          <a:ln w="12700">
            <a:solidFill>
              <a:srgbClr val="00c9e0">
                <a:alpha val="6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12" name="Text 4"/>
          <p:cNvSpPr/>
          <p:nvPr/>
        </p:nvSpPr>
        <p:spPr>
          <a:xfrm>
            <a:off x="594360" y="1188720"/>
            <a:ext cx="3931560" cy="9597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IN" sz="1200" strike="noStrike" u="none">
                <a:solidFill>
                  <a:schemeClr val="lt1"/>
                </a:solidFill>
                <a:uFillTx/>
                <a:latin typeface="Calibri"/>
              </a:rPr>
              <a:t>REST is a set of rules (or guidelines) for building web APIs.</a:t>
            </a:r>
            <a:endParaRPr b="0" lang="en-US" sz="1200" strike="noStrike" u="none">
              <a:solidFill>
                <a:srgbClr val="ffffff"/>
              </a:solidFill>
              <a:uFillTx/>
              <a:latin typeface="Arial"/>
            </a:endParaRPr>
          </a:p>
          <a:p>
            <a:pPr defTabSz="914400">
              <a:lnSpc>
                <a:spcPct val="100000"/>
              </a:lnSpc>
            </a:pPr>
            <a:r>
              <a:rPr b="1" lang="en-IN" sz="1200" strike="noStrike" u="none">
                <a:solidFill>
                  <a:schemeClr val="lt1"/>
                </a:solidFill>
                <a:uFillTx/>
                <a:latin typeface="Calibri"/>
              </a:rPr>
              <a:t>It was introduced by Roy Fielding in his PhD dissertation at UC Irvine in 2000.</a:t>
            </a:r>
            <a:endParaRPr b="0" lang="en-US" sz="1200" strike="noStrike" u="none">
              <a:solidFill>
                <a:srgbClr val="ffffff"/>
              </a:solidFill>
              <a:uFillTx/>
              <a:latin typeface="Arial"/>
            </a:endParaRPr>
          </a:p>
        </p:txBody>
      </p:sp>
      <p:sp>
        <p:nvSpPr>
          <p:cNvPr id="113" name="Shape 5"/>
          <p:cNvSpPr/>
          <p:nvPr/>
        </p:nvSpPr>
        <p:spPr>
          <a:xfrm>
            <a:off x="457200" y="2377440"/>
            <a:ext cx="237240" cy="23724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14" name="Text 6"/>
          <p:cNvSpPr/>
          <p:nvPr/>
        </p:nvSpPr>
        <p:spPr>
          <a:xfrm>
            <a:off x="822960" y="2304360"/>
            <a:ext cx="37486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1200" strike="noStrike" u="none">
                <a:solidFill>
                  <a:srgbClr val="d8eef8"/>
                </a:solidFill>
                <a:uFillTx/>
                <a:latin typeface="Calibri"/>
                <a:ea typeface="Calibri"/>
              </a:rPr>
              <a:t>Not a protocol — </a:t>
            </a:r>
            <a:r>
              <a:rPr b="0" lang="en-IN" sz="1200" strike="noStrike" u="none">
                <a:solidFill>
                  <a:schemeClr val="lt1"/>
                </a:solidFill>
                <a:uFillTx/>
                <a:latin typeface="Calibri"/>
                <a:ea typeface="Calibri"/>
              </a:rPr>
              <a:t>It is a set of design rules for creating APIs</a:t>
            </a:r>
            <a:r>
              <a:rPr b="0" lang="en-IN" sz="1200" strike="noStrike" u="none">
                <a:solidFill>
                  <a:schemeClr val="dk1"/>
                </a:solidFill>
                <a:uFillTx/>
                <a:latin typeface="Calibri"/>
                <a:ea typeface="Calibri"/>
              </a:rPr>
              <a:t>.</a:t>
            </a:r>
            <a:endParaRPr b="0" lang="en-US" sz="1200" strike="noStrike" u="none">
              <a:solidFill>
                <a:srgbClr val="ffffff"/>
              </a:solidFill>
              <a:uFillTx/>
              <a:latin typeface="Arial"/>
            </a:endParaRPr>
          </a:p>
        </p:txBody>
      </p:sp>
      <p:sp>
        <p:nvSpPr>
          <p:cNvPr id="115" name="Shape 7"/>
          <p:cNvSpPr/>
          <p:nvPr/>
        </p:nvSpPr>
        <p:spPr>
          <a:xfrm>
            <a:off x="457200" y="2816280"/>
            <a:ext cx="237240" cy="23724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16" name="Text 8"/>
          <p:cNvSpPr/>
          <p:nvPr/>
        </p:nvSpPr>
        <p:spPr>
          <a:xfrm>
            <a:off x="822960" y="2743200"/>
            <a:ext cx="37486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IN" sz="1200" strike="noStrike" u="none">
                <a:solidFill>
                  <a:schemeClr val="lt1"/>
                </a:solidFill>
                <a:uFillTx/>
                <a:latin typeface="Calibri"/>
              </a:rPr>
              <a:t>REST APIs communicate using HTTP methods like GET, POST, PUT, PATCH, and DELETE.</a:t>
            </a:r>
            <a:endParaRPr b="0" lang="en-US" sz="1200" strike="noStrike" u="none">
              <a:solidFill>
                <a:srgbClr val="ffffff"/>
              </a:solidFill>
              <a:uFillTx/>
              <a:latin typeface="Arial"/>
            </a:endParaRPr>
          </a:p>
        </p:txBody>
      </p:sp>
      <p:sp>
        <p:nvSpPr>
          <p:cNvPr id="117" name="Shape 9"/>
          <p:cNvSpPr/>
          <p:nvPr/>
        </p:nvSpPr>
        <p:spPr>
          <a:xfrm>
            <a:off x="457200" y="3255120"/>
            <a:ext cx="237240" cy="23724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18" name="Text 10"/>
          <p:cNvSpPr/>
          <p:nvPr/>
        </p:nvSpPr>
        <p:spPr>
          <a:xfrm>
            <a:off x="822960" y="3182040"/>
            <a:ext cx="37486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d8eef8"/>
                </a:solidFill>
                <a:uFillTx/>
                <a:latin typeface="Calibri"/>
                <a:ea typeface="Calibri"/>
              </a:rPr>
              <a:t>Web services following REST are called RESTful APIs</a:t>
            </a:r>
            <a:endParaRPr b="0" lang="en-US" sz="1200" strike="noStrike" u="none">
              <a:solidFill>
                <a:srgbClr val="ffffff"/>
              </a:solidFill>
              <a:uFillTx/>
              <a:latin typeface="Arial"/>
            </a:endParaRPr>
          </a:p>
        </p:txBody>
      </p:sp>
      <p:sp>
        <p:nvSpPr>
          <p:cNvPr id="119" name="Shape 11"/>
          <p:cNvSpPr/>
          <p:nvPr/>
        </p:nvSpPr>
        <p:spPr>
          <a:xfrm>
            <a:off x="457200" y="3694320"/>
            <a:ext cx="237240" cy="23724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20" name="Text 12"/>
          <p:cNvSpPr/>
          <p:nvPr/>
        </p:nvSpPr>
        <p:spPr>
          <a:xfrm>
            <a:off x="822960" y="3620880"/>
            <a:ext cx="37486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d8eef8"/>
                </a:solidFill>
                <a:uFillTx/>
                <a:latin typeface="Calibri"/>
                <a:ea typeface="Calibri"/>
              </a:rPr>
              <a:t>Resources are identified by URIs and manipulated via HTTP methods</a:t>
            </a:r>
            <a:endParaRPr b="0" lang="en-US" sz="1200" strike="noStrike" u="none">
              <a:solidFill>
                <a:srgbClr val="ffffff"/>
              </a:solidFill>
              <a:uFillTx/>
              <a:latin typeface="Arial"/>
            </a:endParaRPr>
          </a:p>
        </p:txBody>
      </p:sp>
      <p:sp>
        <p:nvSpPr>
          <p:cNvPr id="121" name="Shape 13"/>
          <p:cNvSpPr/>
          <p:nvPr/>
        </p:nvSpPr>
        <p:spPr>
          <a:xfrm>
            <a:off x="457200" y="4133160"/>
            <a:ext cx="237240" cy="23724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22" name="Text 14"/>
          <p:cNvSpPr/>
          <p:nvPr/>
        </p:nvSpPr>
        <p:spPr>
          <a:xfrm>
            <a:off x="822960" y="4060080"/>
            <a:ext cx="37486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d8eef8"/>
                </a:solidFill>
                <a:uFillTx/>
                <a:latin typeface="Calibri"/>
                <a:ea typeface="Calibri"/>
              </a:rPr>
              <a:t>Designed for scalability, simplicity, and independence</a:t>
            </a:r>
            <a:endParaRPr b="0" lang="en-US" sz="1200" strike="noStrike" u="none">
              <a:solidFill>
                <a:srgbClr val="ffffff"/>
              </a:solidFill>
              <a:uFillTx/>
              <a:latin typeface="Arial"/>
            </a:endParaRPr>
          </a:p>
        </p:txBody>
      </p:sp>
      <p:sp>
        <p:nvSpPr>
          <p:cNvPr id="123" name="Text 15"/>
          <p:cNvSpPr/>
          <p:nvPr/>
        </p:nvSpPr>
        <p:spPr>
          <a:xfrm>
            <a:off x="4846320" y="1143000"/>
            <a:ext cx="38401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ffd166"/>
                </a:solidFill>
                <a:uFillTx/>
                <a:latin typeface="Calibri"/>
                <a:ea typeface="Calibri"/>
              </a:rPr>
              <a:t>REST vs SOAP</a:t>
            </a:r>
            <a:endParaRPr b="0" lang="en-US" sz="1400" strike="noStrike" u="none">
              <a:solidFill>
                <a:srgbClr val="ffffff"/>
              </a:solidFill>
              <a:uFillTx/>
              <a:latin typeface="Arial"/>
            </a:endParaRPr>
          </a:p>
        </p:txBody>
      </p:sp>
      <p:graphicFrame>
        <p:nvGraphicFramePr>
          <p:cNvPr id="124" name="Table 0"/>
          <p:cNvGraphicFramePr/>
          <p:nvPr/>
        </p:nvGraphicFramePr>
        <p:xfrm>
          <a:off x="4754880" y="1508760"/>
          <a:ext cx="3931560" cy="3474360"/>
        </p:xfrm>
        <a:graphic>
          <a:graphicData uri="http://schemas.openxmlformats.org/drawingml/2006/table">
            <a:tbl>
              <a:tblPr rtl="0" firstCol="0" lastCol="0" firstRow="0" lastRow="0" bandRow="0" bandCol="0"/>
              <a:tblGrid>
                <a:gridCol w="1371600"/>
                <a:gridCol w="1280160"/>
                <a:gridCol w="1280160"/>
              </a:tblGrid>
              <a:tr h="434160">
                <a:tc>
                  <a:txBody>
                    <a:bodyPr anchor="t">
                      <a:noAutofit/>
                    </a:bodyPr>
                    <a:p>
                      <a:pPr algn="ctr" defTabSz="914400">
                        <a:lnSpc>
                          <a:spcPct val="100000"/>
                        </a:lnSpc>
                        <a:tabLst>
                          <a:tab algn="l" pos="0"/>
                        </a:tabLst>
                      </a:pPr>
                      <a:r>
                        <a:rPr b="1" lang="en-US" sz="1100" strike="noStrike" u="none">
                          <a:solidFill>
                            <a:srgbClr val="ffffff"/>
                          </a:solidFill>
                          <a:uFillTx/>
                          <a:latin typeface="Calibri"/>
                        </a:rPr>
                        <a:t>Feature</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0077b6"/>
                    </a:solidFill>
                  </a:tcPr>
                </a:tc>
                <a:tc>
                  <a:txBody>
                    <a:bodyPr anchor="t">
                      <a:noAutofit/>
                    </a:bodyPr>
                    <a:p>
                      <a:pPr algn="ctr" defTabSz="914400">
                        <a:lnSpc>
                          <a:spcPct val="100000"/>
                        </a:lnSpc>
                        <a:tabLst>
                          <a:tab algn="l" pos="0"/>
                        </a:tabLst>
                      </a:pPr>
                      <a:r>
                        <a:rPr b="1" lang="en-US" sz="1100" strike="noStrike" u="none">
                          <a:solidFill>
                            <a:srgbClr val="ffffff"/>
                          </a:solidFill>
                          <a:uFillTx/>
                          <a:latin typeface="Calibri"/>
                        </a:rPr>
                        <a:t>SOAP</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0077b6"/>
                    </a:solidFill>
                  </a:tcPr>
                </a:tc>
                <a:tc>
                  <a:txBody>
                    <a:bodyPr anchor="t">
                      <a:noAutofit/>
                    </a:bodyPr>
                    <a:p>
                      <a:pPr algn="ctr" defTabSz="914400">
                        <a:lnSpc>
                          <a:spcPct val="100000"/>
                        </a:lnSpc>
                        <a:tabLst>
                          <a:tab algn="l" pos="0"/>
                        </a:tabLst>
                      </a:pPr>
                      <a:r>
                        <a:rPr b="1" lang="en-US" sz="1100" strike="noStrike" u="none">
                          <a:solidFill>
                            <a:srgbClr val="ffffff"/>
                          </a:solidFill>
                          <a:uFillTx/>
                          <a:latin typeface="Calibri"/>
                        </a:rPr>
                        <a:t>REST</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0077b6"/>
                    </a:solidFill>
                  </a:tcPr>
                </a:tc>
              </a:tr>
              <a:tr h="434160">
                <a:tc>
                  <a:txBody>
                    <a:bodyPr anchor="t">
                      <a:noAutofit/>
                    </a:bodyPr>
                    <a:p>
                      <a:pPr algn="ctr" defTabSz="914400">
                        <a:lnSpc>
                          <a:spcPct val="100000"/>
                        </a:lnSpc>
                        <a:tabLst>
                          <a:tab algn="l" pos="0"/>
                        </a:tabLst>
                      </a:pPr>
                      <a:r>
                        <a:rPr b="0" lang="en-US" sz="1100" strike="noStrike" u="none">
                          <a:solidFill>
                            <a:srgbClr val="d8eef8"/>
                          </a:solidFill>
                          <a:uFillTx/>
                          <a:latin typeface="Calibri"/>
                        </a:rPr>
                        <a:t>Data Format</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c>
                  <a:txBody>
                    <a:bodyPr anchor="t">
                      <a:noAutofit/>
                    </a:bodyPr>
                    <a:p>
                      <a:pPr algn="ctr" defTabSz="914400">
                        <a:lnSpc>
                          <a:spcPct val="100000"/>
                        </a:lnSpc>
                        <a:tabLst>
                          <a:tab algn="l" pos="0"/>
                        </a:tabLst>
                      </a:pPr>
                      <a:r>
                        <a:rPr b="0" lang="en-US" sz="1100" strike="noStrike" u="none">
                          <a:solidFill>
                            <a:srgbClr val="ef476f"/>
                          </a:solidFill>
                          <a:uFillTx/>
                          <a:latin typeface="Calibri"/>
                        </a:rPr>
                        <a:t>XML only</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c>
                  <a:txBody>
                    <a:bodyPr anchor="t">
                      <a:noAutofit/>
                    </a:bodyPr>
                    <a:p>
                      <a:pPr algn="ctr" defTabSz="914400">
                        <a:lnSpc>
                          <a:spcPct val="100000"/>
                        </a:lnSpc>
                        <a:tabLst>
                          <a:tab algn="l" pos="0"/>
                        </a:tabLst>
                      </a:pPr>
                      <a:r>
                        <a:rPr b="0" lang="en-US" sz="1100" strike="noStrike" u="none">
                          <a:solidFill>
                            <a:srgbClr val="06d6a0"/>
                          </a:solidFill>
                          <a:uFillTx/>
                          <a:latin typeface="Calibri"/>
                        </a:rPr>
                        <a:t>JSON, XML, etc.</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r>
              <a:tr h="434160">
                <a:tc>
                  <a:txBody>
                    <a:bodyPr anchor="t">
                      <a:noAutofit/>
                    </a:bodyPr>
                    <a:p>
                      <a:pPr algn="ctr" defTabSz="914400">
                        <a:lnSpc>
                          <a:spcPct val="100000"/>
                        </a:lnSpc>
                        <a:tabLst>
                          <a:tab algn="l" pos="0"/>
                        </a:tabLst>
                      </a:pPr>
                      <a:r>
                        <a:rPr b="0" lang="en-US" sz="1100" strike="noStrike" u="none">
                          <a:solidFill>
                            <a:srgbClr val="d8eef8"/>
                          </a:solidFill>
                          <a:uFillTx/>
                          <a:latin typeface="Calibri"/>
                        </a:rPr>
                        <a:t>Protocol</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c>
                  <a:txBody>
                    <a:bodyPr anchor="t">
                      <a:noAutofit/>
                    </a:bodyPr>
                    <a:p>
                      <a:pPr algn="ctr" defTabSz="914400">
                        <a:lnSpc>
                          <a:spcPct val="100000"/>
                        </a:lnSpc>
                        <a:tabLst>
                          <a:tab algn="l" pos="0"/>
                        </a:tabLst>
                      </a:pPr>
                      <a:r>
                        <a:rPr b="0" lang="en-US" sz="1100" strike="noStrike" u="none">
                          <a:solidFill>
                            <a:srgbClr val="ef476f"/>
                          </a:solidFill>
                          <a:uFillTx/>
                          <a:latin typeface="Calibri"/>
                        </a:rPr>
                        <a:t>SOAP over HTTP</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c>
                  <a:txBody>
                    <a:bodyPr anchor="t">
                      <a:noAutofit/>
                    </a:bodyPr>
                    <a:p>
                      <a:pPr algn="ctr" defTabSz="914400">
                        <a:lnSpc>
                          <a:spcPct val="100000"/>
                        </a:lnSpc>
                        <a:tabLst>
                          <a:tab algn="l" pos="0"/>
                        </a:tabLst>
                      </a:pPr>
                      <a:r>
                        <a:rPr b="0" lang="en-US" sz="1100" strike="noStrike" u="none">
                          <a:solidFill>
                            <a:srgbClr val="06d6a0"/>
                          </a:solidFill>
                          <a:uFillTx/>
                          <a:latin typeface="Calibri"/>
                        </a:rPr>
                        <a:t>Standard HTTP</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r>
              <a:tr h="434160">
                <a:tc>
                  <a:txBody>
                    <a:bodyPr anchor="t">
                      <a:noAutofit/>
                    </a:bodyPr>
                    <a:p>
                      <a:pPr algn="ctr" defTabSz="914400">
                        <a:lnSpc>
                          <a:spcPct val="100000"/>
                        </a:lnSpc>
                        <a:tabLst>
                          <a:tab algn="l" pos="0"/>
                        </a:tabLst>
                      </a:pPr>
                      <a:r>
                        <a:rPr b="0" lang="en-US" sz="1100" strike="noStrike" u="none">
                          <a:solidFill>
                            <a:srgbClr val="d8eef8"/>
                          </a:solidFill>
                          <a:uFillTx/>
                          <a:latin typeface="Calibri"/>
                        </a:rPr>
                        <a:t>Complexity</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c>
                  <a:txBody>
                    <a:bodyPr anchor="t">
                      <a:noAutofit/>
                    </a:bodyPr>
                    <a:p>
                      <a:pPr algn="ctr" defTabSz="914400">
                        <a:lnSpc>
                          <a:spcPct val="100000"/>
                        </a:lnSpc>
                        <a:tabLst>
                          <a:tab algn="l" pos="0"/>
                        </a:tabLst>
                      </a:pPr>
                      <a:r>
                        <a:rPr b="0" lang="en-US" sz="1100" strike="noStrike" u="none">
                          <a:solidFill>
                            <a:srgbClr val="ef476f"/>
                          </a:solidFill>
                          <a:uFillTx/>
                          <a:latin typeface="Calibri"/>
                        </a:rPr>
                        <a:t>High</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c>
                  <a:txBody>
                    <a:bodyPr anchor="t">
                      <a:noAutofit/>
                    </a:bodyPr>
                    <a:p>
                      <a:pPr algn="ctr" defTabSz="914400">
                        <a:lnSpc>
                          <a:spcPct val="100000"/>
                        </a:lnSpc>
                        <a:tabLst>
                          <a:tab algn="l" pos="0"/>
                        </a:tabLst>
                      </a:pPr>
                      <a:r>
                        <a:rPr b="0" lang="en-US" sz="1100" strike="noStrike" u="none">
                          <a:solidFill>
                            <a:srgbClr val="06d6a0"/>
                          </a:solidFill>
                          <a:uFillTx/>
                          <a:latin typeface="Calibri"/>
                        </a:rPr>
                        <a:t>Low</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r>
              <a:tr h="434160">
                <a:tc>
                  <a:txBody>
                    <a:bodyPr anchor="t">
                      <a:noAutofit/>
                    </a:bodyPr>
                    <a:p>
                      <a:pPr algn="ctr" defTabSz="914400">
                        <a:lnSpc>
                          <a:spcPct val="100000"/>
                        </a:lnSpc>
                        <a:tabLst>
                          <a:tab algn="l" pos="0"/>
                        </a:tabLst>
                      </a:pPr>
                      <a:r>
                        <a:rPr b="0" lang="en-US" sz="1100" strike="noStrike" u="none">
                          <a:solidFill>
                            <a:srgbClr val="d8eef8"/>
                          </a:solidFill>
                          <a:uFillTx/>
                          <a:latin typeface="Calibri"/>
                        </a:rPr>
                        <a:t>Performance</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c>
                  <a:txBody>
                    <a:bodyPr anchor="t">
                      <a:noAutofit/>
                    </a:bodyPr>
                    <a:p>
                      <a:pPr algn="ctr" defTabSz="914400">
                        <a:lnSpc>
                          <a:spcPct val="100000"/>
                        </a:lnSpc>
                        <a:tabLst>
                          <a:tab algn="l" pos="0"/>
                        </a:tabLst>
                      </a:pPr>
                      <a:r>
                        <a:rPr b="0" lang="en-US" sz="1100" strike="noStrike" u="none">
                          <a:solidFill>
                            <a:srgbClr val="ef476f"/>
                          </a:solidFill>
                          <a:uFillTx/>
                          <a:latin typeface="Calibri"/>
                        </a:rPr>
                        <a:t>Slower</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c>
                  <a:txBody>
                    <a:bodyPr anchor="t">
                      <a:noAutofit/>
                    </a:bodyPr>
                    <a:p>
                      <a:pPr algn="ctr" defTabSz="914400">
                        <a:lnSpc>
                          <a:spcPct val="100000"/>
                        </a:lnSpc>
                        <a:tabLst>
                          <a:tab algn="l" pos="0"/>
                        </a:tabLst>
                      </a:pPr>
                      <a:r>
                        <a:rPr b="0" lang="en-US" sz="1100" strike="noStrike" u="none">
                          <a:solidFill>
                            <a:srgbClr val="06d6a0"/>
                          </a:solidFill>
                          <a:uFillTx/>
                          <a:latin typeface="Calibri"/>
                        </a:rPr>
                        <a:t>Faster</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r>
              <a:tr h="434160">
                <a:tc>
                  <a:txBody>
                    <a:bodyPr anchor="t">
                      <a:noAutofit/>
                    </a:bodyPr>
                    <a:p>
                      <a:pPr algn="ctr" defTabSz="914400">
                        <a:lnSpc>
                          <a:spcPct val="100000"/>
                        </a:lnSpc>
                        <a:tabLst>
                          <a:tab algn="l" pos="0"/>
                        </a:tabLst>
                      </a:pPr>
                      <a:r>
                        <a:rPr b="0" lang="en-US" sz="1100" strike="noStrike" u="none">
                          <a:solidFill>
                            <a:srgbClr val="d8eef8"/>
                          </a:solidFill>
                          <a:uFillTx/>
                          <a:latin typeface="Calibri"/>
                        </a:rPr>
                        <a:t>Flexibility</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c>
                  <a:txBody>
                    <a:bodyPr anchor="t">
                      <a:noAutofit/>
                    </a:bodyPr>
                    <a:p>
                      <a:pPr algn="ctr" defTabSz="914400">
                        <a:lnSpc>
                          <a:spcPct val="100000"/>
                        </a:lnSpc>
                        <a:tabLst>
                          <a:tab algn="l" pos="0"/>
                        </a:tabLst>
                      </a:pPr>
                      <a:r>
                        <a:rPr b="0" lang="en-US" sz="1100" strike="noStrike" u="none">
                          <a:solidFill>
                            <a:srgbClr val="ef476f"/>
                          </a:solidFill>
                          <a:uFillTx/>
                          <a:latin typeface="Calibri"/>
                        </a:rPr>
                        <a:t>Rigid</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c>
                  <a:txBody>
                    <a:bodyPr anchor="t">
                      <a:noAutofit/>
                    </a:bodyPr>
                    <a:p>
                      <a:pPr algn="ctr" defTabSz="914400">
                        <a:lnSpc>
                          <a:spcPct val="100000"/>
                        </a:lnSpc>
                        <a:tabLst>
                          <a:tab algn="l" pos="0"/>
                        </a:tabLst>
                      </a:pPr>
                      <a:r>
                        <a:rPr b="0" lang="en-US" sz="1100" strike="noStrike" u="none">
                          <a:solidFill>
                            <a:srgbClr val="06d6a0"/>
                          </a:solidFill>
                          <a:uFillTx/>
                          <a:latin typeface="Calibri"/>
                        </a:rPr>
                        <a:t>Highly flexible</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r>
              <a:tr h="434160">
                <a:tc>
                  <a:txBody>
                    <a:bodyPr anchor="t">
                      <a:noAutofit/>
                    </a:bodyPr>
                    <a:p>
                      <a:pPr algn="ctr" defTabSz="914400">
                        <a:lnSpc>
                          <a:spcPct val="100000"/>
                        </a:lnSpc>
                        <a:tabLst>
                          <a:tab algn="l" pos="0"/>
                        </a:tabLst>
                      </a:pPr>
                      <a:r>
                        <a:rPr b="0" lang="en-US" sz="1100" strike="noStrike" u="none">
                          <a:solidFill>
                            <a:srgbClr val="d8eef8"/>
                          </a:solidFill>
                          <a:uFillTx/>
                          <a:latin typeface="Calibri"/>
                        </a:rPr>
                        <a:t>Learning Curve</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c>
                  <a:txBody>
                    <a:bodyPr anchor="t">
                      <a:noAutofit/>
                    </a:bodyPr>
                    <a:p>
                      <a:pPr algn="ctr" defTabSz="914400">
                        <a:lnSpc>
                          <a:spcPct val="100000"/>
                        </a:lnSpc>
                        <a:tabLst>
                          <a:tab algn="l" pos="0"/>
                        </a:tabLst>
                      </a:pPr>
                      <a:r>
                        <a:rPr b="0" lang="en-US" sz="1100" strike="noStrike" u="none">
                          <a:solidFill>
                            <a:srgbClr val="ef476f"/>
                          </a:solidFill>
                          <a:uFillTx/>
                          <a:latin typeface="Calibri"/>
                        </a:rPr>
                        <a:t>Steep</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c>
                  <a:txBody>
                    <a:bodyPr anchor="t">
                      <a:noAutofit/>
                    </a:bodyPr>
                    <a:p>
                      <a:pPr algn="ctr" defTabSz="914400">
                        <a:lnSpc>
                          <a:spcPct val="100000"/>
                        </a:lnSpc>
                        <a:tabLst>
                          <a:tab algn="l" pos="0"/>
                        </a:tabLst>
                      </a:pPr>
                      <a:r>
                        <a:rPr b="0" lang="en-US" sz="1100" strike="noStrike" u="none">
                          <a:solidFill>
                            <a:srgbClr val="06d6a0"/>
                          </a:solidFill>
                          <a:uFillTx/>
                          <a:latin typeface="Calibri"/>
                        </a:rPr>
                        <a:t>Gentle</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3243a"/>
                    </a:solidFill>
                  </a:tcPr>
                </a:tc>
              </a:tr>
              <a:tr h="434160">
                <a:tc>
                  <a:txBody>
                    <a:bodyPr anchor="t">
                      <a:noAutofit/>
                    </a:bodyPr>
                    <a:p>
                      <a:pPr algn="ctr" defTabSz="914400">
                        <a:lnSpc>
                          <a:spcPct val="100000"/>
                        </a:lnSpc>
                        <a:tabLst>
                          <a:tab algn="l" pos="0"/>
                        </a:tabLst>
                      </a:pPr>
                      <a:r>
                        <a:rPr b="0" lang="en-US" sz="1100" strike="noStrike" u="none">
                          <a:solidFill>
                            <a:srgbClr val="d8eef8"/>
                          </a:solidFill>
                          <a:uFillTx/>
                          <a:latin typeface="Calibri"/>
                        </a:rPr>
                        <a:t>State</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c>
                  <a:txBody>
                    <a:bodyPr anchor="t">
                      <a:noAutofit/>
                    </a:bodyPr>
                    <a:p>
                      <a:pPr algn="ctr" defTabSz="914400">
                        <a:lnSpc>
                          <a:spcPct val="100000"/>
                        </a:lnSpc>
                        <a:tabLst>
                          <a:tab algn="l" pos="0"/>
                        </a:tabLst>
                      </a:pPr>
                      <a:r>
                        <a:rPr b="0" lang="en-US" sz="1100" strike="noStrike" u="none">
                          <a:solidFill>
                            <a:srgbClr val="ef476f"/>
                          </a:solidFill>
                          <a:uFillTx/>
                          <a:latin typeface="Calibri"/>
                        </a:rPr>
                        <a:t>Stateful</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c>
                  <a:txBody>
                    <a:bodyPr anchor="t">
                      <a:noAutofit/>
                    </a:bodyPr>
                    <a:p>
                      <a:pPr algn="ctr" defTabSz="914400">
                        <a:lnSpc>
                          <a:spcPct val="100000"/>
                        </a:lnSpc>
                        <a:tabLst>
                          <a:tab algn="l" pos="0"/>
                        </a:tabLst>
                      </a:pPr>
                      <a:r>
                        <a:rPr b="0" lang="en-US" sz="1100" strike="noStrike" u="none">
                          <a:solidFill>
                            <a:srgbClr val="06d6a0"/>
                          </a:solidFill>
                          <a:uFillTx/>
                          <a:latin typeface="Calibri"/>
                        </a:rPr>
                        <a:t>Stateless</a:t>
                      </a:r>
                      <a:endParaRPr b="0" lang="en-US" sz="1100" strike="noStrike" u="none">
                        <a:solidFill>
                          <a:srgbClr val="ffffff"/>
                        </a:solidFill>
                        <a:uFillTx/>
                        <a:latin typeface="Arial"/>
                      </a:endParaRPr>
                    </a:p>
                  </a:txBody>
                  <a:tcPr anchor="t" marL="91440" marR="91440">
                    <a:lnL w="12240">
                      <a:solidFill>
                        <a:srgbClr val="1a3050"/>
                      </a:solidFill>
                      <a:prstDash val="solid"/>
                    </a:lnL>
                    <a:lnR w="12240">
                      <a:solidFill>
                        <a:srgbClr val="1a3050"/>
                      </a:solidFill>
                      <a:prstDash val="solid"/>
                    </a:lnR>
                    <a:lnT w="12240">
                      <a:solidFill>
                        <a:srgbClr val="1a3050"/>
                      </a:solidFill>
                      <a:prstDash val="solid"/>
                    </a:lnT>
                    <a:lnB w="12240">
                      <a:solidFill>
                        <a:srgbClr val="1a3050"/>
                      </a:solidFill>
                      <a:prstDash val="solid"/>
                    </a:lnB>
                    <a:solidFill>
                      <a:srgbClr val="162840"/>
                    </a:solid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125"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6 Core Principles of REST</a:t>
            </a:r>
            <a:endParaRPr b="0" lang="en-US" sz="3400" strike="noStrike" u="none">
              <a:solidFill>
                <a:srgbClr val="ffffff"/>
              </a:solidFill>
              <a:uFillTx/>
              <a:latin typeface="Arial"/>
            </a:endParaRPr>
          </a:p>
        </p:txBody>
      </p:sp>
      <p:sp>
        <p:nvSpPr>
          <p:cNvPr id="126"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The architectural constraints that define a RESTful system</a:t>
            </a:r>
            <a:endParaRPr b="0" lang="en-US" sz="1300" strike="noStrike" u="none">
              <a:solidFill>
                <a:srgbClr val="ffffff"/>
              </a:solidFill>
              <a:uFillTx/>
              <a:latin typeface="Arial"/>
            </a:endParaRPr>
          </a:p>
        </p:txBody>
      </p:sp>
      <p:sp>
        <p:nvSpPr>
          <p:cNvPr id="127"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128" name="Shape 3"/>
          <p:cNvSpPr/>
          <p:nvPr/>
        </p:nvSpPr>
        <p:spPr>
          <a:xfrm>
            <a:off x="384120" y="1143000"/>
            <a:ext cx="2761200" cy="1755360"/>
          </a:xfrm>
          <a:prstGeom prst="roundRect">
            <a:avLst>
              <a:gd name="adj" fmla="val 5208"/>
            </a:avLst>
          </a:prstGeom>
          <a:solidFill>
            <a:srgbClr val="13243a"/>
          </a:solidFill>
          <a:ln w="12700">
            <a:solidFill>
              <a:srgbClr val="00c9e0">
                <a:alpha val="5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29" name="Shape 4"/>
          <p:cNvSpPr/>
          <p:nvPr/>
        </p:nvSpPr>
        <p:spPr>
          <a:xfrm>
            <a:off x="475560" y="1234440"/>
            <a:ext cx="328680" cy="32868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30" name="Text 5"/>
          <p:cNvSpPr/>
          <p:nvPr/>
        </p:nvSpPr>
        <p:spPr>
          <a:xfrm>
            <a:off x="475560" y="123444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0b1926"/>
                </a:solidFill>
                <a:uFillTx/>
                <a:latin typeface="Calibri"/>
                <a:ea typeface="Calibri"/>
              </a:rPr>
              <a:t>1</a:t>
            </a:r>
            <a:endParaRPr b="0" lang="en-US" sz="1200" strike="noStrike" u="none">
              <a:solidFill>
                <a:srgbClr val="ffffff"/>
              </a:solidFill>
              <a:uFillTx/>
              <a:latin typeface="Arial"/>
            </a:endParaRPr>
          </a:p>
        </p:txBody>
      </p:sp>
      <p:sp>
        <p:nvSpPr>
          <p:cNvPr id="131" name="Text 6"/>
          <p:cNvSpPr/>
          <p:nvPr/>
        </p:nvSpPr>
        <p:spPr>
          <a:xfrm>
            <a:off x="887040" y="1234440"/>
            <a:ext cx="2166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ffffff"/>
                </a:solidFill>
                <a:uFillTx/>
                <a:latin typeface="Calibri"/>
                <a:ea typeface="Calibri"/>
              </a:rPr>
              <a:t>🖥️ </a:t>
            </a:r>
            <a:r>
              <a:rPr b="1" lang="en-US" sz="1300" strike="noStrike" u="none">
                <a:solidFill>
                  <a:srgbClr val="ffffff"/>
                </a:solidFill>
                <a:uFillTx/>
                <a:latin typeface="Calibri"/>
                <a:ea typeface="Calibri"/>
              </a:rPr>
              <a:t>Client–Server</a:t>
            </a:r>
            <a:endParaRPr b="0" lang="en-US" sz="1300" strike="noStrike" u="none">
              <a:solidFill>
                <a:srgbClr val="ffffff"/>
              </a:solidFill>
              <a:uFillTx/>
              <a:latin typeface="Arial"/>
            </a:endParaRPr>
          </a:p>
        </p:txBody>
      </p:sp>
      <p:sp>
        <p:nvSpPr>
          <p:cNvPr id="132" name="Text 7"/>
          <p:cNvSpPr/>
          <p:nvPr/>
        </p:nvSpPr>
        <p:spPr>
          <a:xfrm>
            <a:off x="493920" y="1654920"/>
            <a:ext cx="2541600" cy="1170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Strict separation between UI (client) and data/logic (server). Each evolves independently. The client doesn't need to know how data is stored; the server doesn't need to know how it's displayed.</a:t>
            </a:r>
            <a:endParaRPr b="0" lang="en-US" sz="1050" strike="noStrike" u="none">
              <a:solidFill>
                <a:srgbClr val="ffffff"/>
              </a:solidFill>
              <a:uFillTx/>
              <a:latin typeface="Arial"/>
            </a:endParaRPr>
          </a:p>
        </p:txBody>
      </p:sp>
      <p:sp>
        <p:nvSpPr>
          <p:cNvPr id="133" name="Shape 8"/>
          <p:cNvSpPr/>
          <p:nvPr/>
        </p:nvSpPr>
        <p:spPr>
          <a:xfrm>
            <a:off x="3328560" y="1143000"/>
            <a:ext cx="2761200" cy="1755360"/>
          </a:xfrm>
          <a:prstGeom prst="roundRect">
            <a:avLst>
              <a:gd name="adj" fmla="val 5208"/>
            </a:avLst>
          </a:prstGeom>
          <a:solidFill>
            <a:srgbClr val="13243a"/>
          </a:solidFill>
          <a:ln w="12700">
            <a:solidFill>
              <a:srgbClr val="06d6a0">
                <a:alpha val="5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34" name="Shape 9"/>
          <p:cNvSpPr/>
          <p:nvPr/>
        </p:nvSpPr>
        <p:spPr>
          <a:xfrm>
            <a:off x="3420000" y="1234440"/>
            <a:ext cx="328680" cy="328680"/>
          </a:xfrm>
          <a:prstGeom prst="ellipse">
            <a:avLst/>
          </a:prstGeom>
          <a:solidFill>
            <a:srgbClr val="06d6a0"/>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35" name="Text 10"/>
          <p:cNvSpPr/>
          <p:nvPr/>
        </p:nvSpPr>
        <p:spPr>
          <a:xfrm>
            <a:off x="3420000" y="123444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0b1926"/>
                </a:solidFill>
                <a:uFillTx/>
                <a:latin typeface="Calibri"/>
                <a:ea typeface="Calibri"/>
              </a:rPr>
              <a:t>2</a:t>
            </a:r>
            <a:endParaRPr b="0" lang="en-US" sz="1200" strike="noStrike" u="none">
              <a:solidFill>
                <a:srgbClr val="ffffff"/>
              </a:solidFill>
              <a:uFillTx/>
              <a:latin typeface="Arial"/>
            </a:endParaRPr>
          </a:p>
        </p:txBody>
      </p:sp>
      <p:sp>
        <p:nvSpPr>
          <p:cNvPr id="136" name="Text 11"/>
          <p:cNvSpPr/>
          <p:nvPr/>
        </p:nvSpPr>
        <p:spPr>
          <a:xfrm>
            <a:off x="3831480" y="1234440"/>
            <a:ext cx="2166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ffffff"/>
                </a:solidFill>
                <a:uFillTx/>
                <a:latin typeface="Calibri"/>
                <a:ea typeface="Calibri"/>
              </a:rPr>
              <a:t>📦 </a:t>
            </a:r>
            <a:r>
              <a:rPr b="1" lang="en-US" sz="1300" strike="noStrike" u="none">
                <a:solidFill>
                  <a:srgbClr val="ffffff"/>
                </a:solidFill>
                <a:uFillTx/>
                <a:latin typeface="Calibri"/>
                <a:ea typeface="Calibri"/>
              </a:rPr>
              <a:t>Stateless</a:t>
            </a:r>
            <a:endParaRPr b="0" lang="en-US" sz="1300" strike="noStrike" u="none">
              <a:solidFill>
                <a:srgbClr val="ffffff"/>
              </a:solidFill>
              <a:uFillTx/>
              <a:latin typeface="Arial"/>
            </a:endParaRPr>
          </a:p>
        </p:txBody>
      </p:sp>
      <p:sp>
        <p:nvSpPr>
          <p:cNvPr id="137" name="Text 12"/>
          <p:cNvSpPr/>
          <p:nvPr/>
        </p:nvSpPr>
        <p:spPr>
          <a:xfrm>
            <a:off x="3438000" y="1654920"/>
            <a:ext cx="2541600" cy="1170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No client session is stored on the server. Every single request must contain ALL information needed for the server to understand and process it. Session state lives entirely on the client side.</a:t>
            </a:r>
            <a:endParaRPr b="0" lang="en-US" sz="1050" strike="noStrike" u="none">
              <a:solidFill>
                <a:srgbClr val="ffffff"/>
              </a:solidFill>
              <a:uFillTx/>
              <a:latin typeface="Arial"/>
            </a:endParaRPr>
          </a:p>
        </p:txBody>
      </p:sp>
      <p:sp>
        <p:nvSpPr>
          <p:cNvPr id="138" name="Shape 13"/>
          <p:cNvSpPr/>
          <p:nvPr/>
        </p:nvSpPr>
        <p:spPr>
          <a:xfrm>
            <a:off x="6272640" y="1143000"/>
            <a:ext cx="2761200" cy="1755360"/>
          </a:xfrm>
          <a:prstGeom prst="roundRect">
            <a:avLst>
              <a:gd name="adj" fmla="val 5208"/>
            </a:avLst>
          </a:prstGeom>
          <a:solidFill>
            <a:srgbClr val="13243a"/>
          </a:solidFill>
          <a:ln w="12700">
            <a:solidFill>
              <a:srgbClr val="ffd166">
                <a:alpha val="5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39" name="Shape 14"/>
          <p:cNvSpPr/>
          <p:nvPr/>
        </p:nvSpPr>
        <p:spPr>
          <a:xfrm>
            <a:off x="6364080" y="1234440"/>
            <a:ext cx="328680" cy="328680"/>
          </a:xfrm>
          <a:prstGeom prst="ellipse">
            <a:avLst/>
          </a:prstGeom>
          <a:solidFill>
            <a:srgbClr val="ffd166"/>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140" name="Text 15"/>
          <p:cNvSpPr/>
          <p:nvPr/>
        </p:nvSpPr>
        <p:spPr>
          <a:xfrm>
            <a:off x="6364080" y="123444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0b1926"/>
                </a:solidFill>
                <a:uFillTx/>
                <a:latin typeface="Calibri"/>
                <a:ea typeface="Calibri"/>
              </a:rPr>
              <a:t>3</a:t>
            </a:r>
            <a:endParaRPr b="0" lang="en-US" sz="1200" strike="noStrike" u="none">
              <a:solidFill>
                <a:srgbClr val="ffffff"/>
              </a:solidFill>
              <a:uFillTx/>
              <a:latin typeface="Arial"/>
            </a:endParaRPr>
          </a:p>
        </p:txBody>
      </p:sp>
      <p:sp>
        <p:nvSpPr>
          <p:cNvPr id="141" name="Text 16"/>
          <p:cNvSpPr/>
          <p:nvPr/>
        </p:nvSpPr>
        <p:spPr>
          <a:xfrm>
            <a:off x="6775560" y="1234440"/>
            <a:ext cx="2166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ffffff"/>
                </a:solidFill>
                <a:uFillTx/>
                <a:latin typeface="Calibri"/>
                <a:ea typeface="Calibri"/>
              </a:rPr>
              <a:t>💾 </a:t>
            </a:r>
            <a:r>
              <a:rPr b="1" lang="en-US" sz="1300" strike="noStrike" u="none">
                <a:solidFill>
                  <a:srgbClr val="ffffff"/>
                </a:solidFill>
                <a:uFillTx/>
                <a:latin typeface="Calibri"/>
                <a:ea typeface="Calibri"/>
              </a:rPr>
              <a:t>Cacheable</a:t>
            </a:r>
            <a:endParaRPr b="0" lang="en-US" sz="1300" strike="noStrike" u="none">
              <a:solidFill>
                <a:srgbClr val="ffffff"/>
              </a:solidFill>
              <a:uFillTx/>
              <a:latin typeface="Arial"/>
            </a:endParaRPr>
          </a:p>
        </p:txBody>
      </p:sp>
      <p:sp>
        <p:nvSpPr>
          <p:cNvPr id="142" name="Text 17"/>
          <p:cNvSpPr/>
          <p:nvPr/>
        </p:nvSpPr>
        <p:spPr>
          <a:xfrm>
            <a:off x="6382440" y="1654920"/>
            <a:ext cx="2541600" cy="1170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Responses must declare whether they can be cached or not. Clients (and proxies) can reuse cached responses to avoid redundant network calls, improving performance and reducing server load.</a:t>
            </a:r>
            <a:endParaRPr b="0" lang="en-US" sz="1050" strike="noStrike" u="none">
              <a:solidFill>
                <a:srgbClr val="ffffff"/>
              </a:solidFill>
              <a:uFillTx/>
              <a:latin typeface="Arial"/>
            </a:endParaRPr>
          </a:p>
        </p:txBody>
      </p:sp>
      <p:sp>
        <p:nvSpPr>
          <p:cNvPr id="143" name="Shape 18"/>
          <p:cNvSpPr/>
          <p:nvPr/>
        </p:nvSpPr>
        <p:spPr>
          <a:xfrm>
            <a:off x="1924920" y="3076200"/>
            <a:ext cx="2761200" cy="1755360"/>
          </a:xfrm>
          <a:prstGeom prst="roundRect">
            <a:avLst>
              <a:gd name="adj" fmla="val 5208"/>
            </a:avLst>
          </a:prstGeom>
          <a:solidFill>
            <a:srgbClr val="13243a"/>
          </a:solidFill>
          <a:ln w="12700">
            <a:solidFill>
              <a:srgbClr val="ef476f">
                <a:alpha val="5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44" name="Shape 19"/>
          <p:cNvSpPr/>
          <p:nvPr/>
        </p:nvSpPr>
        <p:spPr>
          <a:xfrm>
            <a:off x="2016360" y="3167640"/>
            <a:ext cx="328680" cy="328680"/>
          </a:xfrm>
          <a:prstGeom prst="ellipse">
            <a:avLst/>
          </a:prstGeom>
          <a:solidFill>
            <a:srgbClr val="ef476f"/>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45" name="Text 20"/>
          <p:cNvSpPr/>
          <p:nvPr/>
        </p:nvSpPr>
        <p:spPr>
          <a:xfrm>
            <a:off x="2016360" y="316764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0b1926"/>
                </a:solidFill>
                <a:uFillTx/>
                <a:latin typeface="Calibri"/>
                <a:ea typeface="Calibri"/>
              </a:rPr>
              <a:t>4</a:t>
            </a:r>
            <a:endParaRPr b="0" lang="en-US" sz="1200" strike="noStrike" u="none">
              <a:solidFill>
                <a:srgbClr val="ffffff"/>
              </a:solidFill>
              <a:uFillTx/>
              <a:latin typeface="Arial"/>
            </a:endParaRPr>
          </a:p>
        </p:txBody>
      </p:sp>
      <p:sp>
        <p:nvSpPr>
          <p:cNvPr id="146" name="Text 21"/>
          <p:cNvSpPr/>
          <p:nvPr/>
        </p:nvSpPr>
        <p:spPr>
          <a:xfrm>
            <a:off x="2427840" y="3167640"/>
            <a:ext cx="2166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ffffff"/>
                </a:solidFill>
                <a:uFillTx/>
                <a:latin typeface="Calibri"/>
                <a:ea typeface="Calibri"/>
              </a:rPr>
              <a:t>🔗 </a:t>
            </a:r>
            <a:r>
              <a:rPr b="1" lang="en-US" sz="1300" strike="noStrike" u="none">
                <a:solidFill>
                  <a:srgbClr val="ffffff"/>
                </a:solidFill>
                <a:uFillTx/>
                <a:latin typeface="Calibri"/>
                <a:ea typeface="Calibri"/>
              </a:rPr>
              <a:t>Uniform Interface</a:t>
            </a:r>
            <a:endParaRPr b="0" lang="en-US" sz="1300" strike="noStrike" u="none">
              <a:solidFill>
                <a:srgbClr val="ffffff"/>
              </a:solidFill>
              <a:uFillTx/>
              <a:latin typeface="Arial"/>
            </a:endParaRPr>
          </a:p>
        </p:txBody>
      </p:sp>
      <p:sp>
        <p:nvSpPr>
          <p:cNvPr id="147" name="Text 22"/>
          <p:cNvSpPr/>
          <p:nvPr/>
        </p:nvSpPr>
        <p:spPr>
          <a:xfrm>
            <a:off x="2034720" y="3588480"/>
            <a:ext cx="2541600" cy="117000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IN" sz="1050" strike="noStrike" u="none">
                <a:solidFill>
                  <a:schemeClr val="lt1"/>
                </a:solidFill>
                <a:uFillTx/>
                <a:latin typeface="Calibri"/>
              </a:rPr>
              <a:t>Every REST API follows the same pattern: use a unique URL for a resource and standard HTTP methods (GET, POST, PUT, DELETE) to perform actions. This makes APIs easy to understand and maintain.</a:t>
            </a:r>
            <a:endParaRPr b="0" lang="en-US" sz="1050" strike="noStrike" u="none">
              <a:solidFill>
                <a:srgbClr val="ffffff"/>
              </a:solidFill>
              <a:uFillTx/>
              <a:latin typeface="Arial"/>
            </a:endParaRPr>
          </a:p>
        </p:txBody>
      </p:sp>
      <p:sp>
        <p:nvSpPr>
          <p:cNvPr id="148" name="Shape 23"/>
          <p:cNvSpPr/>
          <p:nvPr/>
        </p:nvSpPr>
        <p:spPr>
          <a:xfrm>
            <a:off x="4777920" y="3069720"/>
            <a:ext cx="2761200" cy="1755360"/>
          </a:xfrm>
          <a:prstGeom prst="roundRect">
            <a:avLst>
              <a:gd name="adj" fmla="val 5208"/>
            </a:avLst>
          </a:prstGeom>
          <a:solidFill>
            <a:srgbClr val="13243a"/>
          </a:solidFill>
          <a:ln w="12700">
            <a:solidFill>
              <a:srgbClr val="ff9f1c">
                <a:alpha val="5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49" name="Shape 24"/>
          <p:cNvSpPr/>
          <p:nvPr/>
        </p:nvSpPr>
        <p:spPr>
          <a:xfrm>
            <a:off x="4869360" y="3161160"/>
            <a:ext cx="328680" cy="328680"/>
          </a:xfrm>
          <a:prstGeom prst="ellipse">
            <a:avLst/>
          </a:prstGeom>
          <a:solidFill>
            <a:srgbClr val="ff9f1c"/>
          </a:solidFill>
          <a:ln w="12700">
            <a:solidFill>
              <a:srgbClr val="ff9f1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150" name="Text 25"/>
          <p:cNvSpPr/>
          <p:nvPr/>
        </p:nvSpPr>
        <p:spPr>
          <a:xfrm>
            <a:off x="4869360" y="316116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0b1926"/>
                </a:solidFill>
                <a:uFillTx/>
                <a:latin typeface="Calibri"/>
                <a:ea typeface="Calibri"/>
              </a:rPr>
              <a:t>5</a:t>
            </a:r>
            <a:endParaRPr b="0" lang="en-US" sz="1200" strike="noStrike" u="none">
              <a:solidFill>
                <a:srgbClr val="ffffff"/>
              </a:solidFill>
              <a:uFillTx/>
              <a:latin typeface="Arial"/>
            </a:endParaRPr>
          </a:p>
        </p:txBody>
      </p:sp>
      <p:sp>
        <p:nvSpPr>
          <p:cNvPr id="151" name="Text 26"/>
          <p:cNvSpPr/>
          <p:nvPr/>
        </p:nvSpPr>
        <p:spPr>
          <a:xfrm>
            <a:off x="5280840" y="3161160"/>
            <a:ext cx="2166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ffffff"/>
                </a:solidFill>
                <a:uFillTx/>
                <a:latin typeface="Calibri"/>
                <a:ea typeface="Calibri"/>
              </a:rPr>
              <a:t>🏗️ </a:t>
            </a:r>
            <a:r>
              <a:rPr b="1" lang="en-US" sz="1300" strike="noStrike" u="none">
                <a:solidFill>
                  <a:srgbClr val="ffffff"/>
                </a:solidFill>
                <a:uFillTx/>
                <a:latin typeface="Calibri"/>
                <a:ea typeface="Calibri"/>
              </a:rPr>
              <a:t>Layered System</a:t>
            </a:r>
            <a:endParaRPr b="0" lang="en-US" sz="1300" strike="noStrike" u="none">
              <a:solidFill>
                <a:srgbClr val="ffffff"/>
              </a:solidFill>
              <a:uFillTx/>
              <a:latin typeface="Arial"/>
            </a:endParaRPr>
          </a:p>
        </p:txBody>
      </p:sp>
      <p:sp>
        <p:nvSpPr>
          <p:cNvPr id="152" name="Text 27"/>
          <p:cNvSpPr/>
          <p:nvPr/>
        </p:nvSpPr>
        <p:spPr>
          <a:xfrm>
            <a:off x="4887360" y="3582000"/>
            <a:ext cx="2541600" cy="1170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Clients can't tell if they're connected directly to the server or through proxy/load-balancer/CDN layers. Intermediaries can handle caching, security, and load-balancing transparently.</a:t>
            </a:r>
            <a:endParaRPr b="0" lang="en-US" sz="105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153"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Resources &amp; URI Design</a:t>
            </a:r>
            <a:endParaRPr b="0" lang="en-US" sz="3400" strike="noStrike" u="none">
              <a:solidFill>
                <a:srgbClr val="ffffff"/>
              </a:solidFill>
              <a:uFillTx/>
              <a:latin typeface="Arial"/>
            </a:endParaRPr>
          </a:p>
        </p:txBody>
      </p:sp>
      <p:sp>
        <p:nvSpPr>
          <p:cNvPr id="154"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URIs identify WHAT — HTTP methods say WHAT TO DO</a:t>
            </a:r>
            <a:endParaRPr b="0" lang="en-US" sz="1300" strike="noStrike" u="none">
              <a:solidFill>
                <a:srgbClr val="ffffff"/>
              </a:solidFill>
              <a:uFillTx/>
              <a:latin typeface="Arial"/>
            </a:endParaRPr>
          </a:p>
        </p:txBody>
      </p:sp>
      <p:sp>
        <p:nvSpPr>
          <p:cNvPr id="155"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156" name="Shape 3"/>
          <p:cNvSpPr/>
          <p:nvPr/>
        </p:nvSpPr>
        <p:spPr>
          <a:xfrm>
            <a:off x="384120" y="1097280"/>
            <a:ext cx="2761200" cy="914040"/>
          </a:xfrm>
          <a:prstGeom prst="roundRect">
            <a:avLst>
              <a:gd name="adj" fmla="val 10000"/>
            </a:avLst>
          </a:prstGeom>
          <a:solidFill>
            <a:srgbClr val="13243a"/>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57" name="Text 4"/>
          <p:cNvSpPr/>
          <p:nvPr/>
        </p:nvSpPr>
        <p:spPr>
          <a:xfrm>
            <a:off x="493920" y="1124640"/>
            <a:ext cx="25416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00c9e0"/>
                </a:solidFill>
                <a:uFillTx/>
                <a:latin typeface="Calibri"/>
                <a:ea typeface="Calibri"/>
              </a:rPr>
              <a:t>Resource</a:t>
            </a:r>
            <a:endParaRPr b="0" lang="en-US" sz="1400" strike="noStrike" u="none">
              <a:solidFill>
                <a:srgbClr val="ffffff"/>
              </a:solidFill>
              <a:uFillTx/>
              <a:latin typeface="Arial"/>
            </a:endParaRPr>
          </a:p>
        </p:txBody>
      </p:sp>
      <p:sp>
        <p:nvSpPr>
          <p:cNvPr id="158" name="Text 5"/>
          <p:cNvSpPr/>
          <p:nvPr/>
        </p:nvSpPr>
        <p:spPr>
          <a:xfrm>
            <a:off x="493920" y="1463040"/>
            <a:ext cx="25416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Any entity you want to access through API: a user, order, product, document, image. Resources are NOUNS.</a:t>
            </a:r>
            <a:endParaRPr b="0" lang="en-US" sz="1050" strike="noStrike" u="none">
              <a:solidFill>
                <a:srgbClr val="ffffff"/>
              </a:solidFill>
              <a:uFillTx/>
              <a:latin typeface="Arial"/>
            </a:endParaRPr>
          </a:p>
        </p:txBody>
      </p:sp>
      <p:sp>
        <p:nvSpPr>
          <p:cNvPr id="159" name="Shape 6"/>
          <p:cNvSpPr/>
          <p:nvPr/>
        </p:nvSpPr>
        <p:spPr>
          <a:xfrm>
            <a:off x="3328560" y="1097280"/>
            <a:ext cx="2761200" cy="914040"/>
          </a:xfrm>
          <a:prstGeom prst="roundRect">
            <a:avLst>
              <a:gd name="adj" fmla="val 10000"/>
            </a:avLst>
          </a:prstGeom>
          <a:solidFill>
            <a:srgbClr val="13243a"/>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60" name="Text 7"/>
          <p:cNvSpPr/>
          <p:nvPr/>
        </p:nvSpPr>
        <p:spPr>
          <a:xfrm>
            <a:off x="3438000" y="1124640"/>
            <a:ext cx="25416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06d6a0"/>
                </a:solidFill>
                <a:uFillTx/>
                <a:latin typeface="Calibri"/>
                <a:ea typeface="Calibri"/>
              </a:rPr>
              <a:t>URI</a:t>
            </a:r>
            <a:endParaRPr b="0" lang="en-US" sz="1400" strike="noStrike" u="none">
              <a:solidFill>
                <a:srgbClr val="ffffff"/>
              </a:solidFill>
              <a:uFillTx/>
              <a:latin typeface="Arial"/>
            </a:endParaRPr>
          </a:p>
        </p:txBody>
      </p:sp>
      <p:sp>
        <p:nvSpPr>
          <p:cNvPr id="161" name="Text 8"/>
          <p:cNvSpPr/>
          <p:nvPr/>
        </p:nvSpPr>
        <p:spPr>
          <a:xfrm>
            <a:off x="3438000" y="1463040"/>
            <a:ext cx="25416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Uniform Resource Identifier — the unique address/path of a resource on the server.</a:t>
            </a:r>
            <a:endParaRPr b="0" lang="en-US" sz="1050" strike="noStrike" u="none">
              <a:solidFill>
                <a:srgbClr val="ffffff"/>
              </a:solidFill>
              <a:uFillTx/>
              <a:latin typeface="Arial"/>
            </a:endParaRPr>
          </a:p>
        </p:txBody>
      </p:sp>
      <p:sp>
        <p:nvSpPr>
          <p:cNvPr id="162" name="Shape 9"/>
          <p:cNvSpPr/>
          <p:nvPr/>
        </p:nvSpPr>
        <p:spPr>
          <a:xfrm>
            <a:off x="6272640" y="1097280"/>
            <a:ext cx="2761200" cy="914040"/>
          </a:xfrm>
          <a:prstGeom prst="roundRect">
            <a:avLst>
              <a:gd name="adj" fmla="val 10000"/>
            </a:avLst>
          </a:prstGeom>
          <a:solidFill>
            <a:srgbClr val="13243a"/>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63" name="Text 10"/>
          <p:cNvSpPr/>
          <p:nvPr/>
        </p:nvSpPr>
        <p:spPr>
          <a:xfrm>
            <a:off x="6382440" y="1124640"/>
            <a:ext cx="25416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ffd166"/>
                </a:solidFill>
                <a:uFillTx/>
                <a:latin typeface="Calibri"/>
                <a:ea typeface="Calibri"/>
              </a:rPr>
              <a:t>Endpoint</a:t>
            </a:r>
            <a:endParaRPr b="0" lang="en-US" sz="1400" strike="noStrike" u="none">
              <a:solidFill>
                <a:srgbClr val="ffffff"/>
              </a:solidFill>
              <a:uFillTx/>
              <a:latin typeface="Arial"/>
            </a:endParaRPr>
          </a:p>
        </p:txBody>
      </p:sp>
      <p:sp>
        <p:nvSpPr>
          <p:cNvPr id="164" name="Text 11"/>
          <p:cNvSpPr/>
          <p:nvPr/>
        </p:nvSpPr>
        <p:spPr>
          <a:xfrm>
            <a:off x="6382440" y="1463040"/>
            <a:ext cx="25416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The combination of an HTTP method + URI. e.g. GET /users is one endpoint.</a:t>
            </a:r>
            <a:endParaRPr b="0" lang="en-US" sz="1050" strike="noStrike" u="none">
              <a:solidFill>
                <a:srgbClr val="ffffff"/>
              </a:solidFill>
              <a:uFillTx/>
              <a:latin typeface="Arial"/>
            </a:endParaRPr>
          </a:p>
        </p:txBody>
      </p:sp>
      <p:sp>
        <p:nvSpPr>
          <p:cNvPr id="165" name="Text 12"/>
          <p:cNvSpPr/>
          <p:nvPr/>
        </p:nvSpPr>
        <p:spPr>
          <a:xfrm>
            <a:off x="457200" y="2148840"/>
            <a:ext cx="8229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ffd166"/>
                </a:solidFill>
                <a:uFillTx/>
                <a:latin typeface="Calibri"/>
                <a:ea typeface="Calibri"/>
              </a:rPr>
              <a:t>URI Design Rules</a:t>
            </a:r>
            <a:endParaRPr b="0" lang="en-US" sz="1400" strike="noStrike" u="none">
              <a:solidFill>
                <a:srgbClr val="ffffff"/>
              </a:solidFill>
              <a:uFillTx/>
              <a:latin typeface="Arial"/>
            </a:endParaRPr>
          </a:p>
        </p:txBody>
      </p:sp>
      <p:sp>
        <p:nvSpPr>
          <p:cNvPr id="166" name="Shape 13"/>
          <p:cNvSpPr/>
          <p:nvPr/>
        </p:nvSpPr>
        <p:spPr>
          <a:xfrm>
            <a:off x="457200" y="2514600"/>
            <a:ext cx="3200040" cy="347040"/>
          </a:xfrm>
          <a:prstGeom prst="roundRect">
            <a:avLst>
              <a:gd name="adj" fmla="val 10526"/>
            </a:avLst>
          </a:prstGeom>
          <a:solidFill>
            <a:srgbClr val="0077b6">
              <a:alpha val="80000"/>
            </a:srgbClr>
          </a:solidFill>
          <a:ln w="12700">
            <a:solidFill>
              <a:srgbClr val="0077b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67" name="Text 14"/>
          <p:cNvSpPr/>
          <p:nvPr/>
        </p:nvSpPr>
        <p:spPr>
          <a:xfrm>
            <a:off x="457200" y="2514600"/>
            <a:ext cx="32000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Rule</a:t>
            </a:r>
            <a:endParaRPr b="0" lang="en-US" sz="1200" strike="noStrike" u="none">
              <a:solidFill>
                <a:srgbClr val="ffffff"/>
              </a:solidFill>
              <a:uFillTx/>
              <a:latin typeface="Arial"/>
            </a:endParaRPr>
          </a:p>
        </p:txBody>
      </p:sp>
      <p:sp>
        <p:nvSpPr>
          <p:cNvPr id="168" name="Shape 15"/>
          <p:cNvSpPr/>
          <p:nvPr/>
        </p:nvSpPr>
        <p:spPr>
          <a:xfrm>
            <a:off x="3767400" y="2514600"/>
            <a:ext cx="2377080" cy="347040"/>
          </a:xfrm>
          <a:prstGeom prst="roundRect">
            <a:avLst>
              <a:gd name="adj" fmla="val 10526"/>
            </a:avLst>
          </a:prstGeom>
          <a:solidFill>
            <a:srgbClr val="06d6a0">
              <a:alpha val="80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69" name="Text 16"/>
          <p:cNvSpPr/>
          <p:nvPr/>
        </p:nvSpPr>
        <p:spPr>
          <a:xfrm>
            <a:off x="3767400" y="2514600"/>
            <a:ext cx="23770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  </a:t>
            </a:r>
            <a:r>
              <a:rPr b="1" lang="en-US" sz="1200" strike="noStrike" u="none">
                <a:solidFill>
                  <a:srgbClr val="ffffff"/>
                </a:solidFill>
                <a:uFillTx/>
                <a:latin typeface="Calibri"/>
                <a:ea typeface="Calibri"/>
              </a:rPr>
              <a:t>Do This</a:t>
            </a:r>
            <a:endParaRPr b="0" lang="en-US" sz="1200" strike="noStrike" u="none">
              <a:solidFill>
                <a:srgbClr val="ffffff"/>
              </a:solidFill>
              <a:uFillTx/>
              <a:latin typeface="Arial"/>
            </a:endParaRPr>
          </a:p>
        </p:txBody>
      </p:sp>
      <p:sp>
        <p:nvSpPr>
          <p:cNvPr id="170" name="Shape 17"/>
          <p:cNvSpPr/>
          <p:nvPr/>
        </p:nvSpPr>
        <p:spPr>
          <a:xfrm>
            <a:off x="6254640" y="2514600"/>
            <a:ext cx="2377080" cy="347040"/>
          </a:xfrm>
          <a:prstGeom prst="roundRect">
            <a:avLst>
              <a:gd name="adj" fmla="val 10526"/>
            </a:avLst>
          </a:prstGeom>
          <a:solidFill>
            <a:srgbClr val="ef476f">
              <a:alpha val="80000"/>
            </a:srgbClr>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71" name="Text 18"/>
          <p:cNvSpPr/>
          <p:nvPr/>
        </p:nvSpPr>
        <p:spPr>
          <a:xfrm>
            <a:off x="6254640" y="2514600"/>
            <a:ext cx="23770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  </a:t>
            </a:r>
            <a:r>
              <a:rPr b="1" lang="en-US" sz="1200" strike="noStrike" u="none">
                <a:solidFill>
                  <a:srgbClr val="ffffff"/>
                </a:solidFill>
                <a:uFillTx/>
                <a:latin typeface="Calibri"/>
                <a:ea typeface="Calibri"/>
              </a:rPr>
              <a:t>Not This</a:t>
            </a:r>
            <a:endParaRPr b="0" lang="en-US" sz="1200" strike="noStrike" u="none">
              <a:solidFill>
                <a:srgbClr val="ffffff"/>
              </a:solidFill>
              <a:uFillTx/>
              <a:latin typeface="Arial"/>
            </a:endParaRPr>
          </a:p>
        </p:txBody>
      </p:sp>
      <p:sp>
        <p:nvSpPr>
          <p:cNvPr id="172" name="Shape 19"/>
          <p:cNvSpPr/>
          <p:nvPr/>
        </p:nvSpPr>
        <p:spPr>
          <a:xfrm>
            <a:off x="457200" y="2926080"/>
            <a:ext cx="8229240" cy="319680"/>
          </a:xfrm>
          <a:prstGeom prst="rect">
            <a:avLst/>
          </a:prstGeom>
          <a:solidFill>
            <a:srgbClr val="13243a"/>
          </a:solidFill>
          <a:ln w="12700">
            <a:solidFill>
              <a:srgbClr val="1a305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73" name="Text 20"/>
          <p:cNvSpPr/>
          <p:nvPr/>
        </p:nvSpPr>
        <p:spPr>
          <a:xfrm>
            <a:off x="548640" y="292608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d8eef8"/>
                </a:solidFill>
                <a:uFillTx/>
                <a:latin typeface="Calibri"/>
                <a:ea typeface="Calibri"/>
              </a:rPr>
              <a:t>Use nouns, not verbs</a:t>
            </a:r>
            <a:endParaRPr b="0" lang="en-US" sz="1150" strike="noStrike" u="none">
              <a:solidFill>
                <a:srgbClr val="ffffff"/>
              </a:solidFill>
              <a:uFillTx/>
              <a:latin typeface="Arial"/>
            </a:endParaRPr>
          </a:p>
        </p:txBody>
      </p:sp>
      <p:sp>
        <p:nvSpPr>
          <p:cNvPr id="174" name="Text 21"/>
          <p:cNvSpPr/>
          <p:nvPr/>
        </p:nvSpPr>
        <p:spPr>
          <a:xfrm>
            <a:off x="3785760" y="292608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6d6a0"/>
                </a:solidFill>
                <a:uFillTx/>
                <a:latin typeface="Courier New"/>
                <a:ea typeface="Courier New"/>
              </a:rPr>
              <a:t>/users</a:t>
            </a:r>
            <a:endParaRPr b="0" lang="en-US" sz="1100" strike="noStrike" u="none">
              <a:solidFill>
                <a:srgbClr val="ffffff"/>
              </a:solidFill>
              <a:uFillTx/>
              <a:latin typeface="Arial"/>
            </a:endParaRPr>
          </a:p>
        </p:txBody>
      </p:sp>
      <p:sp>
        <p:nvSpPr>
          <p:cNvPr id="175" name="Text 22"/>
          <p:cNvSpPr/>
          <p:nvPr/>
        </p:nvSpPr>
        <p:spPr>
          <a:xfrm>
            <a:off x="6272640" y="292608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ef476f"/>
                </a:solidFill>
                <a:uFillTx/>
                <a:latin typeface="Courier New"/>
                <a:ea typeface="Courier New"/>
              </a:rPr>
              <a:t>/getUsers</a:t>
            </a:r>
            <a:endParaRPr b="0" lang="en-US" sz="1100" strike="noStrike" u="none">
              <a:solidFill>
                <a:srgbClr val="ffffff"/>
              </a:solidFill>
              <a:uFillTx/>
              <a:latin typeface="Arial"/>
            </a:endParaRPr>
          </a:p>
        </p:txBody>
      </p:sp>
      <p:sp>
        <p:nvSpPr>
          <p:cNvPr id="176" name="Shape 23"/>
          <p:cNvSpPr/>
          <p:nvPr/>
        </p:nvSpPr>
        <p:spPr>
          <a:xfrm>
            <a:off x="457200" y="3273480"/>
            <a:ext cx="8229240" cy="319680"/>
          </a:xfrm>
          <a:prstGeom prst="rect">
            <a:avLst/>
          </a:prstGeom>
          <a:solidFill>
            <a:srgbClr val="162840"/>
          </a:solidFill>
          <a:ln w="12700">
            <a:solidFill>
              <a:srgbClr val="1a305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77" name="Text 24"/>
          <p:cNvSpPr/>
          <p:nvPr/>
        </p:nvSpPr>
        <p:spPr>
          <a:xfrm>
            <a:off x="548640" y="327348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d8eef8"/>
                </a:solidFill>
                <a:uFillTx/>
                <a:latin typeface="Calibri"/>
                <a:ea typeface="Calibri"/>
              </a:rPr>
              <a:t>Use plural for collections</a:t>
            </a:r>
            <a:endParaRPr b="0" lang="en-US" sz="1150" strike="noStrike" u="none">
              <a:solidFill>
                <a:srgbClr val="ffffff"/>
              </a:solidFill>
              <a:uFillTx/>
              <a:latin typeface="Arial"/>
            </a:endParaRPr>
          </a:p>
        </p:txBody>
      </p:sp>
      <p:sp>
        <p:nvSpPr>
          <p:cNvPr id="178" name="Text 25"/>
          <p:cNvSpPr/>
          <p:nvPr/>
        </p:nvSpPr>
        <p:spPr>
          <a:xfrm>
            <a:off x="3785760" y="327348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6d6a0"/>
                </a:solidFill>
                <a:uFillTx/>
                <a:latin typeface="Courier New"/>
                <a:ea typeface="Courier New"/>
              </a:rPr>
              <a:t>/orders</a:t>
            </a:r>
            <a:endParaRPr b="0" lang="en-US" sz="1100" strike="noStrike" u="none">
              <a:solidFill>
                <a:srgbClr val="ffffff"/>
              </a:solidFill>
              <a:uFillTx/>
              <a:latin typeface="Arial"/>
            </a:endParaRPr>
          </a:p>
        </p:txBody>
      </p:sp>
      <p:sp>
        <p:nvSpPr>
          <p:cNvPr id="179" name="Text 26"/>
          <p:cNvSpPr/>
          <p:nvPr/>
        </p:nvSpPr>
        <p:spPr>
          <a:xfrm>
            <a:off x="6272640" y="327348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ef476f"/>
                </a:solidFill>
                <a:uFillTx/>
                <a:latin typeface="Courier New"/>
                <a:ea typeface="Courier New"/>
              </a:rPr>
              <a:t>/order</a:t>
            </a:r>
            <a:endParaRPr b="0" lang="en-US" sz="1100" strike="noStrike" u="none">
              <a:solidFill>
                <a:srgbClr val="ffffff"/>
              </a:solidFill>
              <a:uFillTx/>
              <a:latin typeface="Arial"/>
            </a:endParaRPr>
          </a:p>
        </p:txBody>
      </p:sp>
      <p:sp>
        <p:nvSpPr>
          <p:cNvPr id="180" name="Shape 27"/>
          <p:cNvSpPr/>
          <p:nvPr/>
        </p:nvSpPr>
        <p:spPr>
          <a:xfrm>
            <a:off x="457200" y="3620880"/>
            <a:ext cx="8229240" cy="319680"/>
          </a:xfrm>
          <a:prstGeom prst="rect">
            <a:avLst/>
          </a:prstGeom>
          <a:solidFill>
            <a:srgbClr val="13243a"/>
          </a:solidFill>
          <a:ln w="12700">
            <a:solidFill>
              <a:srgbClr val="1a305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81" name="Text 28"/>
          <p:cNvSpPr/>
          <p:nvPr/>
        </p:nvSpPr>
        <p:spPr>
          <a:xfrm>
            <a:off x="548640" y="362088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d8eef8"/>
                </a:solidFill>
                <a:uFillTx/>
                <a:latin typeface="Calibri"/>
                <a:ea typeface="Calibri"/>
              </a:rPr>
              <a:t>Lowercase only</a:t>
            </a:r>
            <a:endParaRPr b="0" lang="en-US" sz="1150" strike="noStrike" u="none">
              <a:solidFill>
                <a:srgbClr val="ffffff"/>
              </a:solidFill>
              <a:uFillTx/>
              <a:latin typeface="Arial"/>
            </a:endParaRPr>
          </a:p>
        </p:txBody>
      </p:sp>
      <p:sp>
        <p:nvSpPr>
          <p:cNvPr id="182" name="Text 29"/>
          <p:cNvSpPr/>
          <p:nvPr/>
        </p:nvSpPr>
        <p:spPr>
          <a:xfrm>
            <a:off x="3785760" y="362088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6d6a0"/>
                </a:solidFill>
                <a:uFillTx/>
                <a:latin typeface="Courier New"/>
                <a:ea typeface="Courier New"/>
              </a:rPr>
              <a:t>/products</a:t>
            </a:r>
            <a:endParaRPr b="0" lang="en-US" sz="1100" strike="noStrike" u="none">
              <a:solidFill>
                <a:srgbClr val="ffffff"/>
              </a:solidFill>
              <a:uFillTx/>
              <a:latin typeface="Arial"/>
            </a:endParaRPr>
          </a:p>
        </p:txBody>
      </p:sp>
      <p:sp>
        <p:nvSpPr>
          <p:cNvPr id="183" name="Text 30"/>
          <p:cNvSpPr/>
          <p:nvPr/>
        </p:nvSpPr>
        <p:spPr>
          <a:xfrm>
            <a:off x="6272640" y="362088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ef476f"/>
                </a:solidFill>
                <a:uFillTx/>
                <a:latin typeface="Courier New"/>
                <a:ea typeface="Courier New"/>
              </a:rPr>
              <a:t>/Products</a:t>
            </a:r>
            <a:endParaRPr b="0" lang="en-US" sz="1100" strike="noStrike" u="none">
              <a:solidFill>
                <a:srgbClr val="ffffff"/>
              </a:solidFill>
              <a:uFillTx/>
              <a:latin typeface="Arial"/>
            </a:endParaRPr>
          </a:p>
        </p:txBody>
      </p:sp>
      <p:sp>
        <p:nvSpPr>
          <p:cNvPr id="184" name="Shape 31"/>
          <p:cNvSpPr/>
          <p:nvPr/>
        </p:nvSpPr>
        <p:spPr>
          <a:xfrm>
            <a:off x="457200" y="3968640"/>
            <a:ext cx="8229240" cy="319680"/>
          </a:xfrm>
          <a:prstGeom prst="rect">
            <a:avLst/>
          </a:prstGeom>
          <a:solidFill>
            <a:srgbClr val="162840"/>
          </a:solidFill>
          <a:ln w="12700">
            <a:solidFill>
              <a:srgbClr val="1a305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85" name="Text 32"/>
          <p:cNvSpPr/>
          <p:nvPr/>
        </p:nvSpPr>
        <p:spPr>
          <a:xfrm>
            <a:off x="548640" y="396864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d8eef8"/>
                </a:solidFill>
                <a:uFillTx/>
                <a:latin typeface="Calibri"/>
                <a:ea typeface="Calibri"/>
              </a:rPr>
              <a:t>Hyphens, not underscores</a:t>
            </a:r>
            <a:endParaRPr b="0" lang="en-US" sz="1150" strike="noStrike" u="none">
              <a:solidFill>
                <a:srgbClr val="ffffff"/>
              </a:solidFill>
              <a:uFillTx/>
              <a:latin typeface="Arial"/>
            </a:endParaRPr>
          </a:p>
        </p:txBody>
      </p:sp>
      <p:sp>
        <p:nvSpPr>
          <p:cNvPr id="186" name="Text 33"/>
          <p:cNvSpPr/>
          <p:nvPr/>
        </p:nvSpPr>
        <p:spPr>
          <a:xfrm>
            <a:off x="3785760" y="396864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6d6a0"/>
                </a:solidFill>
                <a:uFillTx/>
                <a:latin typeface="Courier New"/>
                <a:ea typeface="Courier New"/>
              </a:rPr>
              <a:t>/user-profiles</a:t>
            </a:r>
            <a:endParaRPr b="0" lang="en-US" sz="1100" strike="noStrike" u="none">
              <a:solidFill>
                <a:srgbClr val="ffffff"/>
              </a:solidFill>
              <a:uFillTx/>
              <a:latin typeface="Arial"/>
            </a:endParaRPr>
          </a:p>
        </p:txBody>
      </p:sp>
      <p:sp>
        <p:nvSpPr>
          <p:cNvPr id="187" name="Text 34"/>
          <p:cNvSpPr/>
          <p:nvPr/>
        </p:nvSpPr>
        <p:spPr>
          <a:xfrm>
            <a:off x="6272640" y="396864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ef476f"/>
                </a:solidFill>
                <a:uFillTx/>
                <a:latin typeface="Courier New"/>
                <a:ea typeface="Courier New"/>
              </a:rPr>
              <a:t>/user_profiles</a:t>
            </a:r>
            <a:endParaRPr b="0" lang="en-US" sz="1100" strike="noStrike" u="none">
              <a:solidFill>
                <a:srgbClr val="ffffff"/>
              </a:solidFill>
              <a:uFillTx/>
              <a:latin typeface="Arial"/>
            </a:endParaRPr>
          </a:p>
        </p:txBody>
      </p:sp>
      <p:sp>
        <p:nvSpPr>
          <p:cNvPr id="188" name="Shape 35"/>
          <p:cNvSpPr/>
          <p:nvPr/>
        </p:nvSpPr>
        <p:spPr>
          <a:xfrm>
            <a:off x="457200" y="4316040"/>
            <a:ext cx="8229240" cy="319680"/>
          </a:xfrm>
          <a:prstGeom prst="rect">
            <a:avLst/>
          </a:prstGeom>
          <a:solidFill>
            <a:srgbClr val="13243a"/>
          </a:solidFill>
          <a:ln w="12700">
            <a:solidFill>
              <a:srgbClr val="1a305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89" name="Text 36"/>
          <p:cNvSpPr/>
          <p:nvPr/>
        </p:nvSpPr>
        <p:spPr>
          <a:xfrm>
            <a:off x="548640" y="431604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d8eef8"/>
                </a:solidFill>
                <a:uFillTx/>
                <a:latin typeface="Calibri"/>
                <a:ea typeface="Calibri"/>
              </a:rPr>
              <a:t>No verbs in URI</a:t>
            </a:r>
            <a:endParaRPr b="0" lang="en-US" sz="1150" strike="noStrike" u="none">
              <a:solidFill>
                <a:srgbClr val="ffffff"/>
              </a:solidFill>
              <a:uFillTx/>
              <a:latin typeface="Arial"/>
            </a:endParaRPr>
          </a:p>
        </p:txBody>
      </p:sp>
      <p:sp>
        <p:nvSpPr>
          <p:cNvPr id="190" name="Text 37"/>
          <p:cNvSpPr/>
          <p:nvPr/>
        </p:nvSpPr>
        <p:spPr>
          <a:xfrm>
            <a:off x="3785760" y="431604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6d6a0"/>
                </a:solidFill>
                <a:uFillTx/>
                <a:latin typeface="Courier New"/>
                <a:ea typeface="Courier New"/>
              </a:rPr>
              <a:t>DELETE /orders/99</a:t>
            </a:r>
            <a:endParaRPr b="0" lang="en-US" sz="1100" strike="noStrike" u="none">
              <a:solidFill>
                <a:srgbClr val="ffffff"/>
              </a:solidFill>
              <a:uFillTx/>
              <a:latin typeface="Arial"/>
            </a:endParaRPr>
          </a:p>
        </p:txBody>
      </p:sp>
      <p:sp>
        <p:nvSpPr>
          <p:cNvPr id="191" name="Text 38"/>
          <p:cNvSpPr/>
          <p:nvPr/>
        </p:nvSpPr>
        <p:spPr>
          <a:xfrm>
            <a:off x="6272640" y="431604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ef476f"/>
                </a:solidFill>
                <a:uFillTx/>
                <a:latin typeface="Courier New"/>
                <a:ea typeface="Courier New"/>
              </a:rPr>
              <a:t>/deleteOrder/99</a:t>
            </a:r>
            <a:endParaRPr b="0" lang="en-US" sz="1100" strike="noStrike" u="none">
              <a:solidFill>
                <a:srgbClr val="ffffff"/>
              </a:solidFill>
              <a:uFillTx/>
              <a:latin typeface="Arial"/>
            </a:endParaRPr>
          </a:p>
        </p:txBody>
      </p:sp>
      <p:sp>
        <p:nvSpPr>
          <p:cNvPr id="192" name="Shape 39"/>
          <p:cNvSpPr/>
          <p:nvPr/>
        </p:nvSpPr>
        <p:spPr>
          <a:xfrm>
            <a:off x="457200" y="4663440"/>
            <a:ext cx="8229240" cy="319680"/>
          </a:xfrm>
          <a:prstGeom prst="rect">
            <a:avLst/>
          </a:prstGeom>
          <a:solidFill>
            <a:srgbClr val="162840"/>
          </a:solidFill>
          <a:ln w="12700">
            <a:solidFill>
              <a:srgbClr val="1a305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193" name="Text 40"/>
          <p:cNvSpPr/>
          <p:nvPr/>
        </p:nvSpPr>
        <p:spPr>
          <a:xfrm>
            <a:off x="548640" y="466344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d8eef8"/>
                </a:solidFill>
                <a:uFillTx/>
                <a:latin typeface="Calibri"/>
                <a:ea typeface="Calibri"/>
              </a:rPr>
              <a:t>Use query for filtering</a:t>
            </a:r>
            <a:endParaRPr b="0" lang="en-US" sz="1150" strike="noStrike" u="none">
              <a:solidFill>
                <a:srgbClr val="ffffff"/>
              </a:solidFill>
              <a:uFillTx/>
              <a:latin typeface="Arial"/>
            </a:endParaRPr>
          </a:p>
        </p:txBody>
      </p:sp>
      <p:sp>
        <p:nvSpPr>
          <p:cNvPr id="194" name="Text 41"/>
          <p:cNvSpPr/>
          <p:nvPr/>
        </p:nvSpPr>
        <p:spPr>
          <a:xfrm>
            <a:off x="3785760" y="466344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6d6a0"/>
                </a:solidFill>
                <a:uFillTx/>
                <a:latin typeface="Courier New"/>
                <a:ea typeface="Courier New"/>
              </a:rPr>
              <a:t>/products?cat=tech</a:t>
            </a:r>
            <a:endParaRPr b="0" lang="en-US" sz="1100" strike="noStrike" u="none">
              <a:solidFill>
                <a:srgbClr val="ffffff"/>
              </a:solidFill>
              <a:uFillTx/>
              <a:latin typeface="Arial"/>
            </a:endParaRPr>
          </a:p>
        </p:txBody>
      </p:sp>
      <p:sp>
        <p:nvSpPr>
          <p:cNvPr id="195" name="Text 42"/>
          <p:cNvSpPr/>
          <p:nvPr/>
        </p:nvSpPr>
        <p:spPr>
          <a:xfrm>
            <a:off x="6272640" y="4663440"/>
            <a:ext cx="23770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ef476f"/>
                </a:solidFill>
                <a:uFillTx/>
                <a:latin typeface="Courier New"/>
                <a:ea typeface="Courier New"/>
              </a:rPr>
              <a:t>/getProductByCategory</a:t>
            </a:r>
            <a:endParaRPr b="0" lang="en-US" sz="11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196"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HTTP Methods (CRUD)</a:t>
            </a:r>
            <a:endParaRPr b="0" lang="en-US" sz="3400" strike="noStrike" u="none">
              <a:solidFill>
                <a:srgbClr val="ffffff"/>
              </a:solidFill>
              <a:uFillTx/>
              <a:latin typeface="Arial"/>
            </a:endParaRPr>
          </a:p>
        </p:txBody>
      </p:sp>
      <p:sp>
        <p:nvSpPr>
          <p:cNvPr id="197"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Defining actions on resources</a:t>
            </a:r>
            <a:endParaRPr b="0" lang="en-US" sz="1300" strike="noStrike" u="none">
              <a:solidFill>
                <a:srgbClr val="ffffff"/>
              </a:solidFill>
              <a:uFillTx/>
              <a:latin typeface="Arial"/>
            </a:endParaRPr>
          </a:p>
        </p:txBody>
      </p:sp>
      <p:sp>
        <p:nvSpPr>
          <p:cNvPr id="198"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199" name="Shape 3"/>
          <p:cNvSpPr/>
          <p:nvPr/>
        </p:nvSpPr>
        <p:spPr>
          <a:xfrm>
            <a:off x="384120" y="1115640"/>
            <a:ext cx="1234080" cy="639720"/>
          </a:xfrm>
          <a:prstGeom prst="roundRect">
            <a:avLst>
              <a:gd name="adj" fmla="val 11429"/>
            </a:avLst>
          </a:prstGeom>
          <a:solidFill>
            <a:srgbClr val="0077b6"/>
          </a:solidFill>
          <a:ln w="12700">
            <a:solidFill>
              <a:srgbClr val="0077b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00" name="Text 4"/>
          <p:cNvSpPr/>
          <p:nvPr/>
        </p:nvSpPr>
        <p:spPr>
          <a:xfrm>
            <a:off x="384120" y="1115640"/>
            <a:ext cx="12340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trike="noStrike" u="none">
                <a:solidFill>
                  <a:srgbClr val="ffffff"/>
                </a:solidFill>
                <a:uFillTx/>
                <a:latin typeface="Calibri"/>
                <a:ea typeface="Calibri"/>
              </a:rPr>
              <a:t>GET</a:t>
            </a:r>
            <a:endParaRPr b="0" lang="en-US" sz="1600" strike="noStrike" u="none">
              <a:solidFill>
                <a:srgbClr val="ffffff"/>
              </a:solidFill>
              <a:uFillTx/>
              <a:latin typeface="Arial"/>
            </a:endParaRPr>
          </a:p>
        </p:txBody>
      </p:sp>
      <p:sp>
        <p:nvSpPr>
          <p:cNvPr id="201" name="Shape 5"/>
          <p:cNvSpPr/>
          <p:nvPr/>
        </p:nvSpPr>
        <p:spPr>
          <a:xfrm>
            <a:off x="1737360" y="1115640"/>
            <a:ext cx="1416960" cy="639720"/>
          </a:xfrm>
          <a:prstGeom prst="roundRect">
            <a:avLst>
              <a:gd name="adj" fmla="val 11429"/>
            </a:avLst>
          </a:prstGeom>
          <a:solidFill>
            <a:srgbClr val="0077b6">
              <a:alpha val="25000"/>
            </a:srgbClr>
          </a:solidFill>
          <a:ln w="12700">
            <a:solidFill>
              <a:srgbClr val="0077b6">
                <a:alpha val="6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02" name="Text 6"/>
          <p:cNvSpPr/>
          <p:nvPr/>
        </p:nvSpPr>
        <p:spPr>
          <a:xfrm>
            <a:off x="1737360" y="1115640"/>
            <a:ext cx="1416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Read</a:t>
            </a:r>
            <a:endParaRPr b="0" lang="en-US" sz="1100" strike="noStrike" u="none">
              <a:solidFill>
                <a:srgbClr val="ffffff"/>
              </a:solidFill>
              <a:uFillTx/>
              <a:latin typeface="Arial"/>
            </a:endParaRPr>
          </a:p>
        </p:txBody>
      </p:sp>
      <p:sp>
        <p:nvSpPr>
          <p:cNvPr id="203" name="Text 7"/>
          <p:cNvSpPr/>
          <p:nvPr/>
        </p:nvSpPr>
        <p:spPr>
          <a:xfrm>
            <a:off x="3273480" y="1115640"/>
            <a:ext cx="301716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Retrieve one or many resources. Should have NO side effects — safe to call repeatedly. Responses may be cached.</a:t>
            </a:r>
            <a:endParaRPr b="0" lang="en-US" sz="1050" strike="noStrike" u="none">
              <a:solidFill>
                <a:srgbClr val="ffffff"/>
              </a:solidFill>
              <a:uFillTx/>
              <a:latin typeface="Arial"/>
            </a:endParaRPr>
          </a:p>
        </p:txBody>
      </p:sp>
      <p:sp>
        <p:nvSpPr>
          <p:cNvPr id="204" name="Shape 8"/>
          <p:cNvSpPr/>
          <p:nvPr/>
        </p:nvSpPr>
        <p:spPr>
          <a:xfrm>
            <a:off x="6400800" y="1152000"/>
            <a:ext cx="2304000" cy="566640"/>
          </a:xfrm>
          <a:prstGeom prst="roundRect">
            <a:avLst>
              <a:gd name="adj" fmla="val 9677"/>
            </a:avLst>
          </a:prstGeom>
          <a:solidFill>
            <a:srgbClr val="0f1e30"/>
          </a:solidFill>
          <a:ln w="12700">
            <a:solidFill>
              <a:srgbClr val="0077b6">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05" name="Text 9"/>
          <p:cNvSpPr/>
          <p:nvPr/>
        </p:nvSpPr>
        <p:spPr>
          <a:xfrm>
            <a:off x="6446520" y="1152000"/>
            <a:ext cx="223992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0077b6"/>
                </a:solidFill>
                <a:uFillTx/>
                <a:latin typeface="Courier New"/>
                <a:ea typeface="Courier New"/>
              </a:rPr>
              <a:t>GET /users          → list all</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0077b6"/>
                </a:solidFill>
                <a:uFillTx/>
                <a:latin typeface="Courier New"/>
                <a:ea typeface="Courier New"/>
              </a:rPr>
              <a:t>GET /users/5        → single user</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0077b6"/>
                </a:solidFill>
                <a:uFillTx/>
                <a:latin typeface="Courier New"/>
                <a:ea typeface="Courier New"/>
              </a:rPr>
              <a:t>GET /users/5/posts  → nested</a:t>
            </a:r>
            <a:endParaRPr b="0" lang="en-US" sz="950" strike="noStrike" u="none">
              <a:solidFill>
                <a:srgbClr val="ffffff"/>
              </a:solidFill>
              <a:uFillTx/>
              <a:latin typeface="Arial"/>
            </a:endParaRPr>
          </a:p>
        </p:txBody>
      </p:sp>
      <p:sp>
        <p:nvSpPr>
          <p:cNvPr id="206" name="Shape 10"/>
          <p:cNvSpPr/>
          <p:nvPr/>
        </p:nvSpPr>
        <p:spPr>
          <a:xfrm>
            <a:off x="384120" y="1874520"/>
            <a:ext cx="1234080" cy="639720"/>
          </a:xfrm>
          <a:prstGeom prst="roundRect">
            <a:avLst>
              <a:gd name="adj" fmla="val 11429"/>
            </a:avLst>
          </a:prstGeom>
          <a:solidFill>
            <a:srgbClr val="06d6a0"/>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07" name="Text 11"/>
          <p:cNvSpPr/>
          <p:nvPr/>
        </p:nvSpPr>
        <p:spPr>
          <a:xfrm>
            <a:off x="384120" y="1874520"/>
            <a:ext cx="12340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trike="noStrike" u="none">
                <a:solidFill>
                  <a:srgbClr val="ffffff"/>
                </a:solidFill>
                <a:uFillTx/>
                <a:latin typeface="Calibri"/>
                <a:ea typeface="Calibri"/>
              </a:rPr>
              <a:t>POST</a:t>
            </a:r>
            <a:endParaRPr b="0" lang="en-US" sz="1600" strike="noStrike" u="none">
              <a:solidFill>
                <a:srgbClr val="ffffff"/>
              </a:solidFill>
              <a:uFillTx/>
              <a:latin typeface="Arial"/>
            </a:endParaRPr>
          </a:p>
        </p:txBody>
      </p:sp>
      <p:sp>
        <p:nvSpPr>
          <p:cNvPr id="208" name="Shape 12"/>
          <p:cNvSpPr/>
          <p:nvPr/>
        </p:nvSpPr>
        <p:spPr>
          <a:xfrm>
            <a:off x="1737360" y="1874520"/>
            <a:ext cx="1416960" cy="639720"/>
          </a:xfrm>
          <a:prstGeom prst="roundRect">
            <a:avLst>
              <a:gd name="adj" fmla="val 11429"/>
            </a:avLst>
          </a:prstGeom>
          <a:solidFill>
            <a:srgbClr val="06d6a0">
              <a:alpha val="25000"/>
            </a:srgbClr>
          </a:solidFill>
          <a:ln w="12700">
            <a:solidFill>
              <a:srgbClr val="06d6a0">
                <a:alpha val="6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09" name="Text 13"/>
          <p:cNvSpPr/>
          <p:nvPr/>
        </p:nvSpPr>
        <p:spPr>
          <a:xfrm>
            <a:off x="1737360" y="1874520"/>
            <a:ext cx="1416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Create</a:t>
            </a:r>
            <a:endParaRPr b="0" lang="en-US" sz="1100" strike="noStrike" u="none">
              <a:solidFill>
                <a:srgbClr val="ffffff"/>
              </a:solidFill>
              <a:uFillTx/>
              <a:latin typeface="Arial"/>
            </a:endParaRPr>
          </a:p>
        </p:txBody>
      </p:sp>
      <p:sp>
        <p:nvSpPr>
          <p:cNvPr id="210" name="Text 14"/>
          <p:cNvSpPr/>
          <p:nvPr/>
        </p:nvSpPr>
        <p:spPr>
          <a:xfrm>
            <a:off x="3273480" y="1874520"/>
            <a:ext cx="301716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Create a new resource. Request body contains the new resource data. Returns 201 Created with the new resource.</a:t>
            </a:r>
            <a:endParaRPr b="0" lang="en-US" sz="1050" strike="noStrike" u="none">
              <a:solidFill>
                <a:srgbClr val="ffffff"/>
              </a:solidFill>
              <a:uFillTx/>
              <a:latin typeface="Arial"/>
            </a:endParaRPr>
          </a:p>
        </p:txBody>
      </p:sp>
      <p:sp>
        <p:nvSpPr>
          <p:cNvPr id="211" name="Shape 15"/>
          <p:cNvSpPr/>
          <p:nvPr/>
        </p:nvSpPr>
        <p:spPr>
          <a:xfrm>
            <a:off x="6400800" y="1911240"/>
            <a:ext cx="2304000" cy="566640"/>
          </a:xfrm>
          <a:prstGeom prst="roundRect">
            <a:avLst>
              <a:gd name="adj" fmla="val 9677"/>
            </a:avLst>
          </a:prstGeom>
          <a:solidFill>
            <a:srgbClr val="0f1e30"/>
          </a:solidFill>
          <a:ln w="12700">
            <a:solidFill>
              <a:srgbClr val="06d6a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12" name="Text 16"/>
          <p:cNvSpPr/>
          <p:nvPr/>
        </p:nvSpPr>
        <p:spPr>
          <a:xfrm>
            <a:off x="6446520" y="1911240"/>
            <a:ext cx="223992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06d6a0"/>
                </a:solidFill>
                <a:uFillTx/>
                <a:latin typeface="Courier New"/>
                <a:ea typeface="Courier New"/>
              </a:rPr>
              <a:t>POST /users</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06d6a0"/>
                </a:solidFill>
                <a:uFillTx/>
                <a:latin typeface="Courier New"/>
                <a:ea typeface="Courier New"/>
              </a:rPr>
              <a:t>Body: {"name":"Alice",</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06d6a0"/>
                </a:solidFill>
                <a:uFillTx/>
                <a:latin typeface="Courier New"/>
                <a:ea typeface="Courier New"/>
              </a:rPr>
              <a:t>       </a:t>
            </a:r>
            <a:r>
              <a:rPr b="0" lang="en-US" sz="950" strike="noStrike" u="none">
                <a:solidFill>
                  <a:srgbClr val="06d6a0"/>
                </a:solidFill>
                <a:uFillTx/>
                <a:latin typeface="Courier New"/>
                <a:ea typeface="Courier New"/>
              </a:rPr>
              <a:t>"role":"admin"}</a:t>
            </a:r>
            <a:endParaRPr b="0" lang="en-US" sz="950" strike="noStrike" u="none">
              <a:solidFill>
                <a:srgbClr val="ffffff"/>
              </a:solidFill>
              <a:uFillTx/>
              <a:latin typeface="Arial"/>
            </a:endParaRPr>
          </a:p>
        </p:txBody>
      </p:sp>
      <p:sp>
        <p:nvSpPr>
          <p:cNvPr id="213" name="Shape 17"/>
          <p:cNvSpPr/>
          <p:nvPr/>
        </p:nvSpPr>
        <p:spPr>
          <a:xfrm>
            <a:off x="384120" y="2633400"/>
            <a:ext cx="1234080" cy="639720"/>
          </a:xfrm>
          <a:prstGeom prst="roundRect">
            <a:avLst>
              <a:gd name="adj" fmla="val 11429"/>
            </a:avLst>
          </a:prstGeom>
          <a:solidFill>
            <a:srgbClr val="ffd166"/>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214" name="Text 18"/>
          <p:cNvSpPr/>
          <p:nvPr/>
        </p:nvSpPr>
        <p:spPr>
          <a:xfrm>
            <a:off x="384120" y="2633400"/>
            <a:ext cx="12340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trike="noStrike" u="none">
                <a:solidFill>
                  <a:srgbClr val="ffffff"/>
                </a:solidFill>
                <a:uFillTx/>
                <a:latin typeface="Calibri"/>
                <a:ea typeface="Calibri"/>
              </a:rPr>
              <a:t>PUT</a:t>
            </a:r>
            <a:endParaRPr b="0" lang="en-US" sz="1600" strike="noStrike" u="none">
              <a:solidFill>
                <a:srgbClr val="ffffff"/>
              </a:solidFill>
              <a:uFillTx/>
              <a:latin typeface="Arial"/>
            </a:endParaRPr>
          </a:p>
        </p:txBody>
      </p:sp>
      <p:sp>
        <p:nvSpPr>
          <p:cNvPr id="215" name="Shape 19"/>
          <p:cNvSpPr/>
          <p:nvPr/>
        </p:nvSpPr>
        <p:spPr>
          <a:xfrm>
            <a:off x="1737360" y="2633400"/>
            <a:ext cx="1416960" cy="639720"/>
          </a:xfrm>
          <a:prstGeom prst="roundRect">
            <a:avLst>
              <a:gd name="adj" fmla="val 11429"/>
            </a:avLst>
          </a:prstGeom>
          <a:solidFill>
            <a:srgbClr val="ffd166">
              <a:alpha val="25000"/>
            </a:srgbClr>
          </a:solidFill>
          <a:ln w="12700">
            <a:solidFill>
              <a:srgbClr val="ffd166">
                <a:alpha val="6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216" name="Text 20"/>
          <p:cNvSpPr/>
          <p:nvPr/>
        </p:nvSpPr>
        <p:spPr>
          <a:xfrm>
            <a:off x="1737360" y="2633400"/>
            <a:ext cx="1416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Update (Full)</a:t>
            </a:r>
            <a:endParaRPr b="0" lang="en-US" sz="1100" strike="noStrike" u="none">
              <a:solidFill>
                <a:srgbClr val="ffffff"/>
              </a:solidFill>
              <a:uFillTx/>
              <a:latin typeface="Arial"/>
            </a:endParaRPr>
          </a:p>
        </p:txBody>
      </p:sp>
      <p:sp>
        <p:nvSpPr>
          <p:cNvPr id="217" name="Text 21"/>
          <p:cNvSpPr/>
          <p:nvPr/>
        </p:nvSpPr>
        <p:spPr>
          <a:xfrm>
            <a:off x="3273480" y="2633400"/>
            <a:ext cx="301716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Full replacement of a resource. You MUST send ALL fields. Missing fields may be set to null/default.</a:t>
            </a:r>
            <a:endParaRPr b="0" lang="en-US" sz="1050" strike="noStrike" u="none">
              <a:solidFill>
                <a:srgbClr val="ffffff"/>
              </a:solidFill>
              <a:uFillTx/>
              <a:latin typeface="Arial"/>
            </a:endParaRPr>
          </a:p>
        </p:txBody>
      </p:sp>
      <p:sp>
        <p:nvSpPr>
          <p:cNvPr id="218" name="Shape 22"/>
          <p:cNvSpPr/>
          <p:nvPr/>
        </p:nvSpPr>
        <p:spPr>
          <a:xfrm>
            <a:off x="6400800" y="2670120"/>
            <a:ext cx="2304000" cy="566640"/>
          </a:xfrm>
          <a:prstGeom prst="roundRect">
            <a:avLst>
              <a:gd name="adj" fmla="val 9677"/>
            </a:avLst>
          </a:prstGeom>
          <a:solidFill>
            <a:srgbClr val="0f1e30"/>
          </a:solidFill>
          <a:ln w="12700">
            <a:solidFill>
              <a:srgbClr val="ffd166">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19" name="Text 23"/>
          <p:cNvSpPr/>
          <p:nvPr/>
        </p:nvSpPr>
        <p:spPr>
          <a:xfrm>
            <a:off x="6446520" y="2670120"/>
            <a:ext cx="223992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ffd166"/>
                </a:solidFill>
                <a:uFillTx/>
                <a:latin typeface="Courier New"/>
                <a:ea typeface="Courier New"/>
              </a:rPr>
              <a:t>PUT /users/5</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ffd166"/>
                </a:solidFill>
                <a:uFillTx/>
                <a:latin typeface="Courier New"/>
                <a:ea typeface="Courier New"/>
              </a:rPr>
              <a:t>Body: {"name":"Alice",</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ffd166"/>
                </a:solidFill>
                <a:uFillTx/>
                <a:latin typeface="Courier New"/>
                <a:ea typeface="Courier New"/>
              </a:rPr>
              <a:t>       </a:t>
            </a:r>
            <a:r>
              <a:rPr b="0" lang="en-US" sz="950" strike="noStrike" u="none">
                <a:solidFill>
                  <a:srgbClr val="ffd166"/>
                </a:solidFill>
                <a:uFillTx/>
                <a:latin typeface="Courier New"/>
                <a:ea typeface="Courier New"/>
              </a:rPr>
              <a:t>"role":"admin",</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ffd166"/>
                </a:solidFill>
                <a:uFillTx/>
                <a:latin typeface="Courier New"/>
                <a:ea typeface="Courier New"/>
              </a:rPr>
              <a:t>       </a:t>
            </a:r>
            <a:r>
              <a:rPr b="0" lang="en-US" sz="950" strike="noStrike" u="none">
                <a:solidFill>
                  <a:srgbClr val="ffd166"/>
                </a:solidFill>
                <a:uFillTx/>
                <a:latin typeface="Courier New"/>
                <a:ea typeface="Courier New"/>
              </a:rPr>
              <a:t>"active":true}</a:t>
            </a:r>
            <a:endParaRPr b="0" lang="en-US" sz="950" strike="noStrike" u="none">
              <a:solidFill>
                <a:srgbClr val="ffffff"/>
              </a:solidFill>
              <a:uFillTx/>
              <a:latin typeface="Arial"/>
            </a:endParaRPr>
          </a:p>
        </p:txBody>
      </p:sp>
      <p:sp>
        <p:nvSpPr>
          <p:cNvPr id="220" name="Shape 24"/>
          <p:cNvSpPr/>
          <p:nvPr/>
        </p:nvSpPr>
        <p:spPr>
          <a:xfrm>
            <a:off x="384120" y="3392280"/>
            <a:ext cx="1234080" cy="639720"/>
          </a:xfrm>
          <a:prstGeom prst="roundRect">
            <a:avLst>
              <a:gd name="adj" fmla="val 11429"/>
            </a:avLst>
          </a:prstGeom>
          <a:solidFill>
            <a:srgbClr val="ff9f1c"/>
          </a:solidFill>
          <a:ln w="12700">
            <a:solidFill>
              <a:srgbClr val="ff9f1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221" name="Text 25"/>
          <p:cNvSpPr/>
          <p:nvPr/>
        </p:nvSpPr>
        <p:spPr>
          <a:xfrm>
            <a:off x="384120" y="3392280"/>
            <a:ext cx="12340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trike="noStrike" u="none">
                <a:solidFill>
                  <a:srgbClr val="ffffff"/>
                </a:solidFill>
                <a:uFillTx/>
                <a:latin typeface="Calibri"/>
                <a:ea typeface="Calibri"/>
              </a:rPr>
              <a:t>PATCH</a:t>
            </a:r>
            <a:endParaRPr b="0" lang="en-US" sz="1600" strike="noStrike" u="none">
              <a:solidFill>
                <a:srgbClr val="ffffff"/>
              </a:solidFill>
              <a:uFillTx/>
              <a:latin typeface="Arial"/>
            </a:endParaRPr>
          </a:p>
        </p:txBody>
      </p:sp>
      <p:sp>
        <p:nvSpPr>
          <p:cNvPr id="222" name="Shape 26"/>
          <p:cNvSpPr/>
          <p:nvPr/>
        </p:nvSpPr>
        <p:spPr>
          <a:xfrm>
            <a:off x="1737360" y="3392280"/>
            <a:ext cx="1416960" cy="639720"/>
          </a:xfrm>
          <a:prstGeom prst="roundRect">
            <a:avLst>
              <a:gd name="adj" fmla="val 11429"/>
            </a:avLst>
          </a:prstGeom>
          <a:solidFill>
            <a:srgbClr val="ff9f1c">
              <a:alpha val="25000"/>
            </a:srgbClr>
          </a:solidFill>
          <a:ln w="12700">
            <a:solidFill>
              <a:srgbClr val="ff9f1c">
                <a:alpha val="6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223" name="Text 27"/>
          <p:cNvSpPr/>
          <p:nvPr/>
        </p:nvSpPr>
        <p:spPr>
          <a:xfrm>
            <a:off x="1737360" y="3392280"/>
            <a:ext cx="1416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Update (Partial)</a:t>
            </a:r>
            <a:endParaRPr b="0" lang="en-US" sz="1100" strike="noStrike" u="none">
              <a:solidFill>
                <a:srgbClr val="ffffff"/>
              </a:solidFill>
              <a:uFillTx/>
              <a:latin typeface="Arial"/>
            </a:endParaRPr>
          </a:p>
        </p:txBody>
      </p:sp>
      <p:sp>
        <p:nvSpPr>
          <p:cNvPr id="224" name="Text 28"/>
          <p:cNvSpPr/>
          <p:nvPr/>
        </p:nvSpPr>
        <p:spPr>
          <a:xfrm>
            <a:off x="3273480" y="3392280"/>
            <a:ext cx="301716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Partial update — send ONLY the fields you want to change. More efficient than PUT for small changes.</a:t>
            </a:r>
            <a:endParaRPr b="0" lang="en-US" sz="1050" strike="noStrike" u="none">
              <a:solidFill>
                <a:srgbClr val="ffffff"/>
              </a:solidFill>
              <a:uFillTx/>
              <a:latin typeface="Arial"/>
            </a:endParaRPr>
          </a:p>
        </p:txBody>
      </p:sp>
      <p:sp>
        <p:nvSpPr>
          <p:cNvPr id="225" name="Shape 29"/>
          <p:cNvSpPr/>
          <p:nvPr/>
        </p:nvSpPr>
        <p:spPr>
          <a:xfrm>
            <a:off x="6400800" y="3429000"/>
            <a:ext cx="2304000" cy="566640"/>
          </a:xfrm>
          <a:prstGeom prst="roundRect">
            <a:avLst>
              <a:gd name="adj" fmla="val 9677"/>
            </a:avLst>
          </a:prstGeom>
          <a:solidFill>
            <a:srgbClr val="0f1e30"/>
          </a:solidFill>
          <a:ln w="12700">
            <a:solidFill>
              <a:srgbClr val="ff9f1c">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26" name="Text 30"/>
          <p:cNvSpPr/>
          <p:nvPr/>
        </p:nvSpPr>
        <p:spPr>
          <a:xfrm>
            <a:off x="6446520" y="3429000"/>
            <a:ext cx="223992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ff9f1c"/>
                </a:solidFill>
                <a:uFillTx/>
                <a:latin typeface="Courier New"/>
                <a:ea typeface="Courier New"/>
              </a:rPr>
              <a:t>PATCH /users/5</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ff9f1c"/>
                </a:solidFill>
                <a:uFillTx/>
                <a:latin typeface="Courier New"/>
                <a:ea typeface="Courier New"/>
              </a:rPr>
              <a:t>Body: {"role":"editor"}</a:t>
            </a:r>
            <a:endParaRPr b="0" lang="en-US" sz="950" strike="noStrike" u="none">
              <a:solidFill>
                <a:srgbClr val="ffffff"/>
              </a:solidFill>
              <a:uFillTx/>
              <a:latin typeface="Arial"/>
            </a:endParaRPr>
          </a:p>
        </p:txBody>
      </p:sp>
      <p:sp>
        <p:nvSpPr>
          <p:cNvPr id="227" name="Shape 31"/>
          <p:cNvSpPr/>
          <p:nvPr/>
        </p:nvSpPr>
        <p:spPr>
          <a:xfrm>
            <a:off x="384120" y="4151520"/>
            <a:ext cx="1234080" cy="639720"/>
          </a:xfrm>
          <a:prstGeom prst="roundRect">
            <a:avLst>
              <a:gd name="adj" fmla="val 11429"/>
            </a:avLst>
          </a:prstGeom>
          <a:solidFill>
            <a:srgbClr val="ef476f"/>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28" name="Text 32"/>
          <p:cNvSpPr/>
          <p:nvPr/>
        </p:nvSpPr>
        <p:spPr>
          <a:xfrm>
            <a:off x="384120" y="4151520"/>
            <a:ext cx="12340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trike="noStrike" u="none">
                <a:solidFill>
                  <a:srgbClr val="ffffff"/>
                </a:solidFill>
                <a:uFillTx/>
                <a:latin typeface="Calibri"/>
                <a:ea typeface="Calibri"/>
              </a:rPr>
              <a:t>DELETE</a:t>
            </a:r>
            <a:endParaRPr b="0" lang="en-US" sz="1600" strike="noStrike" u="none">
              <a:solidFill>
                <a:srgbClr val="ffffff"/>
              </a:solidFill>
              <a:uFillTx/>
              <a:latin typeface="Arial"/>
            </a:endParaRPr>
          </a:p>
        </p:txBody>
      </p:sp>
      <p:sp>
        <p:nvSpPr>
          <p:cNvPr id="229" name="Shape 33"/>
          <p:cNvSpPr/>
          <p:nvPr/>
        </p:nvSpPr>
        <p:spPr>
          <a:xfrm>
            <a:off x="1737360" y="4151520"/>
            <a:ext cx="1416960" cy="639720"/>
          </a:xfrm>
          <a:prstGeom prst="roundRect">
            <a:avLst>
              <a:gd name="adj" fmla="val 11429"/>
            </a:avLst>
          </a:prstGeom>
          <a:solidFill>
            <a:srgbClr val="ef476f">
              <a:alpha val="25000"/>
            </a:srgbClr>
          </a:solidFill>
          <a:ln w="12700">
            <a:solidFill>
              <a:srgbClr val="ef476f">
                <a:alpha val="6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30" name="Text 34"/>
          <p:cNvSpPr/>
          <p:nvPr/>
        </p:nvSpPr>
        <p:spPr>
          <a:xfrm>
            <a:off x="1737360" y="4151520"/>
            <a:ext cx="1416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Delete</a:t>
            </a:r>
            <a:endParaRPr b="0" lang="en-US" sz="1100" strike="noStrike" u="none">
              <a:solidFill>
                <a:srgbClr val="ffffff"/>
              </a:solidFill>
              <a:uFillTx/>
              <a:latin typeface="Arial"/>
            </a:endParaRPr>
          </a:p>
        </p:txBody>
      </p:sp>
      <p:sp>
        <p:nvSpPr>
          <p:cNvPr id="231" name="Text 35"/>
          <p:cNvSpPr/>
          <p:nvPr/>
        </p:nvSpPr>
        <p:spPr>
          <a:xfrm>
            <a:off x="3273480" y="4151520"/>
            <a:ext cx="301716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Remove a resource. Usually returns 204 No Content or 200 OK with empty body. Idempotent (deleting twice is fine).</a:t>
            </a:r>
            <a:endParaRPr b="0" lang="en-US" sz="1050" strike="noStrike" u="none">
              <a:solidFill>
                <a:srgbClr val="ffffff"/>
              </a:solidFill>
              <a:uFillTx/>
              <a:latin typeface="Arial"/>
            </a:endParaRPr>
          </a:p>
        </p:txBody>
      </p:sp>
      <p:sp>
        <p:nvSpPr>
          <p:cNvPr id="232" name="Shape 36"/>
          <p:cNvSpPr/>
          <p:nvPr/>
        </p:nvSpPr>
        <p:spPr>
          <a:xfrm>
            <a:off x="6400800" y="4187880"/>
            <a:ext cx="2304000" cy="566640"/>
          </a:xfrm>
          <a:prstGeom prst="roundRect">
            <a:avLst>
              <a:gd name="adj" fmla="val 9677"/>
            </a:avLst>
          </a:prstGeom>
          <a:solidFill>
            <a:srgbClr val="0f1e30"/>
          </a:solidFill>
          <a:ln w="12700">
            <a:solidFill>
              <a:srgbClr val="ef476f">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33" name="Text 37"/>
          <p:cNvSpPr/>
          <p:nvPr/>
        </p:nvSpPr>
        <p:spPr>
          <a:xfrm>
            <a:off x="6446520" y="4187880"/>
            <a:ext cx="223992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ef476f"/>
                </a:solidFill>
                <a:uFillTx/>
                <a:latin typeface="Courier New"/>
                <a:ea typeface="Courier New"/>
              </a:rPr>
              <a:t>DELETE /users/5</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ef476f"/>
                </a:solidFill>
                <a:uFillTx/>
                <a:latin typeface="Courier New"/>
                <a:ea typeface="Courier New"/>
              </a:rPr>
              <a:t>Response: 204 No Content</a:t>
            </a:r>
            <a:endParaRPr b="0" lang="en-US" sz="950" strike="noStrike" u="none">
              <a:solidFill>
                <a:srgbClr val="ffffff"/>
              </a:solidFill>
              <a:uFillTx/>
              <a:latin typeface="Arial"/>
            </a:endParaRPr>
          </a:p>
        </p:txBody>
      </p:sp>
      <p:sp>
        <p:nvSpPr>
          <p:cNvPr id="234" name="Shape 38"/>
          <p:cNvSpPr/>
          <p:nvPr/>
        </p:nvSpPr>
        <p:spPr>
          <a:xfrm>
            <a:off x="374760" y="4832640"/>
            <a:ext cx="8302320" cy="319680"/>
          </a:xfrm>
          <a:prstGeom prst="roundRect">
            <a:avLst>
              <a:gd name="adj" fmla="val 20000"/>
            </a:avLst>
          </a:prstGeom>
          <a:solidFill>
            <a:srgbClr val="ffd166">
              <a:alpha val="18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235" name="Text 39"/>
          <p:cNvSpPr/>
          <p:nvPr/>
        </p:nvSpPr>
        <p:spPr>
          <a:xfrm>
            <a:off x="466200" y="4832640"/>
            <a:ext cx="81378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ffd166"/>
                </a:solidFill>
                <a:uFillTx/>
                <a:latin typeface="Calibri"/>
                <a:ea typeface="Calibri"/>
              </a:rPr>
              <a:t>🧠  </a:t>
            </a:r>
            <a:r>
              <a:rPr b="0" lang="en-US" sz="1200" strike="noStrike" u="none">
                <a:solidFill>
                  <a:srgbClr val="ffd166"/>
                </a:solidFill>
                <a:uFillTx/>
                <a:latin typeface="Calibri"/>
                <a:ea typeface="Calibri"/>
              </a:rPr>
              <a:t>"Good People Post Pretty Data" → GET · POST · PUT · PATCH · DELETE</a:t>
            </a:r>
            <a:endParaRPr b="0" lang="en-US" sz="1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236" name="Text 0"/>
          <p:cNvSpPr/>
          <p:nvPr/>
        </p:nvSpPr>
        <p:spPr>
          <a:xfrm>
            <a:off x="457200" y="1697040"/>
            <a:ext cx="28148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HTTP Status Codes</a:t>
            </a:r>
            <a:endParaRPr b="0" lang="en-US" sz="3400" strike="noStrike" u="none">
              <a:solidFill>
                <a:srgbClr val="ffffff"/>
              </a:solidFill>
              <a:uFillTx/>
              <a:latin typeface="Arial"/>
            </a:endParaRPr>
          </a:p>
        </p:txBody>
      </p:sp>
      <p:sp>
        <p:nvSpPr>
          <p:cNvPr id="237" name="Text 1"/>
          <p:cNvSpPr/>
          <p:nvPr/>
        </p:nvSpPr>
        <p:spPr>
          <a:xfrm>
            <a:off x="457200" y="2706120"/>
            <a:ext cx="24292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Three-digit codes that tell you exactly what happened</a:t>
            </a:r>
            <a:endParaRPr b="0" lang="en-US" sz="1300" strike="noStrike" u="none">
              <a:solidFill>
                <a:srgbClr val="ffffff"/>
              </a:solidFill>
              <a:uFillTx/>
              <a:latin typeface="Arial"/>
            </a:endParaRPr>
          </a:p>
        </p:txBody>
      </p:sp>
      <p:pic>
        <p:nvPicPr>
          <p:cNvPr id="238" name="Picture 88" descr=""/>
          <p:cNvPicPr/>
          <p:nvPr/>
        </p:nvPicPr>
        <p:blipFill>
          <a:blip r:embed="rId1"/>
          <a:srcRect l="0" t="9776" r="0" b="3911"/>
          <a:stretch/>
        </p:blipFill>
        <p:spPr>
          <a:xfrm>
            <a:off x="2886840" y="352080"/>
            <a:ext cx="6066360" cy="4439160"/>
          </a:xfrm>
          <a:prstGeom prst="rect">
            <a:avLst/>
          </a:prstGeom>
          <a:noFill/>
          <a:ln w="0">
            <a:noFill/>
          </a:ln>
          <a:effectLst>
            <a:outerShdw algn="tl" blurRad="291960" dir="2700000" dist="139498" rotWithShape="0">
              <a:srgbClr val="333333">
                <a:alpha val="65000"/>
              </a:srgbClr>
            </a:outerShdw>
          </a:effectLst>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239"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JSON — The Language of REST APIs</a:t>
            </a:r>
            <a:endParaRPr b="0" lang="en-US" sz="3400" strike="noStrike" u="none">
              <a:solidFill>
                <a:srgbClr val="ffffff"/>
              </a:solidFill>
              <a:uFillTx/>
              <a:latin typeface="Arial"/>
            </a:endParaRPr>
          </a:p>
        </p:txBody>
      </p:sp>
      <p:sp>
        <p:nvSpPr>
          <p:cNvPr id="240"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JavaScript Object Notation</a:t>
            </a:r>
            <a:endParaRPr b="0" lang="en-US" sz="1300" strike="noStrike" u="none">
              <a:solidFill>
                <a:srgbClr val="ffffff"/>
              </a:solidFill>
              <a:uFillTx/>
              <a:latin typeface="Arial"/>
            </a:endParaRPr>
          </a:p>
        </p:txBody>
      </p:sp>
      <p:sp>
        <p:nvSpPr>
          <p:cNvPr id="241"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242" name="Shape 3"/>
          <p:cNvSpPr/>
          <p:nvPr/>
        </p:nvSpPr>
        <p:spPr>
          <a:xfrm>
            <a:off x="457200" y="1143000"/>
            <a:ext cx="4571640" cy="3794400"/>
          </a:xfrm>
          <a:prstGeom prst="roundRect">
            <a:avLst>
              <a:gd name="adj" fmla="val 2410"/>
            </a:avLst>
          </a:prstGeom>
          <a:solidFill>
            <a:srgbClr val="050e1a"/>
          </a:solidFill>
          <a:ln w="12700">
            <a:solidFill>
              <a:srgbClr val="0077b6">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43" name="Text 4"/>
          <p:cNvSpPr/>
          <p:nvPr/>
        </p:nvSpPr>
        <p:spPr>
          <a:xfrm>
            <a:off x="594360" y="1207080"/>
            <a:ext cx="4297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00" strike="noStrike" u="none">
                <a:solidFill>
                  <a:srgbClr val="7ba5c0"/>
                </a:solidFill>
                <a:uFillTx/>
                <a:latin typeface="Courier New"/>
                <a:ea typeface="Courier New"/>
              </a:rPr>
              <a:t>// Sample API Response</a:t>
            </a:r>
            <a:endParaRPr b="0" lang="en-US" sz="1100" strike="noStrike" u="none">
              <a:solidFill>
                <a:srgbClr val="ffffff"/>
              </a:solidFill>
              <a:uFillTx/>
              <a:latin typeface="Arial"/>
            </a:endParaRPr>
          </a:p>
        </p:txBody>
      </p:sp>
      <p:sp>
        <p:nvSpPr>
          <p:cNvPr id="244" name="Text 5"/>
          <p:cNvSpPr/>
          <p:nvPr/>
        </p:nvSpPr>
        <p:spPr>
          <a:xfrm>
            <a:off x="594360" y="150876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45" name="Text 6"/>
          <p:cNvSpPr/>
          <p:nvPr/>
        </p:nvSpPr>
        <p:spPr>
          <a:xfrm>
            <a:off x="594360" y="173268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d166"/>
                </a:solidFill>
                <a:uFillTx/>
                <a:latin typeface="Courier New"/>
                <a:ea typeface="Courier New"/>
              </a:rPr>
              <a:t>  </a:t>
            </a:r>
            <a:r>
              <a:rPr b="0" lang="en-US" sz="1150" strike="noStrike" u="none">
                <a:solidFill>
                  <a:srgbClr val="ffd166"/>
                </a:solidFill>
                <a:uFillTx/>
                <a:latin typeface="Courier New"/>
                <a:ea typeface="Courier New"/>
              </a:rPr>
              <a:t>"id": </a:t>
            </a:r>
            <a:r>
              <a:rPr b="0" lang="en-US" sz="1150" strike="noStrike" u="none">
                <a:solidFill>
                  <a:srgbClr val="ef476f"/>
                </a:solidFill>
                <a:uFillTx/>
                <a:latin typeface="Courier New"/>
                <a:ea typeface="Courier New"/>
              </a:rPr>
              <a:t>42</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46" name="Text 7"/>
          <p:cNvSpPr/>
          <p:nvPr/>
        </p:nvSpPr>
        <p:spPr>
          <a:xfrm>
            <a:off x="594360" y="195696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d166"/>
                </a:solidFill>
                <a:uFillTx/>
                <a:latin typeface="Courier New"/>
                <a:ea typeface="Courier New"/>
              </a:rPr>
              <a:t>  </a:t>
            </a:r>
            <a:r>
              <a:rPr b="0" lang="en-US" sz="1150" strike="noStrike" u="none">
                <a:solidFill>
                  <a:srgbClr val="ffd166"/>
                </a:solidFill>
                <a:uFillTx/>
                <a:latin typeface="Courier New"/>
                <a:ea typeface="Courier New"/>
              </a:rPr>
              <a:t>"name": </a:t>
            </a:r>
            <a:r>
              <a:rPr b="0" lang="en-US" sz="1150" strike="noStrike" u="none">
                <a:solidFill>
                  <a:srgbClr val="06d6a0"/>
                </a:solidFill>
                <a:uFillTx/>
                <a:latin typeface="Courier New"/>
                <a:ea typeface="Courier New"/>
              </a:rPr>
              <a:t>"Alice Chen"</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47" name="Text 8"/>
          <p:cNvSpPr/>
          <p:nvPr/>
        </p:nvSpPr>
        <p:spPr>
          <a:xfrm>
            <a:off x="594360" y="218088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d166"/>
                </a:solidFill>
                <a:uFillTx/>
                <a:latin typeface="Courier New"/>
                <a:ea typeface="Courier New"/>
              </a:rPr>
              <a:t>  </a:t>
            </a:r>
            <a:r>
              <a:rPr b="0" lang="en-US" sz="1150" strike="noStrike" u="none">
                <a:solidFill>
                  <a:srgbClr val="ffd166"/>
                </a:solidFill>
                <a:uFillTx/>
                <a:latin typeface="Courier New"/>
                <a:ea typeface="Courier New"/>
              </a:rPr>
              <a:t>"role": </a:t>
            </a:r>
            <a:r>
              <a:rPr b="0" lang="en-US" sz="1150" strike="noStrike" u="none">
                <a:solidFill>
                  <a:srgbClr val="06d6a0"/>
                </a:solidFill>
                <a:uFillTx/>
                <a:latin typeface="Courier New"/>
                <a:ea typeface="Courier New"/>
              </a:rPr>
              <a:t>"developer"</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48" name="Text 9"/>
          <p:cNvSpPr/>
          <p:nvPr/>
        </p:nvSpPr>
        <p:spPr>
          <a:xfrm>
            <a:off x="594360" y="240480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d166"/>
                </a:solidFill>
                <a:uFillTx/>
                <a:latin typeface="Courier New"/>
                <a:ea typeface="Courier New"/>
              </a:rPr>
              <a:t>  </a:t>
            </a:r>
            <a:r>
              <a:rPr b="0" lang="en-US" sz="1150" strike="noStrike" u="none">
                <a:solidFill>
                  <a:srgbClr val="ffd166"/>
                </a:solidFill>
                <a:uFillTx/>
                <a:latin typeface="Courier New"/>
                <a:ea typeface="Courier New"/>
              </a:rPr>
              <a:t>"active": </a:t>
            </a:r>
            <a:r>
              <a:rPr b="0" lang="en-US" sz="1150" strike="noStrike" u="none">
                <a:solidFill>
                  <a:srgbClr val="00c9e0"/>
                </a:solidFill>
                <a:uFillTx/>
                <a:latin typeface="Courier New"/>
                <a:ea typeface="Courier New"/>
              </a:rPr>
              <a:t>true</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49" name="Text 10"/>
          <p:cNvSpPr/>
          <p:nvPr/>
        </p:nvSpPr>
        <p:spPr>
          <a:xfrm>
            <a:off x="594360" y="262908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d166"/>
                </a:solidFill>
                <a:uFillTx/>
                <a:latin typeface="Courier New"/>
                <a:ea typeface="Courier New"/>
              </a:rPr>
              <a:t>  </a:t>
            </a:r>
            <a:r>
              <a:rPr b="0" lang="en-US" sz="1150" strike="noStrike" u="none">
                <a:solidFill>
                  <a:srgbClr val="ffd166"/>
                </a:solidFill>
                <a:uFillTx/>
                <a:latin typeface="Courier New"/>
                <a:ea typeface="Courier New"/>
              </a:rPr>
              <a:t>"score": </a:t>
            </a:r>
            <a:r>
              <a:rPr b="0" lang="en-US" sz="1150" strike="noStrike" u="none">
                <a:solidFill>
                  <a:srgbClr val="ef476f"/>
                </a:solidFill>
                <a:uFillTx/>
                <a:latin typeface="Courier New"/>
                <a:ea typeface="Courier New"/>
              </a:rPr>
              <a:t>98.6</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50" name="Text 11"/>
          <p:cNvSpPr/>
          <p:nvPr/>
        </p:nvSpPr>
        <p:spPr>
          <a:xfrm>
            <a:off x="594360" y="285300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d166"/>
                </a:solidFill>
                <a:uFillTx/>
                <a:latin typeface="Courier New"/>
                <a:ea typeface="Courier New"/>
              </a:rPr>
              <a:t>  </a:t>
            </a:r>
            <a:r>
              <a:rPr b="0" lang="en-US" sz="1150" strike="noStrike" u="none">
                <a:solidFill>
                  <a:srgbClr val="ffd166"/>
                </a:solidFill>
                <a:uFillTx/>
                <a:latin typeface="Courier New"/>
                <a:ea typeface="Courier New"/>
              </a:rPr>
              <a:t>"tags": </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51" name="Text 12"/>
          <p:cNvSpPr/>
          <p:nvPr/>
        </p:nvSpPr>
        <p:spPr>
          <a:xfrm>
            <a:off x="594360" y="307692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06d6a0"/>
                </a:solidFill>
                <a:uFillTx/>
                <a:latin typeface="Courier New"/>
                <a:ea typeface="Courier New"/>
              </a:rPr>
              <a:t>    </a:t>
            </a:r>
            <a:r>
              <a:rPr b="0" lang="en-US" sz="1150" strike="noStrike" u="none">
                <a:solidFill>
                  <a:srgbClr val="06d6a0"/>
                </a:solidFill>
                <a:uFillTx/>
                <a:latin typeface="Courier New"/>
                <a:ea typeface="Courier New"/>
              </a:rPr>
              <a:t>"rest"</a:t>
            </a:r>
            <a:r>
              <a:rPr b="0" lang="en-US" sz="1150" strike="noStrike" u="none">
                <a:solidFill>
                  <a:srgbClr val="ffffff"/>
                </a:solidFill>
                <a:uFillTx/>
                <a:latin typeface="Courier New"/>
                <a:ea typeface="Courier New"/>
              </a:rPr>
              <a:t>, </a:t>
            </a:r>
            <a:r>
              <a:rPr b="0" lang="en-US" sz="1150" strike="noStrike" u="none">
                <a:solidFill>
                  <a:srgbClr val="06d6a0"/>
                </a:solidFill>
                <a:uFillTx/>
                <a:latin typeface="Courier New"/>
                <a:ea typeface="Courier New"/>
              </a:rPr>
              <a:t>"api"</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52" name="Text 13"/>
          <p:cNvSpPr/>
          <p:nvPr/>
        </p:nvSpPr>
        <p:spPr>
          <a:xfrm>
            <a:off x="594360" y="330084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06d6a0"/>
                </a:solidFill>
                <a:uFillTx/>
                <a:latin typeface="Courier New"/>
                <a:ea typeface="Courier New"/>
              </a:rPr>
              <a:t>    </a:t>
            </a:r>
            <a:r>
              <a:rPr b="0" lang="en-US" sz="1150" strike="noStrike" u="none">
                <a:solidFill>
                  <a:srgbClr val="06d6a0"/>
                </a:solidFill>
                <a:uFillTx/>
                <a:latin typeface="Courier New"/>
                <a:ea typeface="Courier New"/>
              </a:rPr>
              <a:t>"backend"</a:t>
            </a:r>
            <a:endParaRPr b="0" lang="en-US" sz="1150" strike="noStrike" u="none">
              <a:solidFill>
                <a:srgbClr val="ffffff"/>
              </a:solidFill>
              <a:uFillTx/>
              <a:latin typeface="Arial"/>
            </a:endParaRPr>
          </a:p>
        </p:txBody>
      </p:sp>
      <p:sp>
        <p:nvSpPr>
          <p:cNvPr id="253" name="Text 14"/>
          <p:cNvSpPr/>
          <p:nvPr/>
        </p:nvSpPr>
        <p:spPr>
          <a:xfrm>
            <a:off x="594360" y="352512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ffff"/>
                </a:solidFill>
                <a:uFillTx/>
                <a:latin typeface="Courier New"/>
                <a:ea typeface="Courier New"/>
              </a:rPr>
              <a:t>  </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54" name="Text 15"/>
          <p:cNvSpPr/>
          <p:nvPr/>
        </p:nvSpPr>
        <p:spPr>
          <a:xfrm>
            <a:off x="594360" y="374904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d166"/>
                </a:solidFill>
                <a:uFillTx/>
                <a:latin typeface="Courier New"/>
                <a:ea typeface="Courier New"/>
              </a:rPr>
              <a:t>  </a:t>
            </a:r>
            <a:r>
              <a:rPr b="0" lang="en-US" sz="1150" strike="noStrike" u="none">
                <a:solidFill>
                  <a:srgbClr val="ffd166"/>
                </a:solidFill>
                <a:uFillTx/>
                <a:latin typeface="Courier New"/>
                <a:ea typeface="Courier New"/>
              </a:rPr>
              <a:t>"address": </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55" name="Text 16"/>
          <p:cNvSpPr/>
          <p:nvPr/>
        </p:nvSpPr>
        <p:spPr>
          <a:xfrm>
            <a:off x="594360" y="397296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d166"/>
                </a:solidFill>
                <a:uFillTx/>
                <a:latin typeface="Courier New"/>
                <a:ea typeface="Courier New"/>
              </a:rPr>
              <a:t>    </a:t>
            </a:r>
            <a:r>
              <a:rPr b="0" lang="en-US" sz="1150" strike="noStrike" u="none">
                <a:solidFill>
                  <a:srgbClr val="ffd166"/>
                </a:solidFill>
                <a:uFillTx/>
                <a:latin typeface="Courier New"/>
                <a:ea typeface="Courier New"/>
              </a:rPr>
              <a:t>"city": </a:t>
            </a:r>
            <a:r>
              <a:rPr b="0" lang="en-US" sz="1150" strike="noStrike" u="none">
                <a:solidFill>
                  <a:srgbClr val="06d6a0"/>
                </a:solidFill>
                <a:uFillTx/>
                <a:latin typeface="Courier New"/>
                <a:ea typeface="Courier New"/>
              </a:rPr>
              <a:t>"Mumbai"</a:t>
            </a:r>
            <a:endParaRPr b="0" lang="en-US" sz="1150" strike="noStrike" u="none">
              <a:solidFill>
                <a:srgbClr val="ffffff"/>
              </a:solidFill>
              <a:uFillTx/>
              <a:latin typeface="Arial"/>
            </a:endParaRPr>
          </a:p>
        </p:txBody>
      </p:sp>
      <p:sp>
        <p:nvSpPr>
          <p:cNvPr id="256" name="Text 17"/>
          <p:cNvSpPr/>
          <p:nvPr/>
        </p:nvSpPr>
        <p:spPr>
          <a:xfrm>
            <a:off x="594360" y="419724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ffff"/>
                </a:solidFill>
                <a:uFillTx/>
                <a:latin typeface="Courier New"/>
                <a:ea typeface="Courier New"/>
              </a:rPr>
              <a:t>  </a:t>
            </a: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57" name="Text 18"/>
          <p:cNvSpPr/>
          <p:nvPr/>
        </p:nvSpPr>
        <p:spPr>
          <a:xfrm>
            <a:off x="594360" y="442116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ffffff"/>
                </a:solidFill>
                <a:uFillTx/>
                <a:latin typeface="Courier New"/>
                <a:ea typeface="Courier New"/>
              </a:rPr>
              <a:t>}</a:t>
            </a:r>
            <a:endParaRPr b="0" lang="en-US" sz="1150" strike="noStrike" u="none">
              <a:solidFill>
                <a:srgbClr val="ffffff"/>
              </a:solidFill>
              <a:uFillTx/>
              <a:latin typeface="Arial"/>
            </a:endParaRPr>
          </a:p>
        </p:txBody>
      </p:sp>
      <p:sp>
        <p:nvSpPr>
          <p:cNvPr id="258" name="Text 19"/>
          <p:cNvSpPr/>
          <p:nvPr/>
        </p:nvSpPr>
        <p:spPr>
          <a:xfrm>
            <a:off x="5257800" y="1143000"/>
            <a:ext cx="3428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ffd166"/>
                </a:solidFill>
                <a:uFillTx/>
                <a:latin typeface="Calibri"/>
                <a:ea typeface="Calibri"/>
              </a:rPr>
              <a:t>JSON Data Types</a:t>
            </a:r>
            <a:endParaRPr b="0" lang="en-US" sz="1400" strike="noStrike" u="none">
              <a:solidFill>
                <a:srgbClr val="ffffff"/>
              </a:solidFill>
              <a:uFillTx/>
              <a:latin typeface="Arial"/>
            </a:endParaRPr>
          </a:p>
        </p:txBody>
      </p:sp>
      <p:sp>
        <p:nvSpPr>
          <p:cNvPr id="259" name="Shape 20"/>
          <p:cNvSpPr/>
          <p:nvPr/>
        </p:nvSpPr>
        <p:spPr>
          <a:xfrm>
            <a:off x="5257800" y="1508760"/>
            <a:ext cx="1142640" cy="328680"/>
          </a:xfrm>
          <a:prstGeom prst="roundRect">
            <a:avLst>
              <a:gd name="adj" fmla="val 13889"/>
            </a:avLst>
          </a:prstGeom>
          <a:solidFill>
            <a:srgbClr val="06d6a0">
              <a:alpha val="80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60" name="Text 21"/>
          <p:cNvSpPr/>
          <p:nvPr/>
        </p:nvSpPr>
        <p:spPr>
          <a:xfrm>
            <a:off x="5257800" y="1508760"/>
            <a:ext cx="11426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String</a:t>
            </a:r>
            <a:endParaRPr b="0" lang="en-US" sz="1100" strike="noStrike" u="none">
              <a:solidFill>
                <a:srgbClr val="ffffff"/>
              </a:solidFill>
              <a:uFillTx/>
              <a:latin typeface="Arial"/>
            </a:endParaRPr>
          </a:p>
        </p:txBody>
      </p:sp>
      <p:sp>
        <p:nvSpPr>
          <p:cNvPr id="261" name="Text 22"/>
          <p:cNvSpPr/>
          <p:nvPr/>
        </p:nvSpPr>
        <p:spPr>
          <a:xfrm>
            <a:off x="6492240" y="1508760"/>
            <a:ext cx="2148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6d6a0"/>
                </a:solidFill>
                <a:uFillTx/>
                <a:latin typeface="Courier New"/>
                <a:ea typeface="Courier New"/>
              </a:rPr>
              <a:t>"Hello World"</a:t>
            </a:r>
            <a:endParaRPr b="0" lang="en-US" sz="1100" strike="noStrike" u="none">
              <a:solidFill>
                <a:srgbClr val="ffffff"/>
              </a:solidFill>
              <a:uFillTx/>
              <a:latin typeface="Arial"/>
            </a:endParaRPr>
          </a:p>
        </p:txBody>
      </p:sp>
      <p:sp>
        <p:nvSpPr>
          <p:cNvPr id="262" name="Shape 23"/>
          <p:cNvSpPr/>
          <p:nvPr/>
        </p:nvSpPr>
        <p:spPr>
          <a:xfrm>
            <a:off x="5257800" y="1911240"/>
            <a:ext cx="1142640" cy="328680"/>
          </a:xfrm>
          <a:prstGeom prst="roundRect">
            <a:avLst>
              <a:gd name="adj" fmla="val 13889"/>
            </a:avLst>
          </a:prstGeom>
          <a:solidFill>
            <a:srgbClr val="ef476f">
              <a:alpha val="80000"/>
            </a:srgbClr>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63" name="Text 24"/>
          <p:cNvSpPr/>
          <p:nvPr/>
        </p:nvSpPr>
        <p:spPr>
          <a:xfrm>
            <a:off x="5257800" y="1911240"/>
            <a:ext cx="11426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Number</a:t>
            </a:r>
            <a:endParaRPr b="0" lang="en-US" sz="1100" strike="noStrike" u="none">
              <a:solidFill>
                <a:srgbClr val="ffffff"/>
              </a:solidFill>
              <a:uFillTx/>
              <a:latin typeface="Arial"/>
            </a:endParaRPr>
          </a:p>
        </p:txBody>
      </p:sp>
      <p:sp>
        <p:nvSpPr>
          <p:cNvPr id="264" name="Text 25"/>
          <p:cNvSpPr/>
          <p:nvPr/>
        </p:nvSpPr>
        <p:spPr>
          <a:xfrm>
            <a:off x="6492240" y="1911240"/>
            <a:ext cx="2148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ef476f"/>
                </a:solidFill>
                <a:uFillTx/>
                <a:latin typeface="Courier New"/>
                <a:ea typeface="Courier New"/>
              </a:rPr>
              <a:t>42  or  3.14</a:t>
            </a:r>
            <a:endParaRPr b="0" lang="en-US" sz="1100" strike="noStrike" u="none">
              <a:solidFill>
                <a:srgbClr val="ffffff"/>
              </a:solidFill>
              <a:uFillTx/>
              <a:latin typeface="Arial"/>
            </a:endParaRPr>
          </a:p>
        </p:txBody>
      </p:sp>
      <p:sp>
        <p:nvSpPr>
          <p:cNvPr id="265" name="Shape 26"/>
          <p:cNvSpPr/>
          <p:nvPr/>
        </p:nvSpPr>
        <p:spPr>
          <a:xfrm>
            <a:off x="5257800" y="2313360"/>
            <a:ext cx="1142640" cy="328680"/>
          </a:xfrm>
          <a:prstGeom prst="roundRect">
            <a:avLst>
              <a:gd name="adj" fmla="val 13889"/>
            </a:avLst>
          </a:prstGeom>
          <a:solidFill>
            <a:srgbClr val="00c9e0">
              <a:alpha val="80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66" name="Text 27"/>
          <p:cNvSpPr/>
          <p:nvPr/>
        </p:nvSpPr>
        <p:spPr>
          <a:xfrm>
            <a:off x="5257800" y="2313360"/>
            <a:ext cx="11426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Boolean</a:t>
            </a:r>
            <a:endParaRPr b="0" lang="en-US" sz="1100" strike="noStrike" u="none">
              <a:solidFill>
                <a:srgbClr val="ffffff"/>
              </a:solidFill>
              <a:uFillTx/>
              <a:latin typeface="Arial"/>
            </a:endParaRPr>
          </a:p>
        </p:txBody>
      </p:sp>
      <p:sp>
        <p:nvSpPr>
          <p:cNvPr id="267" name="Text 28"/>
          <p:cNvSpPr/>
          <p:nvPr/>
        </p:nvSpPr>
        <p:spPr>
          <a:xfrm>
            <a:off x="6492240" y="2313360"/>
            <a:ext cx="2148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0c9e0"/>
                </a:solidFill>
                <a:uFillTx/>
                <a:latin typeface="Courier New"/>
                <a:ea typeface="Courier New"/>
              </a:rPr>
              <a:t>true / false</a:t>
            </a:r>
            <a:endParaRPr b="0" lang="en-US" sz="1100" strike="noStrike" u="none">
              <a:solidFill>
                <a:srgbClr val="ffffff"/>
              </a:solidFill>
              <a:uFillTx/>
              <a:latin typeface="Arial"/>
            </a:endParaRPr>
          </a:p>
        </p:txBody>
      </p:sp>
      <p:sp>
        <p:nvSpPr>
          <p:cNvPr id="268" name="Shape 29"/>
          <p:cNvSpPr/>
          <p:nvPr/>
        </p:nvSpPr>
        <p:spPr>
          <a:xfrm>
            <a:off x="5257800" y="2715840"/>
            <a:ext cx="1142640" cy="328680"/>
          </a:xfrm>
          <a:prstGeom prst="roundRect">
            <a:avLst>
              <a:gd name="adj" fmla="val 13889"/>
            </a:avLst>
          </a:prstGeom>
          <a:solidFill>
            <a:srgbClr val="ffd166">
              <a:alpha val="80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269" name="Text 30"/>
          <p:cNvSpPr/>
          <p:nvPr/>
        </p:nvSpPr>
        <p:spPr>
          <a:xfrm>
            <a:off x="5257800" y="2715840"/>
            <a:ext cx="11426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Array</a:t>
            </a:r>
            <a:endParaRPr b="0" lang="en-US" sz="1100" strike="noStrike" u="none">
              <a:solidFill>
                <a:srgbClr val="ffffff"/>
              </a:solidFill>
              <a:uFillTx/>
              <a:latin typeface="Arial"/>
            </a:endParaRPr>
          </a:p>
        </p:txBody>
      </p:sp>
      <p:sp>
        <p:nvSpPr>
          <p:cNvPr id="270" name="Text 31"/>
          <p:cNvSpPr/>
          <p:nvPr/>
        </p:nvSpPr>
        <p:spPr>
          <a:xfrm>
            <a:off x="6492240" y="2715840"/>
            <a:ext cx="2148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ffd166"/>
                </a:solidFill>
                <a:uFillTx/>
                <a:latin typeface="Courier New"/>
                <a:ea typeface="Courier New"/>
              </a:rPr>
              <a:t>["a","b","c"]</a:t>
            </a:r>
            <a:endParaRPr b="0" lang="en-US" sz="1100" strike="noStrike" u="none">
              <a:solidFill>
                <a:srgbClr val="ffffff"/>
              </a:solidFill>
              <a:uFillTx/>
              <a:latin typeface="Arial"/>
            </a:endParaRPr>
          </a:p>
        </p:txBody>
      </p:sp>
      <p:sp>
        <p:nvSpPr>
          <p:cNvPr id="271" name="Shape 32"/>
          <p:cNvSpPr/>
          <p:nvPr/>
        </p:nvSpPr>
        <p:spPr>
          <a:xfrm>
            <a:off x="5257800" y="3117960"/>
            <a:ext cx="1142640" cy="328680"/>
          </a:xfrm>
          <a:prstGeom prst="roundRect">
            <a:avLst>
              <a:gd name="adj" fmla="val 13889"/>
            </a:avLst>
          </a:prstGeom>
          <a:solidFill>
            <a:srgbClr val="ff9f1c">
              <a:alpha val="80000"/>
            </a:srgbClr>
          </a:solidFill>
          <a:ln w="12700">
            <a:solidFill>
              <a:srgbClr val="ff9f1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272" name="Text 33"/>
          <p:cNvSpPr/>
          <p:nvPr/>
        </p:nvSpPr>
        <p:spPr>
          <a:xfrm>
            <a:off x="5257800" y="3117960"/>
            <a:ext cx="11426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Object</a:t>
            </a:r>
            <a:endParaRPr b="0" lang="en-US" sz="1100" strike="noStrike" u="none">
              <a:solidFill>
                <a:srgbClr val="ffffff"/>
              </a:solidFill>
              <a:uFillTx/>
              <a:latin typeface="Arial"/>
            </a:endParaRPr>
          </a:p>
        </p:txBody>
      </p:sp>
      <p:sp>
        <p:nvSpPr>
          <p:cNvPr id="273" name="Text 34"/>
          <p:cNvSpPr/>
          <p:nvPr/>
        </p:nvSpPr>
        <p:spPr>
          <a:xfrm>
            <a:off x="6492240" y="3117960"/>
            <a:ext cx="2148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ff9f1c"/>
                </a:solidFill>
                <a:uFillTx/>
                <a:latin typeface="Courier New"/>
                <a:ea typeface="Courier New"/>
              </a:rPr>
              <a:t>{"key":"value"}</a:t>
            </a:r>
            <a:endParaRPr b="0" lang="en-US" sz="1100" strike="noStrike" u="none">
              <a:solidFill>
                <a:srgbClr val="ffffff"/>
              </a:solidFill>
              <a:uFillTx/>
              <a:latin typeface="Arial"/>
            </a:endParaRPr>
          </a:p>
        </p:txBody>
      </p:sp>
      <p:sp>
        <p:nvSpPr>
          <p:cNvPr id="274" name="Shape 35"/>
          <p:cNvSpPr/>
          <p:nvPr/>
        </p:nvSpPr>
        <p:spPr>
          <a:xfrm>
            <a:off x="5257800" y="3520440"/>
            <a:ext cx="1142640" cy="328680"/>
          </a:xfrm>
          <a:prstGeom prst="roundRect">
            <a:avLst>
              <a:gd name="adj" fmla="val 13889"/>
            </a:avLst>
          </a:prstGeom>
          <a:solidFill>
            <a:srgbClr val="7ba5c0">
              <a:alpha val="80000"/>
            </a:srgbClr>
          </a:solidFill>
          <a:ln w="12700">
            <a:solidFill>
              <a:srgbClr val="7ba5c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75" name="Text 36"/>
          <p:cNvSpPr/>
          <p:nvPr/>
        </p:nvSpPr>
        <p:spPr>
          <a:xfrm>
            <a:off x="5257800" y="3520440"/>
            <a:ext cx="11426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uFillTx/>
                <a:latin typeface="Calibri"/>
                <a:ea typeface="Calibri"/>
              </a:rPr>
              <a:t>Null</a:t>
            </a:r>
            <a:endParaRPr b="0" lang="en-US" sz="1100" strike="noStrike" u="none">
              <a:solidFill>
                <a:srgbClr val="ffffff"/>
              </a:solidFill>
              <a:uFillTx/>
              <a:latin typeface="Arial"/>
            </a:endParaRPr>
          </a:p>
        </p:txBody>
      </p:sp>
      <p:sp>
        <p:nvSpPr>
          <p:cNvPr id="276" name="Text 37"/>
          <p:cNvSpPr/>
          <p:nvPr/>
        </p:nvSpPr>
        <p:spPr>
          <a:xfrm>
            <a:off x="6492240" y="3520440"/>
            <a:ext cx="2148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7ba5c0"/>
                </a:solidFill>
                <a:uFillTx/>
                <a:latin typeface="Courier New"/>
                <a:ea typeface="Courier New"/>
              </a:rPr>
              <a:t>null</a:t>
            </a:r>
            <a:endParaRPr b="0" lang="en-US" sz="1100" strike="noStrike" u="none">
              <a:solidFill>
                <a:srgbClr val="ffffff"/>
              </a:solidFill>
              <a:uFillTx/>
              <a:latin typeface="Arial"/>
            </a:endParaRPr>
          </a:p>
        </p:txBody>
      </p:sp>
      <p:sp>
        <p:nvSpPr>
          <p:cNvPr id="277" name="Text 38"/>
          <p:cNvSpPr/>
          <p:nvPr/>
        </p:nvSpPr>
        <p:spPr>
          <a:xfrm>
            <a:off x="5257800" y="4005000"/>
            <a:ext cx="3428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ffd166"/>
                </a:solidFill>
                <a:uFillTx/>
                <a:latin typeface="Calibri"/>
                <a:ea typeface="Calibri"/>
              </a:rPr>
              <a:t>Why JSON over XML?</a:t>
            </a:r>
            <a:endParaRPr b="0" lang="en-US" sz="1300" strike="noStrike" u="none">
              <a:solidFill>
                <a:srgbClr val="ffffff"/>
              </a:solidFill>
              <a:uFillTx/>
              <a:latin typeface="Arial"/>
            </a:endParaRPr>
          </a:p>
        </p:txBody>
      </p:sp>
      <p:sp>
        <p:nvSpPr>
          <p:cNvPr id="278" name="Text 39"/>
          <p:cNvSpPr/>
          <p:nvPr/>
        </p:nvSpPr>
        <p:spPr>
          <a:xfrm>
            <a:off x="5257800" y="4343400"/>
            <a:ext cx="3428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 </a:t>
            </a:r>
            <a:r>
              <a:rPr b="0" lang="en-US" sz="1100" strike="noStrike" u="none">
                <a:solidFill>
                  <a:srgbClr val="d8eef8"/>
                </a:solidFill>
                <a:uFillTx/>
                <a:latin typeface="Calibri"/>
                <a:ea typeface="Calibri"/>
              </a:rPr>
              <a:t>Lightweight — less overhead than XML</a:t>
            </a:r>
            <a:endParaRPr b="0" lang="en-US" sz="1100" strike="noStrike" u="none">
              <a:solidFill>
                <a:srgbClr val="ffffff"/>
              </a:solidFill>
              <a:uFillTx/>
              <a:latin typeface="Arial"/>
            </a:endParaRPr>
          </a:p>
        </p:txBody>
      </p:sp>
      <p:sp>
        <p:nvSpPr>
          <p:cNvPr id="279" name="Text 40"/>
          <p:cNvSpPr/>
          <p:nvPr/>
        </p:nvSpPr>
        <p:spPr>
          <a:xfrm>
            <a:off x="5257800" y="4526280"/>
            <a:ext cx="3428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 </a:t>
            </a:r>
            <a:r>
              <a:rPr b="0" lang="en-US" sz="1100" strike="noStrike" u="none">
                <a:solidFill>
                  <a:srgbClr val="d8eef8"/>
                </a:solidFill>
                <a:uFillTx/>
                <a:latin typeface="Calibri"/>
                <a:ea typeface="Calibri"/>
              </a:rPr>
              <a:t>Human-readable and easy to debug</a:t>
            </a:r>
            <a:endParaRPr b="0" lang="en-US" sz="1100" strike="noStrike" u="none">
              <a:solidFill>
                <a:srgbClr val="ffffff"/>
              </a:solidFill>
              <a:uFillTx/>
              <a:latin typeface="Arial"/>
            </a:endParaRPr>
          </a:p>
        </p:txBody>
      </p:sp>
      <p:sp>
        <p:nvSpPr>
          <p:cNvPr id="280" name="Text 41"/>
          <p:cNvSpPr/>
          <p:nvPr/>
        </p:nvSpPr>
        <p:spPr>
          <a:xfrm>
            <a:off x="5257800" y="4709160"/>
            <a:ext cx="3428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 </a:t>
            </a:r>
            <a:r>
              <a:rPr b="0" lang="en-US" sz="1100" strike="noStrike" u="none">
                <a:solidFill>
                  <a:srgbClr val="d8eef8"/>
                </a:solidFill>
                <a:uFillTx/>
                <a:latin typeface="Calibri"/>
                <a:ea typeface="Calibri"/>
              </a:rPr>
              <a:t>Fast to parse — machines love it</a:t>
            </a:r>
            <a:endParaRPr b="0" lang="en-US" sz="1100" strike="noStrike" u="none">
              <a:solidFill>
                <a:srgbClr val="ffffff"/>
              </a:solidFill>
              <a:uFillTx/>
              <a:latin typeface="Arial"/>
            </a:endParaRPr>
          </a:p>
        </p:txBody>
      </p:sp>
      <p:sp>
        <p:nvSpPr>
          <p:cNvPr id="281" name="Text 42"/>
          <p:cNvSpPr/>
          <p:nvPr/>
        </p:nvSpPr>
        <p:spPr>
          <a:xfrm>
            <a:off x="5257800" y="4892040"/>
            <a:ext cx="3428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 </a:t>
            </a:r>
            <a:r>
              <a:rPr b="0" lang="en-US" sz="1100" strike="noStrike" u="none">
                <a:solidFill>
                  <a:srgbClr val="d8eef8"/>
                </a:solidFill>
                <a:uFillTx/>
                <a:latin typeface="Calibri"/>
                <a:ea typeface="Calibri"/>
              </a:rPr>
              <a:t>Language-independent (JS, Python, Java…)</a:t>
            </a:r>
            <a:endParaRPr b="0" lang="en-US" sz="11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282"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Authentication &amp; Security</a:t>
            </a:r>
            <a:endParaRPr b="0" lang="en-US" sz="3400" strike="noStrike" u="none">
              <a:solidFill>
                <a:srgbClr val="ffffff"/>
              </a:solidFill>
              <a:uFillTx/>
              <a:latin typeface="Arial"/>
            </a:endParaRPr>
          </a:p>
        </p:txBody>
      </p:sp>
      <p:sp>
        <p:nvSpPr>
          <p:cNvPr id="283"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Protecting your API — security is non-negotiable</a:t>
            </a:r>
            <a:endParaRPr b="0" lang="en-US" sz="1300" strike="noStrike" u="none">
              <a:solidFill>
                <a:srgbClr val="ffffff"/>
              </a:solidFill>
              <a:uFillTx/>
              <a:latin typeface="Arial"/>
            </a:endParaRPr>
          </a:p>
        </p:txBody>
      </p:sp>
      <p:sp>
        <p:nvSpPr>
          <p:cNvPr id="284"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285" name="Shape 3"/>
          <p:cNvSpPr/>
          <p:nvPr/>
        </p:nvSpPr>
        <p:spPr>
          <a:xfrm>
            <a:off x="384120" y="1143000"/>
            <a:ext cx="2761200" cy="1718640"/>
          </a:xfrm>
          <a:prstGeom prst="roundRect">
            <a:avLst>
              <a:gd name="adj" fmla="val 5319"/>
            </a:avLst>
          </a:prstGeom>
          <a:solidFill>
            <a:srgbClr val="13243a"/>
          </a:solidFill>
          <a:ln w="12700">
            <a:solidFill>
              <a:srgbClr val="00c9e0">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86" name="Text 4"/>
          <p:cNvSpPr/>
          <p:nvPr/>
        </p:nvSpPr>
        <p:spPr>
          <a:xfrm>
            <a:off x="384120" y="1234440"/>
            <a:ext cx="27612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287" name="Text 5"/>
          <p:cNvSpPr/>
          <p:nvPr/>
        </p:nvSpPr>
        <p:spPr>
          <a:xfrm>
            <a:off x="475560" y="1654920"/>
            <a:ext cx="25783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00c9e0"/>
                </a:solidFill>
                <a:uFillTx/>
                <a:latin typeface="Calibri"/>
                <a:ea typeface="Calibri"/>
              </a:rPr>
              <a:t>HTTPS / TLS</a:t>
            </a:r>
            <a:endParaRPr b="0" lang="en-US" sz="1250" strike="noStrike" u="none">
              <a:solidFill>
                <a:srgbClr val="ffffff"/>
              </a:solidFill>
              <a:uFillTx/>
              <a:latin typeface="Arial"/>
            </a:endParaRPr>
          </a:p>
        </p:txBody>
      </p:sp>
      <p:sp>
        <p:nvSpPr>
          <p:cNvPr id="288" name="Text 6"/>
          <p:cNvSpPr/>
          <p:nvPr/>
        </p:nvSpPr>
        <p:spPr>
          <a:xfrm>
            <a:off x="475560" y="1984320"/>
            <a:ext cx="2578320" cy="8042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IN" sz="1000" strike="noStrike" u="none">
                <a:solidFill>
                  <a:schemeClr val="lt1"/>
                </a:solidFill>
                <a:uFillTx/>
                <a:latin typeface="Calibri"/>
              </a:rPr>
              <a:t>Secure communication between client and server.</a:t>
            </a:r>
            <a:endParaRPr b="0" lang="en-US" sz="1000" strike="noStrike" u="none">
              <a:solidFill>
                <a:srgbClr val="ffffff"/>
              </a:solidFill>
              <a:uFillTx/>
              <a:latin typeface="Arial"/>
            </a:endParaRPr>
          </a:p>
          <a:p>
            <a:pPr defTabSz="914400">
              <a:lnSpc>
                <a:spcPct val="100000"/>
              </a:lnSpc>
            </a:pPr>
            <a:r>
              <a:rPr b="0" lang="en-IN" sz="1000" strike="noStrike" u="none">
                <a:solidFill>
                  <a:schemeClr val="lt1"/>
                </a:solidFill>
                <a:uFillTx/>
                <a:latin typeface="Calibri"/>
              </a:rPr>
              <a:t>Encrypts data in transit </a:t>
            </a:r>
            <a:endParaRPr b="0" lang="en-US" sz="1000" strike="noStrike" u="none">
              <a:solidFill>
                <a:srgbClr val="ffffff"/>
              </a:solidFill>
              <a:uFillTx/>
              <a:latin typeface="Arial"/>
            </a:endParaRPr>
          </a:p>
          <a:p>
            <a:pPr defTabSz="914400">
              <a:lnSpc>
                <a:spcPct val="100000"/>
              </a:lnSpc>
            </a:pPr>
            <a:r>
              <a:rPr b="0" lang="en-IN" sz="1000" strike="noStrike" u="none">
                <a:solidFill>
                  <a:schemeClr val="lt1"/>
                </a:solidFill>
                <a:uFillTx/>
                <a:latin typeface="Calibri"/>
              </a:rPr>
              <a:t>Protects sensitive information </a:t>
            </a:r>
            <a:endParaRPr b="0" lang="en-US" sz="1000" strike="noStrike" u="none">
              <a:solidFill>
                <a:srgbClr val="ffffff"/>
              </a:solidFill>
              <a:uFillTx/>
              <a:latin typeface="Arial"/>
            </a:endParaRPr>
          </a:p>
          <a:p>
            <a:pPr defTabSz="914400">
              <a:lnSpc>
                <a:spcPct val="100000"/>
              </a:lnSpc>
            </a:pPr>
            <a:r>
              <a:rPr b="0" lang="en-IN" sz="1000" strike="noStrike" u="none">
                <a:solidFill>
                  <a:schemeClr val="lt1"/>
                </a:solidFill>
                <a:uFillTx/>
                <a:latin typeface="Calibri"/>
              </a:rPr>
              <a:t>Always use HTTPS in production </a:t>
            </a:r>
            <a:endParaRPr b="0" lang="en-US" sz="1000" strike="noStrike" u="none">
              <a:solidFill>
                <a:srgbClr val="ffffff"/>
              </a:solidFill>
              <a:uFillTx/>
              <a:latin typeface="Arial"/>
            </a:endParaRPr>
          </a:p>
        </p:txBody>
      </p:sp>
      <p:sp>
        <p:nvSpPr>
          <p:cNvPr id="289" name="Shape 7"/>
          <p:cNvSpPr/>
          <p:nvPr/>
        </p:nvSpPr>
        <p:spPr>
          <a:xfrm>
            <a:off x="3328560" y="1143000"/>
            <a:ext cx="2761200" cy="1718640"/>
          </a:xfrm>
          <a:prstGeom prst="roundRect">
            <a:avLst>
              <a:gd name="adj" fmla="val 5319"/>
            </a:avLst>
          </a:prstGeom>
          <a:solidFill>
            <a:srgbClr val="13243a"/>
          </a:solidFill>
          <a:ln w="12700">
            <a:solidFill>
              <a:srgbClr val="ffd166">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90" name="Text 8"/>
          <p:cNvSpPr/>
          <p:nvPr/>
        </p:nvSpPr>
        <p:spPr>
          <a:xfrm>
            <a:off x="3328560" y="1234440"/>
            <a:ext cx="27612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291" name="Text 9"/>
          <p:cNvSpPr/>
          <p:nvPr/>
        </p:nvSpPr>
        <p:spPr>
          <a:xfrm>
            <a:off x="3420000" y="1654920"/>
            <a:ext cx="25783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ffd166"/>
                </a:solidFill>
                <a:uFillTx/>
                <a:latin typeface="Calibri"/>
                <a:ea typeface="Calibri"/>
              </a:rPr>
              <a:t>API Keys</a:t>
            </a:r>
            <a:endParaRPr b="0" lang="en-US" sz="1250" strike="noStrike" u="none">
              <a:solidFill>
                <a:srgbClr val="ffffff"/>
              </a:solidFill>
              <a:uFillTx/>
              <a:latin typeface="Arial"/>
            </a:endParaRPr>
          </a:p>
        </p:txBody>
      </p:sp>
      <p:sp>
        <p:nvSpPr>
          <p:cNvPr id="292" name="Text 10"/>
          <p:cNvSpPr/>
          <p:nvPr/>
        </p:nvSpPr>
        <p:spPr>
          <a:xfrm>
            <a:off x="3420000" y="1984320"/>
            <a:ext cx="2578320" cy="804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Simple tokens passed in headers or query params. Easy to implement but limited — no expiry, hard to rotate, no user context. Best for server-to-server or low-sensitivity use cases.</a:t>
            </a:r>
            <a:endParaRPr b="0" lang="en-US" sz="1000" strike="noStrike" u="none">
              <a:solidFill>
                <a:srgbClr val="ffffff"/>
              </a:solidFill>
              <a:uFillTx/>
              <a:latin typeface="Arial"/>
            </a:endParaRPr>
          </a:p>
        </p:txBody>
      </p:sp>
      <p:sp>
        <p:nvSpPr>
          <p:cNvPr id="293" name="Shape 11"/>
          <p:cNvSpPr/>
          <p:nvPr/>
        </p:nvSpPr>
        <p:spPr>
          <a:xfrm>
            <a:off x="6272640" y="1143000"/>
            <a:ext cx="2761200" cy="1718640"/>
          </a:xfrm>
          <a:prstGeom prst="roundRect">
            <a:avLst>
              <a:gd name="adj" fmla="val 5319"/>
            </a:avLst>
          </a:prstGeom>
          <a:solidFill>
            <a:srgbClr val="13243a"/>
          </a:solidFill>
          <a:ln w="12700">
            <a:solidFill>
              <a:srgbClr val="06d6a0">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94" name="Text 12"/>
          <p:cNvSpPr/>
          <p:nvPr/>
        </p:nvSpPr>
        <p:spPr>
          <a:xfrm>
            <a:off x="6272640" y="1234440"/>
            <a:ext cx="27612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295" name="Text 13"/>
          <p:cNvSpPr/>
          <p:nvPr/>
        </p:nvSpPr>
        <p:spPr>
          <a:xfrm>
            <a:off x="6364080" y="1654920"/>
            <a:ext cx="25783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06d6a0"/>
                </a:solidFill>
                <a:uFillTx/>
                <a:latin typeface="Calibri"/>
                <a:ea typeface="Calibri"/>
              </a:rPr>
              <a:t>JWT (JSON Web Token)</a:t>
            </a:r>
            <a:endParaRPr b="0" lang="en-US" sz="1250" strike="noStrike" u="none">
              <a:solidFill>
                <a:srgbClr val="ffffff"/>
              </a:solidFill>
              <a:uFillTx/>
              <a:latin typeface="Arial"/>
            </a:endParaRPr>
          </a:p>
        </p:txBody>
      </p:sp>
      <p:sp>
        <p:nvSpPr>
          <p:cNvPr id="296" name="Text 14"/>
          <p:cNvSpPr/>
          <p:nvPr/>
        </p:nvSpPr>
        <p:spPr>
          <a:xfrm>
            <a:off x="6364080" y="1984320"/>
            <a:ext cx="2578320" cy="804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Self-contained, stateless tokens with a payload of claims. Signed with a secret (HMAC) or private key (RSA). Three parts: Header.Payload.Signature — the industry favourite for REST APIs.</a:t>
            </a:r>
            <a:endParaRPr b="0" lang="en-US" sz="1000" strike="noStrike" u="none">
              <a:solidFill>
                <a:srgbClr val="ffffff"/>
              </a:solidFill>
              <a:uFillTx/>
              <a:latin typeface="Arial"/>
            </a:endParaRPr>
          </a:p>
        </p:txBody>
      </p:sp>
      <p:sp>
        <p:nvSpPr>
          <p:cNvPr id="297" name="Shape 15"/>
          <p:cNvSpPr/>
          <p:nvPr/>
        </p:nvSpPr>
        <p:spPr>
          <a:xfrm>
            <a:off x="384120" y="3017520"/>
            <a:ext cx="2761200" cy="1718640"/>
          </a:xfrm>
          <a:prstGeom prst="roundRect">
            <a:avLst>
              <a:gd name="adj" fmla="val 5319"/>
            </a:avLst>
          </a:prstGeom>
          <a:solidFill>
            <a:srgbClr val="13243a"/>
          </a:solidFill>
          <a:ln w="12700">
            <a:solidFill>
              <a:srgbClr val="ef476f">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298" name="Text 16"/>
          <p:cNvSpPr/>
          <p:nvPr/>
        </p:nvSpPr>
        <p:spPr>
          <a:xfrm>
            <a:off x="384120" y="3108960"/>
            <a:ext cx="27612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299" name="Text 17"/>
          <p:cNvSpPr/>
          <p:nvPr/>
        </p:nvSpPr>
        <p:spPr>
          <a:xfrm>
            <a:off x="475560" y="3529440"/>
            <a:ext cx="25783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ef476f"/>
                </a:solidFill>
                <a:uFillTx/>
                <a:latin typeface="Calibri"/>
                <a:ea typeface="Calibri"/>
              </a:rPr>
              <a:t>OAuth 2.0</a:t>
            </a:r>
            <a:endParaRPr b="0" lang="en-US" sz="1250" strike="noStrike" u="none">
              <a:solidFill>
                <a:srgbClr val="ffffff"/>
              </a:solidFill>
              <a:uFillTx/>
              <a:latin typeface="Arial"/>
            </a:endParaRPr>
          </a:p>
        </p:txBody>
      </p:sp>
      <p:sp>
        <p:nvSpPr>
          <p:cNvPr id="300" name="Text 18"/>
          <p:cNvSpPr/>
          <p:nvPr/>
        </p:nvSpPr>
        <p:spPr>
          <a:xfrm>
            <a:off x="475560" y="3858840"/>
            <a:ext cx="2578320" cy="804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Delegated authorization framework — lets users grant third-party apps limited access to their data without sharing passwords. Used by Google, GitHub, Facebook, Stripe.</a:t>
            </a:r>
            <a:endParaRPr b="0" lang="en-US" sz="1000" strike="noStrike" u="none">
              <a:solidFill>
                <a:srgbClr val="ffffff"/>
              </a:solidFill>
              <a:uFillTx/>
              <a:latin typeface="Arial"/>
            </a:endParaRPr>
          </a:p>
        </p:txBody>
      </p:sp>
      <p:sp>
        <p:nvSpPr>
          <p:cNvPr id="301" name="Shape 19"/>
          <p:cNvSpPr/>
          <p:nvPr/>
        </p:nvSpPr>
        <p:spPr>
          <a:xfrm>
            <a:off x="3328560" y="3017520"/>
            <a:ext cx="2761200" cy="1718640"/>
          </a:xfrm>
          <a:prstGeom prst="roundRect">
            <a:avLst>
              <a:gd name="adj" fmla="val 5319"/>
            </a:avLst>
          </a:prstGeom>
          <a:solidFill>
            <a:srgbClr val="13243a"/>
          </a:solidFill>
          <a:ln w="12700">
            <a:solidFill>
              <a:srgbClr val="ff9f1c">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02" name="Text 20"/>
          <p:cNvSpPr/>
          <p:nvPr/>
        </p:nvSpPr>
        <p:spPr>
          <a:xfrm>
            <a:off x="3328560" y="3108960"/>
            <a:ext cx="27612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303" name="Text 21"/>
          <p:cNvSpPr/>
          <p:nvPr/>
        </p:nvSpPr>
        <p:spPr>
          <a:xfrm>
            <a:off x="3420000" y="3529440"/>
            <a:ext cx="25783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ff9f1c"/>
                </a:solidFill>
                <a:uFillTx/>
                <a:latin typeface="Calibri"/>
                <a:ea typeface="Calibri"/>
              </a:rPr>
              <a:t>Authorization (RBAC)</a:t>
            </a:r>
            <a:endParaRPr b="0" lang="en-US" sz="1250" strike="noStrike" u="none">
              <a:solidFill>
                <a:srgbClr val="ffffff"/>
              </a:solidFill>
              <a:uFillTx/>
              <a:latin typeface="Arial"/>
            </a:endParaRPr>
          </a:p>
        </p:txBody>
      </p:sp>
      <p:sp>
        <p:nvSpPr>
          <p:cNvPr id="304" name="Text 22"/>
          <p:cNvSpPr/>
          <p:nvPr/>
        </p:nvSpPr>
        <p:spPr>
          <a:xfrm>
            <a:off x="3420000" y="3858840"/>
            <a:ext cx="2578320" cy="804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Authentication (who you are) ≠ Authorization (what you can do). Role-Based Access Control assigns permissions by role: admin can DELETE; viewer can only GET.</a:t>
            </a:r>
            <a:endParaRPr b="0" lang="en-US" sz="1000" strike="noStrike" u="none">
              <a:solidFill>
                <a:srgbClr val="ffffff"/>
              </a:solidFill>
              <a:uFillTx/>
              <a:latin typeface="Arial"/>
            </a:endParaRPr>
          </a:p>
        </p:txBody>
      </p:sp>
      <p:sp>
        <p:nvSpPr>
          <p:cNvPr id="305" name="Shape 23"/>
          <p:cNvSpPr/>
          <p:nvPr/>
        </p:nvSpPr>
        <p:spPr>
          <a:xfrm>
            <a:off x="6272640" y="3017520"/>
            <a:ext cx="2761200" cy="1718640"/>
          </a:xfrm>
          <a:prstGeom prst="roundRect">
            <a:avLst>
              <a:gd name="adj" fmla="val 5319"/>
            </a:avLst>
          </a:prstGeom>
          <a:solidFill>
            <a:srgbClr val="13243a"/>
          </a:solidFill>
          <a:ln w="12700">
            <a:solidFill>
              <a:srgbClr val="8b5cf6">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06" name="Text 24"/>
          <p:cNvSpPr/>
          <p:nvPr/>
        </p:nvSpPr>
        <p:spPr>
          <a:xfrm>
            <a:off x="6272640" y="3108960"/>
            <a:ext cx="27612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200" strike="noStrike" u="none">
                <a:solidFill>
                  <a:srgbClr val="000000"/>
                </a:solidFill>
                <a:uFillTx/>
                <a:latin typeface="Calibri"/>
                <a:ea typeface="Calibri"/>
              </a:rPr>
              <a:t>⏱️</a:t>
            </a:r>
            <a:endParaRPr b="0" lang="en-US" sz="2200" strike="noStrike" u="none">
              <a:solidFill>
                <a:srgbClr val="ffffff"/>
              </a:solidFill>
              <a:uFillTx/>
              <a:latin typeface="Arial"/>
            </a:endParaRPr>
          </a:p>
        </p:txBody>
      </p:sp>
      <p:sp>
        <p:nvSpPr>
          <p:cNvPr id="307" name="Text 25"/>
          <p:cNvSpPr/>
          <p:nvPr/>
        </p:nvSpPr>
        <p:spPr>
          <a:xfrm>
            <a:off x="6364080" y="3529440"/>
            <a:ext cx="25783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8b5cf6"/>
                </a:solidFill>
                <a:uFillTx/>
                <a:latin typeface="Calibri"/>
                <a:ea typeface="Calibri"/>
              </a:rPr>
              <a:t>Rate Limiting</a:t>
            </a:r>
            <a:endParaRPr b="0" lang="en-US" sz="1250" strike="noStrike" u="none">
              <a:solidFill>
                <a:srgbClr val="ffffff"/>
              </a:solidFill>
              <a:uFillTx/>
              <a:latin typeface="Arial"/>
            </a:endParaRPr>
          </a:p>
        </p:txBody>
      </p:sp>
      <p:sp>
        <p:nvSpPr>
          <p:cNvPr id="308" name="Text 26"/>
          <p:cNvSpPr/>
          <p:nvPr/>
        </p:nvSpPr>
        <p:spPr>
          <a:xfrm>
            <a:off x="6364080" y="3858840"/>
            <a:ext cx="2578320" cy="804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Limit requests per client per time window (e.g. 1000 req/hour). Protects against abuse, brute-force, and DDoS. Return 429 Too Many Requests with Retry-After header.</a:t>
            </a:r>
            <a:endParaRPr b="0" lang="en-US" sz="10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309"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REST API Best Practices</a:t>
            </a:r>
            <a:endParaRPr b="0" lang="en-US" sz="3400" strike="noStrike" u="none">
              <a:solidFill>
                <a:srgbClr val="ffffff"/>
              </a:solidFill>
              <a:uFillTx/>
              <a:latin typeface="Arial"/>
            </a:endParaRPr>
          </a:p>
        </p:txBody>
      </p:sp>
      <p:sp>
        <p:nvSpPr>
          <p:cNvPr id="310"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Building production-grade, developer-friendly APIs</a:t>
            </a:r>
            <a:endParaRPr b="0" lang="en-US" sz="1300" strike="noStrike" u="none">
              <a:solidFill>
                <a:srgbClr val="ffffff"/>
              </a:solidFill>
              <a:uFillTx/>
              <a:latin typeface="Arial"/>
            </a:endParaRPr>
          </a:p>
        </p:txBody>
      </p:sp>
      <p:sp>
        <p:nvSpPr>
          <p:cNvPr id="311"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312" name="Shape 3"/>
          <p:cNvSpPr/>
          <p:nvPr/>
        </p:nvSpPr>
        <p:spPr>
          <a:xfrm>
            <a:off x="384120" y="1115640"/>
            <a:ext cx="4132800" cy="840960"/>
          </a:xfrm>
          <a:prstGeom prst="roundRect">
            <a:avLst>
              <a:gd name="adj" fmla="val 8696"/>
            </a:avLst>
          </a:prstGeom>
          <a:solidFill>
            <a:srgbClr val="13243a"/>
          </a:solidFill>
          <a:ln w="12700">
            <a:solidFill>
              <a:srgbClr val="00c9e0">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13" name="Shape 4"/>
          <p:cNvSpPr/>
          <p:nvPr/>
        </p:nvSpPr>
        <p:spPr>
          <a:xfrm>
            <a:off x="475560" y="1207080"/>
            <a:ext cx="292320" cy="292320"/>
          </a:xfrm>
          <a:prstGeom prst="ellipse">
            <a:avLst/>
          </a:prstGeom>
          <a:solidFill>
            <a:srgbClr val="00c9e0"/>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14" name="Text 5"/>
          <p:cNvSpPr/>
          <p:nvPr/>
        </p:nvSpPr>
        <p:spPr>
          <a:xfrm>
            <a:off x="475560" y="1207080"/>
            <a:ext cx="292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1</a:t>
            </a:r>
            <a:endParaRPr b="0" lang="en-US" sz="1100" strike="noStrike" u="none">
              <a:solidFill>
                <a:srgbClr val="ffffff"/>
              </a:solidFill>
              <a:uFillTx/>
              <a:latin typeface="Arial"/>
            </a:endParaRPr>
          </a:p>
        </p:txBody>
      </p:sp>
      <p:sp>
        <p:nvSpPr>
          <p:cNvPr id="315" name="Text 6"/>
          <p:cNvSpPr/>
          <p:nvPr/>
        </p:nvSpPr>
        <p:spPr>
          <a:xfrm>
            <a:off x="887040" y="1188720"/>
            <a:ext cx="349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 </a:t>
            </a:r>
            <a:r>
              <a:rPr b="1" lang="en-US" sz="1250" strike="noStrike" u="none">
                <a:solidFill>
                  <a:srgbClr val="ffffff"/>
                </a:solidFill>
                <a:uFillTx/>
                <a:latin typeface="Calibri"/>
                <a:ea typeface="Calibri"/>
              </a:rPr>
              <a:t>Versioning from Day 1</a:t>
            </a:r>
            <a:endParaRPr b="0" lang="en-US" sz="1250" strike="noStrike" u="none">
              <a:solidFill>
                <a:srgbClr val="ffffff"/>
              </a:solidFill>
              <a:uFillTx/>
              <a:latin typeface="Arial"/>
            </a:endParaRPr>
          </a:p>
        </p:txBody>
      </p:sp>
      <p:sp>
        <p:nvSpPr>
          <p:cNvPr id="316" name="Text 7"/>
          <p:cNvSpPr/>
          <p:nvPr/>
        </p:nvSpPr>
        <p:spPr>
          <a:xfrm>
            <a:off x="493920" y="1572840"/>
            <a:ext cx="39132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Always version your API (v1, v2). Breaking changes go in a new version. Never break existing clients. Use: /api/v1/users  →  /api/v2/users</a:t>
            </a:r>
            <a:endParaRPr b="0" lang="en-US" sz="1000" strike="noStrike" u="none">
              <a:solidFill>
                <a:srgbClr val="ffffff"/>
              </a:solidFill>
              <a:uFillTx/>
              <a:latin typeface="Arial"/>
            </a:endParaRPr>
          </a:p>
        </p:txBody>
      </p:sp>
      <p:sp>
        <p:nvSpPr>
          <p:cNvPr id="317" name="Shape 8"/>
          <p:cNvSpPr/>
          <p:nvPr/>
        </p:nvSpPr>
        <p:spPr>
          <a:xfrm>
            <a:off x="4700160" y="1115640"/>
            <a:ext cx="4132800" cy="840960"/>
          </a:xfrm>
          <a:prstGeom prst="roundRect">
            <a:avLst>
              <a:gd name="adj" fmla="val 8696"/>
            </a:avLst>
          </a:prstGeom>
          <a:solidFill>
            <a:srgbClr val="13243a"/>
          </a:solidFill>
          <a:ln w="12700">
            <a:solidFill>
              <a:srgbClr val="06d6a0">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18" name="Shape 9"/>
          <p:cNvSpPr/>
          <p:nvPr/>
        </p:nvSpPr>
        <p:spPr>
          <a:xfrm>
            <a:off x="4791600" y="1207080"/>
            <a:ext cx="292320" cy="292320"/>
          </a:xfrm>
          <a:prstGeom prst="ellipse">
            <a:avLst/>
          </a:prstGeom>
          <a:solidFill>
            <a:srgbClr val="06d6a0"/>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19" name="Text 10"/>
          <p:cNvSpPr/>
          <p:nvPr/>
        </p:nvSpPr>
        <p:spPr>
          <a:xfrm>
            <a:off x="4791600" y="1207080"/>
            <a:ext cx="292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2</a:t>
            </a:r>
            <a:endParaRPr b="0" lang="en-US" sz="1100" strike="noStrike" u="none">
              <a:solidFill>
                <a:srgbClr val="ffffff"/>
              </a:solidFill>
              <a:uFillTx/>
              <a:latin typeface="Arial"/>
            </a:endParaRPr>
          </a:p>
        </p:txBody>
      </p:sp>
      <p:sp>
        <p:nvSpPr>
          <p:cNvPr id="320" name="Text 11"/>
          <p:cNvSpPr/>
          <p:nvPr/>
        </p:nvSpPr>
        <p:spPr>
          <a:xfrm>
            <a:off x="5203080" y="1188720"/>
            <a:ext cx="349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 </a:t>
            </a:r>
            <a:r>
              <a:rPr b="1" lang="en-US" sz="1250" strike="noStrike" u="none">
                <a:solidFill>
                  <a:srgbClr val="ffffff"/>
                </a:solidFill>
                <a:uFillTx/>
                <a:latin typeface="Calibri"/>
                <a:ea typeface="Calibri"/>
              </a:rPr>
              <a:t>Pagination for Lists</a:t>
            </a:r>
            <a:endParaRPr b="0" lang="en-US" sz="1250" strike="noStrike" u="none">
              <a:solidFill>
                <a:srgbClr val="ffffff"/>
              </a:solidFill>
              <a:uFillTx/>
              <a:latin typeface="Arial"/>
            </a:endParaRPr>
          </a:p>
        </p:txBody>
      </p:sp>
      <p:sp>
        <p:nvSpPr>
          <p:cNvPr id="321" name="Text 12"/>
          <p:cNvSpPr/>
          <p:nvPr/>
        </p:nvSpPr>
        <p:spPr>
          <a:xfrm>
            <a:off x="4809600" y="1572840"/>
            <a:ext cx="39132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Never return thousands of records. Use page/limit or offset/limit. Always include total count and next/prev links in the response.</a:t>
            </a:r>
            <a:endParaRPr b="0" lang="en-US" sz="1000" strike="noStrike" u="none">
              <a:solidFill>
                <a:srgbClr val="ffffff"/>
              </a:solidFill>
              <a:uFillTx/>
              <a:latin typeface="Arial"/>
            </a:endParaRPr>
          </a:p>
        </p:txBody>
      </p:sp>
      <p:sp>
        <p:nvSpPr>
          <p:cNvPr id="322" name="Shape 13"/>
          <p:cNvSpPr/>
          <p:nvPr/>
        </p:nvSpPr>
        <p:spPr>
          <a:xfrm>
            <a:off x="384120" y="2075760"/>
            <a:ext cx="4132800" cy="840960"/>
          </a:xfrm>
          <a:prstGeom prst="roundRect">
            <a:avLst>
              <a:gd name="adj" fmla="val 8696"/>
            </a:avLst>
          </a:prstGeom>
          <a:solidFill>
            <a:srgbClr val="13243a"/>
          </a:solidFill>
          <a:ln w="12700">
            <a:solidFill>
              <a:srgbClr val="ffd166">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23" name="Shape 14"/>
          <p:cNvSpPr/>
          <p:nvPr/>
        </p:nvSpPr>
        <p:spPr>
          <a:xfrm>
            <a:off x="475560" y="2167200"/>
            <a:ext cx="292320" cy="292320"/>
          </a:xfrm>
          <a:prstGeom prst="ellipse">
            <a:avLst/>
          </a:prstGeom>
          <a:solidFill>
            <a:srgbClr val="ffd166"/>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324" name="Text 15"/>
          <p:cNvSpPr/>
          <p:nvPr/>
        </p:nvSpPr>
        <p:spPr>
          <a:xfrm>
            <a:off x="475560" y="2167200"/>
            <a:ext cx="292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3</a:t>
            </a:r>
            <a:endParaRPr b="0" lang="en-US" sz="1100" strike="noStrike" u="none">
              <a:solidFill>
                <a:srgbClr val="ffffff"/>
              </a:solidFill>
              <a:uFillTx/>
              <a:latin typeface="Arial"/>
            </a:endParaRPr>
          </a:p>
        </p:txBody>
      </p:sp>
      <p:sp>
        <p:nvSpPr>
          <p:cNvPr id="325" name="Text 16"/>
          <p:cNvSpPr/>
          <p:nvPr/>
        </p:nvSpPr>
        <p:spPr>
          <a:xfrm>
            <a:off x="887040" y="2148840"/>
            <a:ext cx="349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 </a:t>
            </a:r>
            <a:r>
              <a:rPr b="1" lang="en-US" sz="1250" strike="noStrike" u="none">
                <a:solidFill>
                  <a:srgbClr val="ffffff"/>
                </a:solidFill>
                <a:uFillTx/>
                <a:latin typeface="Calibri"/>
                <a:ea typeface="Calibri"/>
              </a:rPr>
              <a:t>Filtering, Sorting, Search</a:t>
            </a:r>
            <a:endParaRPr b="0" lang="en-US" sz="1250" strike="noStrike" u="none">
              <a:solidFill>
                <a:srgbClr val="ffffff"/>
              </a:solidFill>
              <a:uFillTx/>
              <a:latin typeface="Arial"/>
            </a:endParaRPr>
          </a:p>
        </p:txBody>
      </p:sp>
      <p:sp>
        <p:nvSpPr>
          <p:cNvPr id="326" name="Text 17"/>
          <p:cNvSpPr/>
          <p:nvPr/>
        </p:nvSpPr>
        <p:spPr>
          <a:xfrm>
            <a:off x="493920" y="2532960"/>
            <a:ext cx="39132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/products?category=electronics&amp;sort=price&amp;order=asc&amp;search=phone — Use query params, never verbs in the path.</a:t>
            </a:r>
            <a:endParaRPr b="0" lang="en-US" sz="1000" strike="noStrike" u="none">
              <a:solidFill>
                <a:srgbClr val="ffffff"/>
              </a:solidFill>
              <a:uFillTx/>
              <a:latin typeface="Arial"/>
            </a:endParaRPr>
          </a:p>
        </p:txBody>
      </p:sp>
      <p:sp>
        <p:nvSpPr>
          <p:cNvPr id="327" name="Shape 18"/>
          <p:cNvSpPr/>
          <p:nvPr/>
        </p:nvSpPr>
        <p:spPr>
          <a:xfrm>
            <a:off x="4700160" y="2075760"/>
            <a:ext cx="4132800" cy="840960"/>
          </a:xfrm>
          <a:prstGeom prst="roundRect">
            <a:avLst>
              <a:gd name="adj" fmla="val 8696"/>
            </a:avLst>
          </a:prstGeom>
          <a:solidFill>
            <a:srgbClr val="13243a"/>
          </a:solidFill>
          <a:ln w="12700">
            <a:solidFill>
              <a:srgbClr val="ef476f">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28" name="Shape 19"/>
          <p:cNvSpPr/>
          <p:nvPr/>
        </p:nvSpPr>
        <p:spPr>
          <a:xfrm>
            <a:off x="4791600" y="2167200"/>
            <a:ext cx="292320" cy="292320"/>
          </a:xfrm>
          <a:prstGeom prst="ellipse">
            <a:avLst/>
          </a:prstGeom>
          <a:solidFill>
            <a:srgbClr val="ef476f"/>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29" name="Text 20"/>
          <p:cNvSpPr/>
          <p:nvPr/>
        </p:nvSpPr>
        <p:spPr>
          <a:xfrm>
            <a:off x="4791600" y="2167200"/>
            <a:ext cx="292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4</a:t>
            </a:r>
            <a:endParaRPr b="0" lang="en-US" sz="1100" strike="noStrike" u="none">
              <a:solidFill>
                <a:srgbClr val="ffffff"/>
              </a:solidFill>
              <a:uFillTx/>
              <a:latin typeface="Arial"/>
            </a:endParaRPr>
          </a:p>
        </p:txBody>
      </p:sp>
      <p:sp>
        <p:nvSpPr>
          <p:cNvPr id="330" name="Text 21"/>
          <p:cNvSpPr/>
          <p:nvPr/>
        </p:nvSpPr>
        <p:spPr>
          <a:xfrm>
            <a:off x="5203080" y="2148840"/>
            <a:ext cx="349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 </a:t>
            </a:r>
            <a:r>
              <a:rPr b="1" lang="en-US" sz="1250" strike="noStrike" u="none">
                <a:solidFill>
                  <a:srgbClr val="ffffff"/>
                </a:solidFill>
                <a:uFillTx/>
                <a:latin typeface="Calibri"/>
                <a:ea typeface="Calibri"/>
              </a:rPr>
              <a:t>Consistent Error Responses</a:t>
            </a:r>
            <a:endParaRPr b="0" lang="en-US" sz="1250" strike="noStrike" u="none">
              <a:solidFill>
                <a:srgbClr val="ffffff"/>
              </a:solidFill>
              <a:uFillTx/>
              <a:latin typeface="Arial"/>
            </a:endParaRPr>
          </a:p>
        </p:txBody>
      </p:sp>
      <p:sp>
        <p:nvSpPr>
          <p:cNvPr id="331" name="Text 22"/>
          <p:cNvSpPr/>
          <p:nvPr/>
        </p:nvSpPr>
        <p:spPr>
          <a:xfrm>
            <a:off x="4809600" y="2532960"/>
            <a:ext cx="39132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Always return structured errors: {"error": {"code": 404, "message": "User not found", "timestamp": "..."}}</a:t>
            </a:r>
            <a:endParaRPr b="0" lang="en-US" sz="1000" strike="noStrike" u="none">
              <a:solidFill>
                <a:srgbClr val="ffffff"/>
              </a:solidFill>
              <a:uFillTx/>
              <a:latin typeface="Arial"/>
            </a:endParaRPr>
          </a:p>
        </p:txBody>
      </p:sp>
      <p:sp>
        <p:nvSpPr>
          <p:cNvPr id="332" name="Shape 23"/>
          <p:cNvSpPr/>
          <p:nvPr/>
        </p:nvSpPr>
        <p:spPr>
          <a:xfrm>
            <a:off x="384120" y="3035880"/>
            <a:ext cx="4132800" cy="840960"/>
          </a:xfrm>
          <a:prstGeom prst="roundRect">
            <a:avLst>
              <a:gd name="adj" fmla="val 8696"/>
            </a:avLst>
          </a:prstGeom>
          <a:solidFill>
            <a:srgbClr val="13243a"/>
          </a:solidFill>
          <a:ln w="12700">
            <a:solidFill>
              <a:srgbClr val="ff9f1c">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33" name="Shape 24"/>
          <p:cNvSpPr/>
          <p:nvPr/>
        </p:nvSpPr>
        <p:spPr>
          <a:xfrm>
            <a:off x="475560" y="3127320"/>
            <a:ext cx="292320" cy="292320"/>
          </a:xfrm>
          <a:prstGeom prst="ellipse">
            <a:avLst/>
          </a:prstGeom>
          <a:solidFill>
            <a:srgbClr val="ff9f1c"/>
          </a:solidFill>
          <a:ln w="12700">
            <a:solidFill>
              <a:srgbClr val="ff9f1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334" name="Text 25"/>
          <p:cNvSpPr/>
          <p:nvPr/>
        </p:nvSpPr>
        <p:spPr>
          <a:xfrm>
            <a:off x="475560" y="3127320"/>
            <a:ext cx="292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5</a:t>
            </a:r>
            <a:endParaRPr b="0" lang="en-US" sz="1100" strike="noStrike" u="none">
              <a:solidFill>
                <a:srgbClr val="ffffff"/>
              </a:solidFill>
              <a:uFillTx/>
              <a:latin typeface="Arial"/>
            </a:endParaRPr>
          </a:p>
        </p:txBody>
      </p:sp>
      <p:sp>
        <p:nvSpPr>
          <p:cNvPr id="335" name="Text 26"/>
          <p:cNvSpPr/>
          <p:nvPr/>
        </p:nvSpPr>
        <p:spPr>
          <a:xfrm>
            <a:off x="887040" y="3108960"/>
            <a:ext cx="349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 </a:t>
            </a:r>
            <a:r>
              <a:rPr b="1" lang="en-US" sz="1250" strike="noStrike" u="none">
                <a:solidFill>
                  <a:srgbClr val="ffffff"/>
                </a:solidFill>
                <a:uFillTx/>
                <a:latin typeface="Calibri"/>
                <a:ea typeface="Calibri"/>
              </a:rPr>
              <a:t>Documentation (OpenAPI)</a:t>
            </a:r>
            <a:endParaRPr b="0" lang="en-US" sz="1250" strike="noStrike" u="none">
              <a:solidFill>
                <a:srgbClr val="ffffff"/>
              </a:solidFill>
              <a:uFillTx/>
              <a:latin typeface="Arial"/>
            </a:endParaRPr>
          </a:p>
        </p:txBody>
      </p:sp>
      <p:sp>
        <p:nvSpPr>
          <p:cNvPr id="336" name="Text 27"/>
          <p:cNvSpPr/>
          <p:nvPr/>
        </p:nvSpPr>
        <p:spPr>
          <a:xfrm>
            <a:off x="493920" y="3493080"/>
            <a:ext cx="39132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An undocumented API is an unusable API. Use Swagger/OpenAPI spec to generate interactive docs automatically from code annotations.</a:t>
            </a:r>
            <a:endParaRPr b="0" lang="en-US" sz="1000" strike="noStrike" u="none">
              <a:solidFill>
                <a:srgbClr val="ffffff"/>
              </a:solidFill>
              <a:uFillTx/>
              <a:latin typeface="Arial"/>
            </a:endParaRPr>
          </a:p>
        </p:txBody>
      </p:sp>
      <p:sp>
        <p:nvSpPr>
          <p:cNvPr id="337" name="Shape 28"/>
          <p:cNvSpPr/>
          <p:nvPr/>
        </p:nvSpPr>
        <p:spPr>
          <a:xfrm>
            <a:off x="4700160" y="3035880"/>
            <a:ext cx="4132800" cy="840960"/>
          </a:xfrm>
          <a:prstGeom prst="roundRect">
            <a:avLst>
              <a:gd name="adj" fmla="val 8696"/>
            </a:avLst>
          </a:prstGeom>
          <a:solidFill>
            <a:srgbClr val="13243a"/>
          </a:solidFill>
          <a:ln w="12700">
            <a:solidFill>
              <a:srgbClr val="8b5cf6">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38" name="Shape 29"/>
          <p:cNvSpPr/>
          <p:nvPr/>
        </p:nvSpPr>
        <p:spPr>
          <a:xfrm>
            <a:off x="4791600" y="3127320"/>
            <a:ext cx="292320" cy="292320"/>
          </a:xfrm>
          <a:prstGeom prst="ellipse">
            <a:avLst/>
          </a:prstGeom>
          <a:solidFill>
            <a:srgbClr val="8b5cf6"/>
          </a:solidFill>
          <a:ln w="12700">
            <a:solidFill>
              <a:srgbClr val="8b5cf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39" name="Text 30"/>
          <p:cNvSpPr/>
          <p:nvPr/>
        </p:nvSpPr>
        <p:spPr>
          <a:xfrm>
            <a:off x="4791600" y="3127320"/>
            <a:ext cx="292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6</a:t>
            </a:r>
            <a:endParaRPr b="0" lang="en-US" sz="1100" strike="noStrike" u="none">
              <a:solidFill>
                <a:srgbClr val="ffffff"/>
              </a:solidFill>
              <a:uFillTx/>
              <a:latin typeface="Arial"/>
            </a:endParaRPr>
          </a:p>
        </p:txBody>
      </p:sp>
      <p:sp>
        <p:nvSpPr>
          <p:cNvPr id="340" name="Text 31"/>
          <p:cNvSpPr/>
          <p:nvPr/>
        </p:nvSpPr>
        <p:spPr>
          <a:xfrm>
            <a:off x="5203080" y="3108960"/>
            <a:ext cx="349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 </a:t>
            </a:r>
            <a:r>
              <a:rPr b="1" lang="en-US" sz="1250" strike="noStrike" u="none">
                <a:solidFill>
                  <a:srgbClr val="ffffff"/>
                </a:solidFill>
                <a:uFillTx/>
                <a:latin typeface="Calibri"/>
                <a:ea typeface="Calibri"/>
              </a:rPr>
              <a:t>HATEOAS &amp; Discoverability</a:t>
            </a:r>
            <a:endParaRPr b="0" lang="en-US" sz="1250" strike="noStrike" u="none">
              <a:solidFill>
                <a:srgbClr val="ffffff"/>
              </a:solidFill>
              <a:uFillTx/>
              <a:latin typeface="Arial"/>
            </a:endParaRPr>
          </a:p>
        </p:txBody>
      </p:sp>
      <p:sp>
        <p:nvSpPr>
          <p:cNvPr id="341" name="Text 32"/>
          <p:cNvSpPr/>
          <p:nvPr/>
        </p:nvSpPr>
        <p:spPr>
          <a:xfrm>
            <a:off x="4809600" y="3493080"/>
            <a:ext cx="39132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Include links to related resources in responses. Clients discover what they can do next without hardcoding URLs. (Hypermedia as the Engine of App State)</a:t>
            </a:r>
            <a:endParaRPr b="0" lang="en-US" sz="1000" strike="noStrike" u="none">
              <a:solidFill>
                <a:srgbClr val="ffffff"/>
              </a:solidFill>
              <a:uFillTx/>
              <a:latin typeface="Arial"/>
            </a:endParaRPr>
          </a:p>
        </p:txBody>
      </p:sp>
      <p:sp>
        <p:nvSpPr>
          <p:cNvPr id="342" name="Shape 33"/>
          <p:cNvSpPr/>
          <p:nvPr/>
        </p:nvSpPr>
        <p:spPr>
          <a:xfrm>
            <a:off x="384120" y="3996000"/>
            <a:ext cx="4132800" cy="840960"/>
          </a:xfrm>
          <a:prstGeom prst="roundRect">
            <a:avLst>
              <a:gd name="adj" fmla="val 8696"/>
            </a:avLst>
          </a:prstGeom>
          <a:solidFill>
            <a:srgbClr val="13243a"/>
          </a:solidFill>
          <a:ln w="12700">
            <a:solidFill>
              <a:srgbClr val="48d9ee">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43" name="Shape 34"/>
          <p:cNvSpPr/>
          <p:nvPr/>
        </p:nvSpPr>
        <p:spPr>
          <a:xfrm>
            <a:off x="475560" y="4087440"/>
            <a:ext cx="292320" cy="292320"/>
          </a:xfrm>
          <a:prstGeom prst="ellipse">
            <a:avLst/>
          </a:prstGeom>
          <a:solidFill>
            <a:srgbClr val="48d9ee"/>
          </a:solidFill>
          <a:ln w="12700">
            <a:solidFill>
              <a:srgbClr val="48d9e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344" name="Text 35"/>
          <p:cNvSpPr/>
          <p:nvPr/>
        </p:nvSpPr>
        <p:spPr>
          <a:xfrm>
            <a:off x="475560" y="4087440"/>
            <a:ext cx="292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7</a:t>
            </a:r>
            <a:endParaRPr b="0" lang="en-US" sz="1100" strike="noStrike" u="none">
              <a:solidFill>
                <a:srgbClr val="ffffff"/>
              </a:solidFill>
              <a:uFillTx/>
              <a:latin typeface="Arial"/>
            </a:endParaRPr>
          </a:p>
        </p:txBody>
      </p:sp>
      <p:sp>
        <p:nvSpPr>
          <p:cNvPr id="345" name="Text 36"/>
          <p:cNvSpPr/>
          <p:nvPr/>
        </p:nvSpPr>
        <p:spPr>
          <a:xfrm>
            <a:off x="887040" y="4069080"/>
            <a:ext cx="349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 </a:t>
            </a:r>
            <a:r>
              <a:rPr b="1" lang="en-US" sz="1250" strike="noStrike" u="none">
                <a:solidFill>
                  <a:srgbClr val="ffffff"/>
                </a:solidFill>
                <a:uFillTx/>
                <a:latin typeface="Calibri"/>
                <a:ea typeface="Calibri"/>
              </a:rPr>
              <a:t>Correct Status Codes</a:t>
            </a:r>
            <a:endParaRPr b="0" lang="en-US" sz="1250" strike="noStrike" u="none">
              <a:solidFill>
                <a:srgbClr val="ffffff"/>
              </a:solidFill>
              <a:uFillTx/>
              <a:latin typeface="Arial"/>
            </a:endParaRPr>
          </a:p>
        </p:txBody>
      </p:sp>
      <p:sp>
        <p:nvSpPr>
          <p:cNvPr id="346" name="Text 37"/>
          <p:cNvSpPr/>
          <p:nvPr/>
        </p:nvSpPr>
        <p:spPr>
          <a:xfrm>
            <a:off x="493920" y="4453200"/>
            <a:ext cx="39132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Don't return 200 for errors. Don't use GET to modify data. Follow conventions — 201 for creates, 204 for deletes, 400 for bad input.</a:t>
            </a:r>
            <a:endParaRPr b="0" lang="en-US" sz="1000" strike="noStrike" u="none">
              <a:solidFill>
                <a:srgbClr val="ffffff"/>
              </a:solidFill>
              <a:uFillTx/>
              <a:latin typeface="Arial"/>
            </a:endParaRPr>
          </a:p>
        </p:txBody>
      </p:sp>
      <p:sp>
        <p:nvSpPr>
          <p:cNvPr id="347" name="Shape 38"/>
          <p:cNvSpPr/>
          <p:nvPr/>
        </p:nvSpPr>
        <p:spPr>
          <a:xfrm>
            <a:off x="4700160" y="3996000"/>
            <a:ext cx="4132800" cy="840960"/>
          </a:xfrm>
          <a:prstGeom prst="roundRect">
            <a:avLst>
              <a:gd name="adj" fmla="val 8696"/>
            </a:avLst>
          </a:prstGeom>
          <a:solidFill>
            <a:srgbClr val="13243a"/>
          </a:solidFill>
          <a:ln w="12700">
            <a:solidFill>
              <a:srgbClr val="7ba5c0">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48" name="Shape 39"/>
          <p:cNvSpPr/>
          <p:nvPr/>
        </p:nvSpPr>
        <p:spPr>
          <a:xfrm>
            <a:off x="4791600" y="4087440"/>
            <a:ext cx="292320" cy="292320"/>
          </a:xfrm>
          <a:prstGeom prst="ellipse">
            <a:avLst/>
          </a:prstGeom>
          <a:solidFill>
            <a:srgbClr val="7ba5c0"/>
          </a:solidFill>
          <a:ln w="12700">
            <a:solidFill>
              <a:srgbClr val="7ba5c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49" name="Text 40"/>
          <p:cNvSpPr/>
          <p:nvPr/>
        </p:nvSpPr>
        <p:spPr>
          <a:xfrm>
            <a:off x="4791600" y="4087440"/>
            <a:ext cx="292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b1926"/>
                </a:solidFill>
                <a:uFillTx/>
                <a:latin typeface="Calibri"/>
                <a:ea typeface="Calibri"/>
              </a:rPr>
              <a:t>8</a:t>
            </a:r>
            <a:endParaRPr b="0" lang="en-US" sz="1100" strike="noStrike" u="none">
              <a:solidFill>
                <a:srgbClr val="ffffff"/>
              </a:solidFill>
              <a:uFillTx/>
              <a:latin typeface="Arial"/>
            </a:endParaRPr>
          </a:p>
        </p:txBody>
      </p:sp>
      <p:sp>
        <p:nvSpPr>
          <p:cNvPr id="350" name="Text 41"/>
          <p:cNvSpPr/>
          <p:nvPr/>
        </p:nvSpPr>
        <p:spPr>
          <a:xfrm>
            <a:off x="5203080" y="4069080"/>
            <a:ext cx="3492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 </a:t>
            </a:r>
            <a:r>
              <a:rPr b="1" lang="en-US" sz="1250" strike="noStrike" u="none">
                <a:solidFill>
                  <a:srgbClr val="ffffff"/>
                </a:solidFill>
                <a:uFillTx/>
                <a:latin typeface="Calibri"/>
                <a:ea typeface="Calibri"/>
              </a:rPr>
              <a:t>Input Validation Always</a:t>
            </a:r>
            <a:endParaRPr b="0" lang="en-US" sz="1250" strike="noStrike" u="none">
              <a:solidFill>
                <a:srgbClr val="ffffff"/>
              </a:solidFill>
              <a:uFillTx/>
              <a:latin typeface="Arial"/>
            </a:endParaRPr>
          </a:p>
        </p:txBody>
      </p:sp>
      <p:sp>
        <p:nvSpPr>
          <p:cNvPr id="351" name="Text 42"/>
          <p:cNvSpPr/>
          <p:nvPr/>
        </p:nvSpPr>
        <p:spPr>
          <a:xfrm>
            <a:off x="4809600" y="4453200"/>
            <a:ext cx="39132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Never trust client data. Validate all inputs server-side. Sanitize to prevent SQL injection, XSS, and other injection attacks.</a:t>
            </a:r>
            <a:endParaRPr b="0" lang="en-US" sz="10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352"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API Versioning Strategies</a:t>
            </a:r>
            <a:endParaRPr b="0" lang="en-US" sz="3400" strike="noStrike" u="none">
              <a:solidFill>
                <a:srgbClr val="ffffff"/>
              </a:solidFill>
              <a:uFillTx/>
              <a:latin typeface="Arial"/>
            </a:endParaRPr>
          </a:p>
        </p:txBody>
      </p:sp>
      <p:sp>
        <p:nvSpPr>
          <p:cNvPr id="353"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How to evolve your API without breaking clients</a:t>
            </a:r>
            <a:endParaRPr b="0" lang="en-US" sz="1300" strike="noStrike" u="none">
              <a:solidFill>
                <a:srgbClr val="ffffff"/>
              </a:solidFill>
              <a:uFillTx/>
              <a:latin typeface="Arial"/>
            </a:endParaRPr>
          </a:p>
        </p:txBody>
      </p:sp>
      <p:sp>
        <p:nvSpPr>
          <p:cNvPr id="354"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355" name="Shape 3"/>
          <p:cNvSpPr/>
          <p:nvPr/>
        </p:nvSpPr>
        <p:spPr>
          <a:xfrm>
            <a:off x="384120" y="1111680"/>
            <a:ext cx="2761200" cy="3794400"/>
          </a:xfrm>
          <a:prstGeom prst="roundRect">
            <a:avLst>
              <a:gd name="adj" fmla="val 3311"/>
            </a:avLst>
          </a:prstGeom>
          <a:solidFill>
            <a:srgbClr val="13243a"/>
          </a:solidFill>
          <a:ln w="12700">
            <a:solidFill>
              <a:srgbClr val="00c9e0">
                <a:alpha val="6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IN" sz="1800" strike="noStrike" u="none">
              <a:solidFill>
                <a:schemeClr val="dk1"/>
              </a:solidFill>
              <a:uFillTx/>
              <a:latin typeface="Calibri"/>
            </a:endParaRPr>
          </a:p>
        </p:txBody>
      </p:sp>
      <p:sp>
        <p:nvSpPr>
          <p:cNvPr id="356" name="Shape 4"/>
          <p:cNvSpPr/>
          <p:nvPr/>
        </p:nvSpPr>
        <p:spPr>
          <a:xfrm>
            <a:off x="1892880" y="1143000"/>
            <a:ext cx="1142640" cy="255600"/>
          </a:xfrm>
          <a:prstGeom prst="roundRect">
            <a:avLst>
              <a:gd name="adj" fmla="val 21429"/>
            </a:avLst>
          </a:prstGeom>
          <a:solidFill>
            <a:srgbClr val="06d6a0">
              <a:alpha val="80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57" name="Text 5"/>
          <p:cNvSpPr/>
          <p:nvPr/>
        </p:nvSpPr>
        <p:spPr>
          <a:xfrm>
            <a:off x="1892880" y="1143000"/>
            <a:ext cx="11426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trike="noStrike" u="none">
                <a:solidFill>
                  <a:srgbClr val="ffffff"/>
                </a:solidFill>
                <a:uFillTx/>
                <a:latin typeface="Calibri"/>
                <a:ea typeface="Calibri"/>
              </a:rPr>
              <a:t>✓ </a:t>
            </a:r>
            <a:r>
              <a:rPr b="1" lang="en-US" sz="900" strike="noStrike" u="none">
                <a:solidFill>
                  <a:srgbClr val="ffffff"/>
                </a:solidFill>
                <a:uFillTx/>
                <a:latin typeface="Calibri"/>
                <a:ea typeface="Calibri"/>
              </a:rPr>
              <a:t>Recommended</a:t>
            </a:r>
            <a:endParaRPr b="0" lang="en-US" sz="900" strike="noStrike" u="none">
              <a:solidFill>
                <a:srgbClr val="ffffff"/>
              </a:solidFill>
              <a:uFillTx/>
              <a:latin typeface="Arial"/>
            </a:endParaRPr>
          </a:p>
        </p:txBody>
      </p:sp>
      <p:sp>
        <p:nvSpPr>
          <p:cNvPr id="358" name="Text 6"/>
          <p:cNvSpPr/>
          <p:nvPr/>
        </p:nvSpPr>
        <p:spPr>
          <a:xfrm>
            <a:off x="475560" y="1161360"/>
            <a:ext cx="2578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00c9e0"/>
                </a:solidFill>
                <a:uFillTx/>
                <a:latin typeface="Calibri"/>
                <a:ea typeface="Calibri"/>
              </a:rPr>
              <a:t>URI Path Versioning</a:t>
            </a:r>
            <a:endParaRPr b="0" lang="en-US" sz="1300" strike="noStrike" u="none">
              <a:solidFill>
                <a:srgbClr val="ffffff"/>
              </a:solidFill>
              <a:uFillTx/>
              <a:latin typeface="Arial"/>
            </a:endParaRPr>
          </a:p>
        </p:txBody>
      </p:sp>
      <p:sp>
        <p:nvSpPr>
          <p:cNvPr id="359" name="Shape 7"/>
          <p:cNvSpPr/>
          <p:nvPr/>
        </p:nvSpPr>
        <p:spPr>
          <a:xfrm>
            <a:off x="475560" y="1572840"/>
            <a:ext cx="2578320" cy="712800"/>
          </a:xfrm>
          <a:prstGeom prst="roundRect">
            <a:avLst>
              <a:gd name="adj" fmla="val 7692"/>
            </a:avLst>
          </a:prstGeom>
          <a:solidFill>
            <a:srgbClr val="050e1a"/>
          </a:solidFill>
          <a:ln w="12700">
            <a:solidFill>
              <a:srgbClr val="00c9e0">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60" name="Text 8"/>
          <p:cNvSpPr/>
          <p:nvPr/>
        </p:nvSpPr>
        <p:spPr>
          <a:xfrm>
            <a:off x="548640" y="1600200"/>
            <a:ext cx="242280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0c9e0"/>
                </a:solidFill>
                <a:uFillTx/>
                <a:latin typeface="Courier New"/>
                <a:ea typeface="Courier New"/>
              </a:rPr>
              <a:t>GET /api/v1/users</a:t>
            </a:r>
            <a:endParaRPr b="0" lang="en-US" sz="1100" strike="noStrike" u="none">
              <a:solidFill>
                <a:srgbClr val="ffffff"/>
              </a:solidFill>
              <a:uFillTx/>
              <a:latin typeface="Arial"/>
            </a:endParaRPr>
          </a:p>
          <a:p>
            <a:pPr defTabSz="914400">
              <a:lnSpc>
                <a:spcPct val="100000"/>
              </a:lnSpc>
              <a:tabLst>
                <a:tab algn="l" pos="0"/>
              </a:tabLst>
            </a:pPr>
            <a:r>
              <a:rPr b="0" lang="en-US" sz="1100" strike="noStrike" u="none">
                <a:solidFill>
                  <a:srgbClr val="00c9e0"/>
                </a:solidFill>
                <a:uFillTx/>
                <a:latin typeface="Courier New"/>
                <a:ea typeface="Courier New"/>
              </a:rPr>
              <a:t>GET /api/v2/users</a:t>
            </a:r>
            <a:endParaRPr b="0" lang="en-US" sz="1100" strike="noStrike" u="none">
              <a:solidFill>
                <a:srgbClr val="ffffff"/>
              </a:solidFill>
              <a:uFillTx/>
              <a:latin typeface="Arial"/>
            </a:endParaRPr>
          </a:p>
        </p:txBody>
      </p:sp>
      <p:sp>
        <p:nvSpPr>
          <p:cNvPr id="361" name="Text 9"/>
          <p:cNvSpPr/>
          <p:nvPr/>
        </p:nvSpPr>
        <p:spPr>
          <a:xfrm>
            <a:off x="475560" y="2377440"/>
            <a:ext cx="2578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06d6a0"/>
                </a:solidFill>
                <a:uFillTx/>
                <a:latin typeface="Calibri"/>
                <a:ea typeface="Calibri"/>
              </a:rPr>
              <a:t>✅ </a:t>
            </a:r>
            <a:r>
              <a:rPr b="1" lang="en-US" sz="1100" strike="noStrike" u="none">
                <a:solidFill>
                  <a:srgbClr val="06d6a0"/>
                </a:solidFill>
                <a:uFillTx/>
                <a:latin typeface="Calibri"/>
                <a:ea typeface="Calibri"/>
              </a:rPr>
              <a:t>Pros</a:t>
            </a:r>
            <a:endParaRPr b="0" lang="en-US" sz="1100" strike="noStrike" u="none">
              <a:solidFill>
                <a:srgbClr val="ffffff"/>
              </a:solidFill>
              <a:uFillTx/>
              <a:latin typeface="Arial"/>
            </a:endParaRPr>
          </a:p>
        </p:txBody>
      </p:sp>
      <p:sp>
        <p:nvSpPr>
          <p:cNvPr id="362" name="Text 10"/>
          <p:cNvSpPr/>
          <p:nvPr/>
        </p:nvSpPr>
        <p:spPr>
          <a:xfrm>
            <a:off x="521280" y="263340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 </a:t>
            </a:r>
            <a:r>
              <a:rPr b="0" lang="en-US" sz="1050" strike="noStrike" u="none">
                <a:solidFill>
                  <a:srgbClr val="d8eef8"/>
                </a:solidFill>
                <a:uFillTx/>
                <a:latin typeface="Calibri"/>
                <a:ea typeface="Calibri"/>
              </a:rPr>
              <a:t>Most visible and explicit</a:t>
            </a:r>
            <a:endParaRPr b="0" lang="en-US" sz="1050" strike="noStrike" u="none">
              <a:solidFill>
                <a:srgbClr val="ffffff"/>
              </a:solidFill>
              <a:uFillTx/>
              <a:latin typeface="Arial"/>
            </a:endParaRPr>
          </a:p>
        </p:txBody>
      </p:sp>
      <p:sp>
        <p:nvSpPr>
          <p:cNvPr id="363" name="Text 11"/>
          <p:cNvSpPr/>
          <p:nvPr/>
        </p:nvSpPr>
        <p:spPr>
          <a:xfrm>
            <a:off x="521280" y="290772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 </a:t>
            </a:r>
            <a:r>
              <a:rPr b="0" lang="en-US" sz="1050" strike="noStrike" u="none">
                <a:solidFill>
                  <a:srgbClr val="d8eef8"/>
                </a:solidFill>
                <a:uFillTx/>
                <a:latin typeface="Calibri"/>
                <a:ea typeface="Calibri"/>
              </a:rPr>
              <a:t>Easy to test in browser</a:t>
            </a:r>
            <a:endParaRPr b="0" lang="en-US" sz="1050" strike="noStrike" u="none">
              <a:solidFill>
                <a:srgbClr val="ffffff"/>
              </a:solidFill>
              <a:uFillTx/>
              <a:latin typeface="Arial"/>
            </a:endParaRPr>
          </a:p>
        </p:txBody>
      </p:sp>
      <p:sp>
        <p:nvSpPr>
          <p:cNvPr id="364" name="Text 12"/>
          <p:cNvSpPr/>
          <p:nvPr/>
        </p:nvSpPr>
        <p:spPr>
          <a:xfrm>
            <a:off x="521280" y="318204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 </a:t>
            </a:r>
            <a:r>
              <a:rPr b="0" lang="en-US" sz="1050" strike="noStrike" u="none">
                <a:solidFill>
                  <a:srgbClr val="d8eef8"/>
                </a:solidFill>
                <a:uFillTx/>
                <a:latin typeface="Calibri"/>
                <a:ea typeface="Calibri"/>
              </a:rPr>
              <a:t>Easy to route in gateway</a:t>
            </a:r>
            <a:endParaRPr b="0" lang="en-US" sz="1050" strike="noStrike" u="none">
              <a:solidFill>
                <a:srgbClr val="ffffff"/>
              </a:solidFill>
              <a:uFillTx/>
              <a:latin typeface="Arial"/>
            </a:endParaRPr>
          </a:p>
        </p:txBody>
      </p:sp>
      <p:sp>
        <p:nvSpPr>
          <p:cNvPr id="365" name="Text 13"/>
          <p:cNvSpPr/>
          <p:nvPr/>
        </p:nvSpPr>
        <p:spPr>
          <a:xfrm>
            <a:off x="521280" y="3425040"/>
            <a:ext cx="2578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f476f"/>
                </a:solidFill>
                <a:uFillTx/>
                <a:latin typeface="Calibri"/>
                <a:ea typeface="Calibri"/>
              </a:rPr>
              <a:t>❌ </a:t>
            </a:r>
            <a:r>
              <a:rPr b="1" lang="en-US" sz="1100" strike="noStrike" u="none">
                <a:solidFill>
                  <a:srgbClr val="ef476f"/>
                </a:solidFill>
                <a:uFillTx/>
                <a:latin typeface="Calibri"/>
                <a:ea typeface="Calibri"/>
              </a:rPr>
              <a:t>Cons</a:t>
            </a:r>
            <a:endParaRPr b="0" lang="en-US" sz="1100" strike="noStrike" u="none">
              <a:solidFill>
                <a:srgbClr val="ffffff"/>
              </a:solidFill>
              <a:uFillTx/>
              <a:latin typeface="Arial"/>
            </a:endParaRPr>
          </a:p>
        </p:txBody>
      </p:sp>
      <p:sp>
        <p:nvSpPr>
          <p:cNvPr id="366" name="Text 14"/>
          <p:cNvSpPr/>
          <p:nvPr/>
        </p:nvSpPr>
        <p:spPr>
          <a:xfrm>
            <a:off x="521280" y="366300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 </a:t>
            </a:r>
            <a:r>
              <a:rPr b="0" lang="en-US" sz="1050" strike="noStrike" u="none">
                <a:solidFill>
                  <a:srgbClr val="b0cee0"/>
                </a:solidFill>
                <a:uFillTx/>
                <a:latin typeface="Calibri"/>
                <a:ea typeface="Calibri"/>
              </a:rPr>
              <a:t>URL is not 'pure' REST</a:t>
            </a:r>
            <a:endParaRPr b="0" lang="en-US" sz="1050" strike="noStrike" u="none">
              <a:solidFill>
                <a:srgbClr val="ffffff"/>
              </a:solidFill>
              <a:uFillTx/>
              <a:latin typeface="Arial"/>
            </a:endParaRPr>
          </a:p>
        </p:txBody>
      </p:sp>
      <p:sp>
        <p:nvSpPr>
          <p:cNvPr id="367" name="Text 15"/>
          <p:cNvSpPr/>
          <p:nvPr/>
        </p:nvSpPr>
        <p:spPr>
          <a:xfrm>
            <a:off x="521280" y="394380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 </a:t>
            </a:r>
            <a:r>
              <a:rPr b="0" lang="en-US" sz="1050" strike="noStrike" u="none">
                <a:solidFill>
                  <a:srgbClr val="b0cee0"/>
                </a:solidFill>
                <a:uFillTx/>
                <a:latin typeface="Calibri"/>
                <a:ea typeface="Calibri"/>
              </a:rPr>
              <a:t>Duplicates resource addresses</a:t>
            </a:r>
            <a:endParaRPr b="0" lang="en-US" sz="1050" strike="noStrike" u="none">
              <a:solidFill>
                <a:srgbClr val="ffffff"/>
              </a:solidFill>
              <a:uFillTx/>
              <a:latin typeface="Arial"/>
            </a:endParaRPr>
          </a:p>
        </p:txBody>
      </p:sp>
      <p:sp>
        <p:nvSpPr>
          <p:cNvPr id="368" name="Shape 16"/>
          <p:cNvSpPr/>
          <p:nvPr/>
        </p:nvSpPr>
        <p:spPr>
          <a:xfrm>
            <a:off x="3328560" y="1115640"/>
            <a:ext cx="2761200" cy="3794400"/>
          </a:xfrm>
          <a:prstGeom prst="roundRect">
            <a:avLst>
              <a:gd name="adj" fmla="val 3311"/>
            </a:avLst>
          </a:prstGeom>
          <a:solidFill>
            <a:srgbClr val="13243a"/>
          </a:solidFill>
          <a:ln w="12700">
            <a:solidFill>
              <a:srgbClr val="06d6a0">
                <a:alpha val="6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69" name="Text 17"/>
          <p:cNvSpPr/>
          <p:nvPr/>
        </p:nvSpPr>
        <p:spPr>
          <a:xfrm>
            <a:off x="3420000" y="1161360"/>
            <a:ext cx="2578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06d6a0"/>
                </a:solidFill>
                <a:uFillTx/>
                <a:latin typeface="Calibri"/>
                <a:ea typeface="Calibri"/>
              </a:rPr>
              <a:t>Header Versioning</a:t>
            </a:r>
            <a:endParaRPr b="0" lang="en-US" sz="1300" strike="noStrike" u="none">
              <a:solidFill>
                <a:srgbClr val="ffffff"/>
              </a:solidFill>
              <a:uFillTx/>
              <a:latin typeface="Arial"/>
            </a:endParaRPr>
          </a:p>
        </p:txBody>
      </p:sp>
      <p:sp>
        <p:nvSpPr>
          <p:cNvPr id="370" name="Shape 18"/>
          <p:cNvSpPr/>
          <p:nvPr/>
        </p:nvSpPr>
        <p:spPr>
          <a:xfrm>
            <a:off x="3420000" y="1572840"/>
            <a:ext cx="2578320" cy="712800"/>
          </a:xfrm>
          <a:prstGeom prst="roundRect">
            <a:avLst>
              <a:gd name="adj" fmla="val 7692"/>
            </a:avLst>
          </a:prstGeom>
          <a:solidFill>
            <a:srgbClr val="050e1a"/>
          </a:solidFill>
          <a:ln w="12700">
            <a:solidFill>
              <a:srgbClr val="06d6a0">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71" name="Text 19"/>
          <p:cNvSpPr/>
          <p:nvPr/>
        </p:nvSpPr>
        <p:spPr>
          <a:xfrm>
            <a:off x="3493080" y="1600200"/>
            <a:ext cx="242280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6d6a0"/>
                </a:solidFill>
                <a:uFillTx/>
                <a:latin typeface="Courier New"/>
                <a:ea typeface="Courier New"/>
              </a:rPr>
              <a:t>GET /api/users</a:t>
            </a:r>
            <a:endParaRPr b="0" lang="en-US" sz="1100" strike="noStrike" u="none">
              <a:solidFill>
                <a:srgbClr val="ffffff"/>
              </a:solidFill>
              <a:uFillTx/>
              <a:latin typeface="Arial"/>
            </a:endParaRPr>
          </a:p>
          <a:p>
            <a:pPr defTabSz="914400">
              <a:lnSpc>
                <a:spcPct val="100000"/>
              </a:lnSpc>
              <a:tabLst>
                <a:tab algn="l" pos="0"/>
              </a:tabLst>
            </a:pPr>
            <a:r>
              <a:rPr b="0" lang="en-US" sz="1100" strike="noStrike" u="none">
                <a:solidFill>
                  <a:srgbClr val="06d6a0"/>
                </a:solidFill>
                <a:uFillTx/>
                <a:latin typeface="Courier New"/>
                <a:ea typeface="Courier New"/>
              </a:rPr>
              <a:t>API-Version: 2</a:t>
            </a:r>
            <a:endParaRPr b="0" lang="en-US" sz="1100" strike="noStrike" u="none">
              <a:solidFill>
                <a:srgbClr val="ffffff"/>
              </a:solidFill>
              <a:uFillTx/>
              <a:latin typeface="Arial"/>
            </a:endParaRPr>
          </a:p>
        </p:txBody>
      </p:sp>
      <p:sp>
        <p:nvSpPr>
          <p:cNvPr id="372" name="Text 20"/>
          <p:cNvSpPr/>
          <p:nvPr/>
        </p:nvSpPr>
        <p:spPr>
          <a:xfrm>
            <a:off x="3420000" y="2377440"/>
            <a:ext cx="2578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06d6a0"/>
                </a:solidFill>
                <a:uFillTx/>
                <a:latin typeface="Calibri"/>
                <a:ea typeface="Calibri"/>
              </a:rPr>
              <a:t>✅ </a:t>
            </a:r>
            <a:r>
              <a:rPr b="1" lang="en-US" sz="1100" strike="noStrike" u="none">
                <a:solidFill>
                  <a:srgbClr val="06d6a0"/>
                </a:solidFill>
                <a:uFillTx/>
                <a:latin typeface="Calibri"/>
                <a:ea typeface="Calibri"/>
              </a:rPr>
              <a:t>Pros</a:t>
            </a:r>
            <a:endParaRPr b="0" lang="en-US" sz="1100" strike="noStrike" u="none">
              <a:solidFill>
                <a:srgbClr val="ffffff"/>
              </a:solidFill>
              <a:uFillTx/>
              <a:latin typeface="Arial"/>
            </a:endParaRPr>
          </a:p>
        </p:txBody>
      </p:sp>
      <p:sp>
        <p:nvSpPr>
          <p:cNvPr id="373" name="Text 21"/>
          <p:cNvSpPr/>
          <p:nvPr/>
        </p:nvSpPr>
        <p:spPr>
          <a:xfrm>
            <a:off x="3465720" y="263340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 </a:t>
            </a:r>
            <a:r>
              <a:rPr b="0" lang="en-US" sz="1050" strike="noStrike" u="none">
                <a:solidFill>
                  <a:srgbClr val="d8eef8"/>
                </a:solidFill>
                <a:uFillTx/>
                <a:latin typeface="Calibri"/>
                <a:ea typeface="Calibri"/>
              </a:rPr>
              <a:t>Clean URLs</a:t>
            </a:r>
            <a:endParaRPr b="0" lang="en-US" sz="1050" strike="noStrike" u="none">
              <a:solidFill>
                <a:srgbClr val="ffffff"/>
              </a:solidFill>
              <a:uFillTx/>
              <a:latin typeface="Arial"/>
            </a:endParaRPr>
          </a:p>
        </p:txBody>
      </p:sp>
      <p:sp>
        <p:nvSpPr>
          <p:cNvPr id="374" name="Text 22"/>
          <p:cNvSpPr/>
          <p:nvPr/>
        </p:nvSpPr>
        <p:spPr>
          <a:xfrm>
            <a:off x="3465720" y="290772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 </a:t>
            </a:r>
            <a:r>
              <a:rPr b="0" lang="en-US" sz="1050" strike="noStrike" u="none">
                <a:solidFill>
                  <a:srgbClr val="d8eef8"/>
                </a:solidFill>
                <a:uFillTx/>
                <a:latin typeface="Calibri"/>
                <a:ea typeface="Calibri"/>
              </a:rPr>
              <a:t>Follows HTTP spec spirit</a:t>
            </a:r>
            <a:endParaRPr b="0" lang="en-US" sz="1050" strike="noStrike" u="none">
              <a:solidFill>
                <a:srgbClr val="ffffff"/>
              </a:solidFill>
              <a:uFillTx/>
              <a:latin typeface="Arial"/>
            </a:endParaRPr>
          </a:p>
        </p:txBody>
      </p:sp>
      <p:sp>
        <p:nvSpPr>
          <p:cNvPr id="375" name="Text 23"/>
          <p:cNvSpPr/>
          <p:nvPr/>
        </p:nvSpPr>
        <p:spPr>
          <a:xfrm>
            <a:off x="3420000" y="3246120"/>
            <a:ext cx="2578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f476f"/>
                </a:solidFill>
                <a:uFillTx/>
                <a:latin typeface="Calibri"/>
                <a:ea typeface="Calibri"/>
              </a:rPr>
              <a:t>❌ </a:t>
            </a:r>
            <a:r>
              <a:rPr b="1" lang="en-US" sz="1100" strike="noStrike" u="none">
                <a:solidFill>
                  <a:srgbClr val="ef476f"/>
                </a:solidFill>
                <a:uFillTx/>
                <a:latin typeface="Calibri"/>
                <a:ea typeface="Calibri"/>
              </a:rPr>
              <a:t>Cons</a:t>
            </a:r>
            <a:endParaRPr b="0" lang="en-US" sz="1100" strike="noStrike" u="none">
              <a:solidFill>
                <a:srgbClr val="ffffff"/>
              </a:solidFill>
              <a:uFillTx/>
              <a:latin typeface="Arial"/>
            </a:endParaRPr>
          </a:p>
        </p:txBody>
      </p:sp>
      <p:sp>
        <p:nvSpPr>
          <p:cNvPr id="376" name="Text 24"/>
          <p:cNvSpPr/>
          <p:nvPr/>
        </p:nvSpPr>
        <p:spPr>
          <a:xfrm>
            <a:off x="3465720" y="349308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 </a:t>
            </a:r>
            <a:r>
              <a:rPr b="0" lang="en-US" sz="1050" strike="noStrike" u="none">
                <a:solidFill>
                  <a:srgbClr val="b0cee0"/>
                </a:solidFill>
                <a:uFillTx/>
                <a:latin typeface="Calibri"/>
                <a:ea typeface="Calibri"/>
              </a:rPr>
              <a:t>Harder to test (need tools)</a:t>
            </a:r>
            <a:endParaRPr b="0" lang="en-US" sz="1050" strike="noStrike" u="none">
              <a:solidFill>
                <a:srgbClr val="ffffff"/>
              </a:solidFill>
              <a:uFillTx/>
              <a:latin typeface="Arial"/>
            </a:endParaRPr>
          </a:p>
        </p:txBody>
      </p:sp>
      <p:sp>
        <p:nvSpPr>
          <p:cNvPr id="377" name="Text 25"/>
          <p:cNvSpPr/>
          <p:nvPr/>
        </p:nvSpPr>
        <p:spPr>
          <a:xfrm>
            <a:off x="3465720" y="376740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 </a:t>
            </a:r>
            <a:r>
              <a:rPr b="0" lang="en-US" sz="1050" strike="noStrike" u="none">
                <a:solidFill>
                  <a:srgbClr val="b0cee0"/>
                </a:solidFill>
                <a:uFillTx/>
                <a:latin typeface="Calibri"/>
                <a:ea typeface="Calibri"/>
              </a:rPr>
              <a:t>Less discoverable</a:t>
            </a:r>
            <a:endParaRPr b="0" lang="en-US" sz="1050" strike="noStrike" u="none">
              <a:solidFill>
                <a:srgbClr val="ffffff"/>
              </a:solidFill>
              <a:uFillTx/>
              <a:latin typeface="Arial"/>
            </a:endParaRPr>
          </a:p>
        </p:txBody>
      </p:sp>
      <p:sp>
        <p:nvSpPr>
          <p:cNvPr id="378" name="Shape 26"/>
          <p:cNvSpPr/>
          <p:nvPr/>
        </p:nvSpPr>
        <p:spPr>
          <a:xfrm>
            <a:off x="6272640" y="1115640"/>
            <a:ext cx="2761200" cy="3794400"/>
          </a:xfrm>
          <a:prstGeom prst="roundRect">
            <a:avLst>
              <a:gd name="adj" fmla="val 3311"/>
            </a:avLst>
          </a:prstGeom>
          <a:solidFill>
            <a:srgbClr val="13243a"/>
          </a:solidFill>
          <a:ln w="12700">
            <a:solidFill>
              <a:srgbClr val="ffd166">
                <a:alpha val="60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79" name="Text 27"/>
          <p:cNvSpPr/>
          <p:nvPr/>
        </p:nvSpPr>
        <p:spPr>
          <a:xfrm>
            <a:off x="6364080" y="1161360"/>
            <a:ext cx="2578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ffd166"/>
                </a:solidFill>
                <a:uFillTx/>
                <a:latin typeface="Calibri"/>
                <a:ea typeface="Calibri"/>
              </a:rPr>
              <a:t>Query Param Versioning</a:t>
            </a:r>
            <a:endParaRPr b="0" lang="en-US" sz="1300" strike="noStrike" u="none">
              <a:solidFill>
                <a:srgbClr val="ffffff"/>
              </a:solidFill>
              <a:uFillTx/>
              <a:latin typeface="Arial"/>
            </a:endParaRPr>
          </a:p>
        </p:txBody>
      </p:sp>
      <p:sp>
        <p:nvSpPr>
          <p:cNvPr id="380" name="Shape 28"/>
          <p:cNvSpPr/>
          <p:nvPr/>
        </p:nvSpPr>
        <p:spPr>
          <a:xfrm>
            <a:off x="6364080" y="1572840"/>
            <a:ext cx="2578320" cy="712800"/>
          </a:xfrm>
          <a:prstGeom prst="roundRect">
            <a:avLst>
              <a:gd name="adj" fmla="val 7692"/>
            </a:avLst>
          </a:prstGeom>
          <a:solidFill>
            <a:srgbClr val="050e1a"/>
          </a:solidFill>
          <a:ln w="12700">
            <a:solidFill>
              <a:srgbClr val="ffd166">
                <a:alpha val="4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81" name="Text 29"/>
          <p:cNvSpPr/>
          <p:nvPr/>
        </p:nvSpPr>
        <p:spPr>
          <a:xfrm>
            <a:off x="6437520" y="1600200"/>
            <a:ext cx="242280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ffd166"/>
                </a:solidFill>
                <a:uFillTx/>
                <a:latin typeface="Courier New"/>
                <a:ea typeface="Courier New"/>
              </a:rPr>
              <a:t>GET /api/users?version=2</a:t>
            </a:r>
            <a:endParaRPr b="0" lang="en-US" sz="1100" strike="noStrike" u="none">
              <a:solidFill>
                <a:srgbClr val="ffffff"/>
              </a:solidFill>
              <a:uFillTx/>
              <a:latin typeface="Arial"/>
            </a:endParaRPr>
          </a:p>
        </p:txBody>
      </p:sp>
      <p:sp>
        <p:nvSpPr>
          <p:cNvPr id="382" name="Text 30"/>
          <p:cNvSpPr/>
          <p:nvPr/>
        </p:nvSpPr>
        <p:spPr>
          <a:xfrm>
            <a:off x="6364080" y="2377440"/>
            <a:ext cx="2578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06d6a0"/>
                </a:solidFill>
                <a:uFillTx/>
                <a:latin typeface="Calibri"/>
                <a:ea typeface="Calibri"/>
              </a:rPr>
              <a:t>✅ </a:t>
            </a:r>
            <a:r>
              <a:rPr b="1" lang="en-US" sz="1100" strike="noStrike" u="none">
                <a:solidFill>
                  <a:srgbClr val="06d6a0"/>
                </a:solidFill>
                <a:uFillTx/>
                <a:latin typeface="Calibri"/>
                <a:ea typeface="Calibri"/>
              </a:rPr>
              <a:t>Pros</a:t>
            </a:r>
            <a:endParaRPr b="0" lang="en-US" sz="1100" strike="noStrike" u="none">
              <a:solidFill>
                <a:srgbClr val="ffffff"/>
              </a:solidFill>
              <a:uFillTx/>
              <a:latin typeface="Arial"/>
            </a:endParaRPr>
          </a:p>
        </p:txBody>
      </p:sp>
      <p:sp>
        <p:nvSpPr>
          <p:cNvPr id="383" name="Text 31"/>
          <p:cNvSpPr/>
          <p:nvPr/>
        </p:nvSpPr>
        <p:spPr>
          <a:xfrm>
            <a:off x="6409800" y="263340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 </a:t>
            </a:r>
            <a:r>
              <a:rPr b="0" lang="en-US" sz="1050" strike="noStrike" u="none">
                <a:solidFill>
                  <a:srgbClr val="d8eef8"/>
                </a:solidFill>
                <a:uFillTx/>
                <a:latin typeface="Calibri"/>
                <a:ea typeface="Calibri"/>
              </a:rPr>
              <a:t>Easy to test in browser</a:t>
            </a:r>
            <a:endParaRPr b="0" lang="en-US" sz="1050" strike="noStrike" u="none">
              <a:solidFill>
                <a:srgbClr val="ffffff"/>
              </a:solidFill>
              <a:uFillTx/>
              <a:latin typeface="Arial"/>
            </a:endParaRPr>
          </a:p>
        </p:txBody>
      </p:sp>
      <p:sp>
        <p:nvSpPr>
          <p:cNvPr id="384" name="Text 32"/>
          <p:cNvSpPr/>
          <p:nvPr/>
        </p:nvSpPr>
        <p:spPr>
          <a:xfrm>
            <a:off x="6409800" y="290772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d8eef8"/>
                </a:solidFill>
                <a:uFillTx/>
                <a:latin typeface="Calibri"/>
                <a:ea typeface="Calibri"/>
              </a:rPr>
              <a:t>• </a:t>
            </a:r>
            <a:r>
              <a:rPr b="0" lang="en-US" sz="1050" strike="noStrike" u="none">
                <a:solidFill>
                  <a:srgbClr val="d8eef8"/>
                </a:solidFill>
                <a:uFillTx/>
                <a:latin typeface="Calibri"/>
                <a:ea typeface="Calibri"/>
              </a:rPr>
              <a:t>Backward compatible</a:t>
            </a:r>
            <a:endParaRPr b="0" lang="en-US" sz="1050" strike="noStrike" u="none">
              <a:solidFill>
                <a:srgbClr val="ffffff"/>
              </a:solidFill>
              <a:uFillTx/>
              <a:latin typeface="Arial"/>
            </a:endParaRPr>
          </a:p>
        </p:txBody>
      </p:sp>
      <p:sp>
        <p:nvSpPr>
          <p:cNvPr id="385" name="Text 33"/>
          <p:cNvSpPr/>
          <p:nvPr/>
        </p:nvSpPr>
        <p:spPr>
          <a:xfrm>
            <a:off x="6364080" y="3246120"/>
            <a:ext cx="2578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f476f"/>
                </a:solidFill>
                <a:uFillTx/>
                <a:latin typeface="Calibri"/>
                <a:ea typeface="Calibri"/>
              </a:rPr>
              <a:t>❌ </a:t>
            </a:r>
            <a:r>
              <a:rPr b="1" lang="en-US" sz="1100" strike="noStrike" u="none">
                <a:solidFill>
                  <a:srgbClr val="ef476f"/>
                </a:solidFill>
                <a:uFillTx/>
                <a:latin typeface="Calibri"/>
                <a:ea typeface="Calibri"/>
              </a:rPr>
              <a:t>Cons</a:t>
            </a:r>
            <a:endParaRPr b="0" lang="en-US" sz="1100" strike="noStrike" u="none">
              <a:solidFill>
                <a:srgbClr val="ffffff"/>
              </a:solidFill>
              <a:uFillTx/>
              <a:latin typeface="Arial"/>
            </a:endParaRPr>
          </a:p>
        </p:txBody>
      </p:sp>
      <p:sp>
        <p:nvSpPr>
          <p:cNvPr id="386" name="Text 34"/>
          <p:cNvSpPr/>
          <p:nvPr/>
        </p:nvSpPr>
        <p:spPr>
          <a:xfrm>
            <a:off x="6409800" y="349308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 </a:t>
            </a:r>
            <a:r>
              <a:rPr b="0" lang="en-US" sz="1050" strike="noStrike" u="none">
                <a:solidFill>
                  <a:srgbClr val="b0cee0"/>
                </a:solidFill>
                <a:uFillTx/>
                <a:latin typeface="Calibri"/>
                <a:ea typeface="Calibri"/>
              </a:rPr>
              <a:t>Mixes versioning with data params</a:t>
            </a:r>
            <a:endParaRPr b="0" lang="en-US" sz="1050" strike="noStrike" u="none">
              <a:solidFill>
                <a:srgbClr val="ffffff"/>
              </a:solidFill>
              <a:uFillTx/>
              <a:latin typeface="Arial"/>
            </a:endParaRPr>
          </a:p>
        </p:txBody>
      </p:sp>
      <p:sp>
        <p:nvSpPr>
          <p:cNvPr id="387" name="Text 35"/>
          <p:cNvSpPr/>
          <p:nvPr/>
        </p:nvSpPr>
        <p:spPr>
          <a:xfrm>
            <a:off x="6409800" y="3767400"/>
            <a:ext cx="2486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0cee0"/>
                </a:solidFill>
                <a:uFillTx/>
                <a:latin typeface="Calibri"/>
                <a:ea typeface="Calibri"/>
              </a:rPr>
              <a:t>• </a:t>
            </a:r>
            <a:r>
              <a:rPr b="0" lang="en-US" sz="1050" strike="noStrike" u="none">
                <a:solidFill>
                  <a:srgbClr val="b0cee0"/>
                </a:solidFill>
                <a:uFillTx/>
                <a:latin typeface="Calibri"/>
                <a:ea typeface="Calibri"/>
              </a:rPr>
              <a:t>Can be cached incorrectly</a:t>
            </a:r>
            <a:endParaRPr b="0" lang="en-US" sz="1050" strike="noStrike" u="none">
              <a:solidFill>
                <a:srgbClr val="ffffff"/>
              </a:solidFill>
              <a:uFillTx/>
              <a:latin typeface="Arial"/>
            </a:endParaRPr>
          </a:p>
        </p:txBody>
      </p:sp>
      <p:sp>
        <p:nvSpPr>
          <p:cNvPr id="388" name="Text 37"/>
          <p:cNvSpPr/>
          <p:nvPr/>
        </p:nvSpPr>
        <p:spPr>
          <a:xfrm>
            <a:off x="804600" y="4851720"/>
            <a:ext cx="81378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trike="noStrike" u="none">
                <a:solidFill>
                  <a:srgbClr val="48d9ee"/>
                </a:solidFill>
                <a:uFillTx/>
                <a:latin typeface="Calibri"/>
                <a:ea typeface="Calibri"/>
              </a:rPr>
              <a:t>💡  </a:t>
            </a:r>
            <a:r>
              <a:rPr b="0" lang="en-US" sz="1150" strike="noStrike" u="none">
                <a:solidFill>
                  <a:srgbClr val="48d9ee"/>
                </a:solidFill>
                <a:uFillTx/>
                <a:latin typeface="Calibri"/>
                <a:ea typeface="Calibri"/>
              </a:rPr>
              <a:t>Rule: Never make breaking changes to an existing version. Create v2 and deprecate v1 gracefully with sunset headers.</a:t>
            </a:r>
            <a:endParaRPr b="0" lang="en-US" sz="115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389"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Real-World REST APIs</a:t>
            </a:r>
            <a:endParaRPr b="0" lang="en-US" sz="3400" strike="noStrike" u="none">
              <a:solidFill>
                <a:srgbClr val="ffffff"/>
              </a:solidFill>
              <a:uFillTx/>
              <a:latin typeface="Arial"/>
            </a:endParaRPr>
          </a:p>
        </p:txBody>
      </p:sp>
      <p:sp>
        <p:nvSpPr>
          <p:cNvPr id="390"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Every tap, scroll and payment — powered by REST</a:t>
            </a:r>
            <a:endParaRPr b="0" lang="en-US" sz="1300" strike="noStrike" u="none">
              <a:solidFill>
                <a:srgbClr val="ffffff"/>
              </a:solidFill>
              <a:uFillTx/>
              <a:latin typeface="Arial"/>
            </a:endParaRPr>
          </a:p>
        </p:txBody>
      </p:sp>
      <p:sp>
        <p:nvSpPr>
          <p:cNvPr id="391"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392" name="Shape 3"/>
          <p:cNvSpPr/>
          <p:nvPr/>
        </p:nvSpPr>
        <p:spPr>
          <a:xfrm>
            <a:off x="384120" y="1115640"/>
            <a:ext cx="2761200" cy="1782720"/>
          </a:xfrm>
          <a:prstGeom prst="roundRect">
            <a:avLst>
              <a:gd name="adj" fmla="val 5128"/>
            </a:avLst>
          </a:prstGeom>
          <a:solidFill>
            <a:srgbClr val="13243a"/>
          </a:solidFill>
          <a:ln w="12700">
            <a:solidFill>
              <a:srgbClr val="00c9e0">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93" name="Text 4"/>
          <p:cNvSpPr/>
          <p:nvPr/>
        </p:nvSpPr>
        <p:spPr>
          <a:xfrm>
            <a:off x="475560" y="1207080"/>
            <a:ext cx="2578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00c9e0"/>
                </a:solidFill>
                <a:uFillTx/>
                <a:latin typeface="Calibri"/>
                <a:ea typeface="Calibri"/>
              </a:rPr>
              <a:t>🐦 </a:t>
            </a:r>
            <a:r>
              <a:rPr b="1" lang="en-US" sz="1250" strike="noStrike" u="none">
                <a:solidFill>
                  <a:srgbClr val="00c9e0"/>
                </a:solidFill>
                <a:uFillTx/>
                <a:latin typeface="Calibri"/>
                <a:ea typeface="Calibri"/>
              </a:rPr>
              <a:t>Twitter / X API</a:t>
            </a:r>
            <a:endParaRPr b="0" lang="en-US" sz="1250" strike="noStrike" u="none">
              <a:solidFill>
                <a:srgbClr val="ffffff"/>
              </a:solidFill>
              <a:uFillTx/>
              <a:latin typeface="Arial"/>
            </a:endParaRPr>
          </a:p>
        </p:txBody>
      </p:sp>
      <p:sp>
        <p:nvSpPr>
          <p:cNvPr id="394" name="Shape 5"/>
          <p:cNvSpPr/>
          <p:nvPr/>
        </p:nvSpPr>
        <p:spPr>
          <a:xfrm>
            <a:off x="475560" y="1572840"/>
            <a:ext cx="2578320" cy="658080"/>
          </a:xfrm>
          <a:prstGeom prst="roundRect">
            <a:avLst>
              <a:gd name="adj" fmla="val 8333"/>
            </a:avLst>
          </a:prstGeom>
          <a:solidFill>
            <a:srgbClr val="050e1a"/>
          </a:solidFill>
          <a:ln w="12700">
            <a:solidFill>
              <a:srgbClr val="00c9e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95" name="Text 6"/>
          <p:cNvSpPr/>
          <p:nvPr/>
        </p:nvSpPr>
        <p:spPr>
          <a:xfrm>
            <a:off x="548640" y="1600200"/>
            <a:ext cx="2422800" cy="603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00c9e0"/>
                </a:solidFill>
                <a:uFillTx/>
                <a:latin typeface="Courier New"/>
                <a:ea typeface="Courier New"/>
              </a:rPr>
              <a:t>GET /2/tweets/123</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00c9e0"/>
                </a:solidFill>
                <a:uFillTx/>
                <a:latin typeface="Courier New"/>
                <a:ea typeface="Courier New"/>
              </a:rPr>
              <a:t>Auth: Bearer token</a:t>
            </a:r>
            <a:endParaRPr b="0" lang="en-US" sz="950" strike="noStrike" u="none">
              <a:solidFill>
                <a:srgbClr val="ffffff"/>
              </a:solidFill>
              <a:uFillTx/>
              <a:latin typeface="Arial"/>
            </a:endParaRPr>
          </a:p>
        </p:txBody>
      </p:sp>
      <p:sp>
        <p:nvSpPr>
          <p:cNvPr id="396" name="Text 7"/>
          <p:cNvSpPr/>
          <p:nvPr/>
        </p:nvSpPr>
        <p:spPr>
          <a:xfrm>
            <a:off x="475560" y="2277000"/>
            <a:ext cx="25783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Used by: Analytics tools, bots, social dashboards, monitoring</a:t>
            </a:r>
            <a:endParaRPr b="0" lang="en-US" sz="1000" strike="noStrike" u="none">
              <a:solidFill>
                <a:srgbClr val="ffffff"/>
              </a:solidFill>
              <a:uFillTx/>
              <a:latin typeface="Arial"/>
            </a:endParaRPr>
          </a:p>
        </p:txBody>
      </p:sp>
      <p:sp>
        <p:nvSpPr>
          <p:cNvPr id="397" name="Shape 8"/>
          <p:cNvSpPr/>
          <p:nvPr/>
        </p:nvSpPr>
        <p:spPr>
          <a:xfrm>
            <a:off x="3328560" y="1115640"/>
            <a:ext cx="2761200" cy="1782720"/>
          </a:xfrm>
          <a:prstGeom prst="roundRect">
            <a:avLst>
              <a:gd name="adj" fmla="val 5128"/>
            </a:avLst>
          </a:prstGeom>
          <a:solidFill>
            <a:srgbClr val="13243a"/>
          </a:solidFill>
          <a:ln w="12700">
            <a:solidFill>
              <a:srgbClr val="06d6a0">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398" name="Text 9"/>
          <p:cNvSpPr/>
          <p:nvPr/>
        </p:nvSpPr>
        <p:spPr>
          <a:xfrm>
            <a:off x="3420000" y="1207080"/>
            <a:ext cx="2578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06d6a0"/>
                </a:solidFill>
                <a:uFillTx/>
                <a:latin typeface="Calibri"/>
                <a:ea typeface="Calibri"/>
              </a:rPr>
              <a:t>🐙 </a:t>
            </a:r>
            <a:r>
              <a:rPr b="1" lang="en-US" sz="1250" strike="noStrike" u="none">
                <a:solidFill>
                  <a:srgbClr val="06d6a0"/>
                </a:solidFill>
                <a:uFillTx/>
                <a:latin typeface="Calibri"/>
                <a:ea typeface="Calibri"/>
              </a:rPr>
              <a:t>GitHub API</a:t>
            </a:r>
            <a:endParaRPr b="0" lang="en-US" sz="1250" strike="noStrike" u="none">
              <a:solidFill>
                <a:srgbClr val="ffffff"/>
              </a:solidFill>
              <a:uFillTx/>
              <a:latin typeface="Arial"/>
            </a:endParaRPr>
          </a:p>
        </p:txBody>
      </p:sp>
      <p:sp>
        <p:nvSpPr>
          <p:cNvPr id="399" name="Shape 10"/>
          <p:cNvSpPr/>
          <p:nvPr/>
        </p:nvSpPr>
        <p:spPr>
          <a:xfrm>
            <a:off x="3420000" y="1572840"/>
            <a:ext cx="2578320" cy="658080"/>
          </a:xfrm>
          <a:prstGeom prst="roundRect">
            <a:avLst>
              <a:gd name="adj" fmla="val 8333"/>
            </a:avLst>
          </a:prstGeom>
          <a:solidFill>
            <a:srgbClr val="050e1a"/>
          </a:solidFill>
          <a:ln w="12700">
            <a:solidFill>
              <a:srgbClr val="06d6a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00" name="Text 11"/>
          <p:cNvSpPr/>
          <p:nvPr/>
        </p:nvSpPr>
        <p:spPr>
          <a:xfrm>
            <a:off x="3493080" y="1600200"/>
            <a:ext cx="2422800" cy="603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06d6a0"/>
                </a:solidFill>
                <a:uFillTx/>
                <a:latin typeface="Courier New"/>
                <a:ea typeface="Courier New"/>
              </a:rPr>
              <a:t>POST /repos/user/repo/issues</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06d6a0"/>
                </a:solidFill>
                <a:uFillTx/>
                <a:latin typeface="Courier New"/>
                <a:ea typeface="Courier New"/>
              </a:rPr>
              <a:t>Body: {"title":"Bug fix"}</a:t>
            </a:r>
            <a:endParaRPr b="0" lang="en-US" sz="950" strike="noStrike" u="none">
              <a:solidFill>
                <a:srgbClr val="ffffff"/>
              </a:solidFill>
              <a:uFillTx/>
              <a:latin typeface="Arial"/>
            </a:endParaRPr>
          </a:p>
        </p:txBody>
      </p:sp>
      <p:sp>
        <p:nvSpPr>
          <p:cNvPr id="401" name="Text 12"/>
          <p:cNvSpPr/>
          <p:nvPr/>
        </p:nvSpPr>
        <p:spPr>
          <a:xfrm>
            <a:off x="3420000" y="2277000"/>
            <a:ext cx="25783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Used by: CI/CD pipelines, project management, bots</a:t>
            </a:r>
            <a:endParaRPr b="0" lang="en-US" sz="1000" strike="noStrike" u="none">
              <a:solidFill>
                <a:srgbClr val="ffffff"/>
              </a:solidFill>
              <a:uFillTx/>
              <a:latin typeface="Arial"/>
            </a:endParaRPr>
          </a:p>
        </p:txBody>
      </p:sp>
      <p:sp>
        <p:nvSpPr>
          <p:cNvPr id="402" name="Shape 13"/>
          <p:cNvSpPr/>
          <p:nvPr/>
        </p:nvSpPr>
        <p:spPr>
          <a:xfrm>
            <a:off x="6272640" y="1115640"/>
            <a:ext cx="2761200" cy="1782720"/>
          </a:xfrm>
          <a:prstGeom prst="roundRect">
            <a:avLst>
              <a:gd name="adj" fmla="val 5128"/>
            </a:avLst>
          </a:prstGeom>
          <a:solidFill>
            <a:srgbClr val="13243a"/>
          </a:solidFill>
          <a:ln w="12700">
            <a:solidFill>
              <a:srgbClr val="ffd166">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03" name="Text 14"/>
          <p:cNvSpPr/>
          <p:nvPr/>
        </p:nvSpPr>
        <p:spPr>
          <a:xfrm>
            <a:off x="6364080" y="1207080"/>
            <a:ext cx="2578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d166"/>
                </a:solidFill>
                <a:uFillTx/>
                <a:latin typeface="Calibri"/>
                <a:ea typeface="Calibri"/>
              </a:rPr>
              <a:t>💳 </a:t>
            </a:r>
            <a:r>
              <a:rPr b="1" lang="en-US" sz="1250" strike="noStrike" u="none">
                <a:solidFill>
                  <a:srgbClr val="ffd166"/>
                </a:solidFill>
                <a:uFillTx/>
                <a:latin typeface="Calibri"/>
                <a:ea typeface="Calibri"/>
              </a:rPr>
              <a:t>Stripe API</a:t>
            </a:r>
            <a:endParaRPr b="0" lang="en-US" sz="1250" strike="noStrike" u="none">
              <a:solidFill>
                <a:srgbClr val="ffffff"/>
              </a:solidFill>
              <a:uFillTx/>
              <a:latin typeface="Arial"/>
            </a:endParaRPr>
          </a:p>
        </p:txBody>
      </p:sp>
      <p:sp>
        <p:nvSpPr>
          <p:cNvPr id="404" name="Shape 15"/>
          <p:cNvSpPr/>
          <p:nvPr/>
        </p:nvSpPr>
        <p:spPr>
          <a:xfrm>
            <a:off x="6364080" y="1572840"/>
            <a:ext cx="2578320" cy="658080"/>
          </a:xfrm>
          <a:prstGeom prst="roundRect">
            <a:avLst>
              <a:gd name="adj" fmla="val 8333"/>
            </a:avLst>
          </a:prstGeom>
          <a:solidFill>
            <a:srgbClr val="050e1a"/>
          </a:solidFill>
          <a:ln w="12700">
            <a:solidFill>
              <a:srgbClr val="ffd166">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05" name="Text 16"/>
          <p:cNvSpPr/>
          <p:nvPr/>
        </p:nvSpPr>
        <p:spPr>
          <a:xfrm>
            <a:off x="6437520" y="1600200"/>
            <a:ext cx="2422800" cy="603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ffd166"/>
                </a:solidFill>
                <a:uFillTx/>
                <a:latin typeface="Courier New"/>
                <a:ea typeface="Courier New"/>
              </a:rPr>
              <a:t>POST /v1/payment_intents</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ffd166"/>
                </a:solidFill>
                <a:uFillTx/>
                <a:latin typeface="Courier New"/>
                <a:ea typeface="Courier New"/>
              </a:rPr>
              <a:t>Body: {"amount":999,...}</a:t>
            </a:r>
            <a:endParaRPr b="0" lang="en-US" sz="950" strike="noStrike" u="none">
              <a:solidFill>
                <a:srgbClr val="ffffff"/>
              </a:solidFill>
              <a:uFillTx/>
              <a:latin typeface="Arial"/>
            </a:endParaRPr>
          </a:p>
        </p:txBody>
      </p:sp>
      <p:sp>
        <p:nvSpPr>
          <p:cNvPr id="406" name="Text 17"/>
          <p:cNvSpPr/>
          <p:nvPr/>
        </p:nvSpPr>
        <p:spPr>
          <a:xfrm>
            <a:off x="6364080" y="2277000"/>
            <a:ext cx="25783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Used by: E-commerce, SaaS billing, marketplaces</a:t>
            </a:r>
            <a:endParaRPr b="0" lang="en-US" sz="1000" strike="noStrike" u="none">
              <a:solidFill>
                <a:srgbClr val="ffffff"/>
              </a:solidFill>
              <a:uFillTx/>
              <a:latin typeface="Arial"/>
            </a:endParaRPr>
          </a:p>
        </p:txBody>
      </p:sp>
      <p:sp>
        <p:nvSpPr>
          <p:cNvPr id="407" name="Shape 18"/>
          <p:cNvSpPr/>
          <p:nvPr/>
        </p:nvSpPr>
        <p:spPr>
          <a:xfrm>
            <a:off x="384120" y="3054240"/>
            <a:ext cx="2761200" cy="1782720"/>
          </a:xfrm>
          <a:prstGeom prst="roundRect">
            <a:avLst>
              <a:gd name="adj" fmla="val 5128"/>
            </a:avLst>
          </a:prstGeom>
          <a:solidFill>
            <a:srgbClr val="13243a"/>
          </a:solidFill>
          <a:ln w="12700">
            <a:solidFill>
              <a:srgbClr val="ef476f">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08" name="Text 19"/>
          <p:cNvSpPr/>
          <p:nvPr/>
        </p:nvSpPr>
        <p:spPr>
          <a:xfrm>
            <a:off x="475560" y="3145680"/>
            <a:ext cx="2578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ef476f"/>
                </a:solidFill>
                <a:uFillTx/>
                <a:latin typeface="Calibri"/>
                <a:ea typeface="Calibri"/>
              </a:rPr>
              <a:t>🗺️ </a:t>
            </a:r>
            <a:r>
              <a:rPr b="1" lang="en-US" sz="1250" strike="noStrike" u="none">
                <a:solidFill>
                  <a:srgbClr val="ef476f"/>
                </a:solidFill>
                <a:uFillTx/>
                <a:latin typeface="Calibri"/>
                <a:ea typeface="Calibri"/>
              </a:rPr>
              <a:t>Google Maps API</a:t>
            </a:r>
            <a:endParaRPr b="0" lang="en-US" sz="1250" strike="noStrike" u="none">
              <a:solidFill>
                <a:srgbClr val="ffffff"/>
              </a:solidFill>
              <a:uFillTx/>
              <a:latin typeface="Arial"/>
            </a:endParaRPr>
          </a:p>
        </p:txBody>
      </p:sp>
      <p:sp>
        <p:nvSpPr>
          <p:cNvPr id="409" name="Shape 20"/>
          <p:cNvSpPr/>
          <p:nvPr/>
        </p:nvSpPr>
        <p:spPr>
          <a:xfrm>
            <a:off x="475560" y="3511440"/>
            <a:ext cx="2578320" cy="658080"/>
          </a:xfrm>
          <a:prstGeom prst="roundRect">
            <a:avLst>
              <a:gd name="adj" fmla="val 8333"/>
            </a:avLst>
          </a:prstGeom>
          <a:solidFill>
            <a:srgbClr val="050e1a"/>
          </a:solidFill>
          <a:ln w="12700">
            <a:solidFill>
              <a:srgbClr val="ef476f">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10" name="Text 21"/>
          <p:cNvSpPr/>
          <p:nvPr/>
        </p:nvSpPr>
        <p:spPr>
          <a:xfrm>
            <a:off x="548640" y="3538800"/>
            <a:ext cx="2422800" cy="603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ef476f"/>
                </a:solidFill>
                <a:uFillTx/>
                <a:latin typeface="Courier New"/>
                <a:ea typeface="Courier New"/>
              </a:rPr>
              <a:t>GET /maps/api/geocode/json</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ef476f"/>
                </a:solidFill>
                <a:uFillTx/>
                <a:latin typeface="Courier New"/>
                <a:ea typeface="Courier New"/>
              </a:rPr>
              <a:t>?address=Mumbai&amp;key=XXX</a:t>
            </a:r>
            <a:endParaRPr b="0" lang="en-US" sz="950" strike="noStrike" u="none">
              <a:solidFill>
                <a:srgbClr val="ffffff"/>
              </a:solidFill>
              <a:uFillTx/>
              <a:latin typeface="Arial"/>
            </a:endParaRPr>
          </a:p>
        </p:txBody>
      </p:sp>
      <p:sp>
        <p:nvSpPr>
          <p:cNvPr id="411" name="Text 22"/>
          <p:cNvSpPr/>
          <p:nvPr/>
        </p:nvSpPr>
        <p:spPr>
          <a:xfrm>
            <a:off x="475560" y="4215240"/>
            <a:ext cx="25783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Used by: Zomato, Ola, Uber, delivery apps</a:t>
            </a:r>
            <a:endParaRPr b="0" lang="en-US" sz="1000" strike="noStrike" u="none">
              <a:solidFill>
                <a:srgbClr val="ffffff"/>
              </a:solidFill>
              <a:uFillTx/>
              <a:latin typeface="Arial"/>
            </a:endParaRPr>
          </a:p>
        </p:txBody>
      </p:sp>
      <p:sp>
        <p:nvSpPr>
          <p:cNvPr id="412" name="Shape 23"/>
          <p:cNvSpPr/>
          <p:nvPr/>
        </p:nvSpPr>
        <p:spPr>
          <a:xfrm>
            <a:off x="3328560" y="3054240"/>
            <a:ext cx="2761200" cy="1782720"/>
          </a:xfrm>
          <a:prstGeom prst="roundRect">
            <a:avLst>
              <a:gd name="adj" fmla="val 5128"/>
            </a:avLst>
          </a:prstGeom>
          <a:solidFill>
            <a:srgbClr val="13243a"/>
          </a:solidFill>
          <a:ln w="12700">
            <a:solidFill>
              <a:srgbClr val="06d6a0">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13" name="Text 24"/>
          <p:cNvSpPr/>
          <p:nvPr/>
        </p:nvSpPr>
        <p:spPr>
          <a:xfrm>
            <a:off x="3420000" y="3145680"/>
            <a:ext cx="2578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06d6a0"/>
                </a:solidFill>
                <a:uFillTx/>
                <a:latin typeface="Calibri"/>
                <a:ea typeface="Calibri"/>
              </a:rPr>
              <a:t>💬 </a:t>
            </a:r>
            <a:r>
              <a:rPr b="1" lang="en-US" sz="1250" strike="noStrike" u="none">
                <a:solidFill>
                  <a:srgbClr val="06d6a0"/>
                </a:solidFill>
                <a:uFillTx/>
                <a:latin typeface="Calibri"/>
                <a:ea typeface="Calibri"/>
              </a:rPr>
              <a:t>WhatsApp Business</a:t>
            </a:r>
            <a:endParaRPr b="0" lang="en-US" sz="1250" strike="noStrike" u="none">
              <a:solidFill>
                <a:srgbClr val="ffffff"/>
              </a:solidFill>
              <a:uFillTx/>
              <a:latin typeface="Arial"/>
            </a:endParaRPr>
          </a:p>
        </p:txBody>
      </p:sp>
      <p:sp>
        <p:nvSpPr>
          <p:cNvPr id="414" name="Shape 25"/>
          <p:cNvSpPr/>
          <p:nvPr/>
        </p:nvSpPr>
        <p:spPr>
          <a:xfrm>
            <a:off x="3420000" y="3511440"/>
            <a:ext cx="2578320" cy="658080"/>
          </a:xfrm>
          <a:prstGeom prst="roundRect">
            <a:avLst>
              <a:gd name="adj" fmla="val 8333"/>
            </a:avLst>
          </a:prstGeom>
          <a:solidFill>
            <a:srgbClr val="050e1a"/>
          </a:solidFill>
          <a:ln w="12700">
            <a:solidFill>
              <a:srgbClr val="06d6a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15" name="Text 26"/>
          <p:cNvSpPr/>
          <p:nvPr/>
        </p:nvSpPr>
        <p:spPr>
          <a:xfrm>
            <a:off x="3493080" y="3538800"/>
            <a:ext cx="2422800" cy="603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06d6a0"/>
                </a:solidFill>
                <a:uFillTx/>
                <a:latin typeface="Courier New"/>
                <a:ea typeface="Courier New"/>
              </a:rPr>
              <a:t>POST /v1/messages</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06d6a0"/>
                </a:solidFill>
                <a:uFillTx/>
                <a:latin typeface="Courier New"/>
                <a:ea typeface="Courier New"/>
              </a:rPr>
              <a:t>Body: {"to":"+91...",</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06d6a0"/>
                </a:solidFill>
                <a:uFillTx/>
                <a:latin typeface="Courier New"/>
                <a:ea typeface="Courier New"/>
              </a:rPr>
              <a:t> </a:t>
            </a:r>
            <a:r>
              <a:rPr b="0" lang="en-US" sz="950" strike="noStrike" u="none">
                <a:solidFill>
                  <a:srgbClr val="06d6a0"/>
                </a:solidFill>
                <a:uFillTx/>
                <a:latin typeface="Courier New"/>
                <a:ea typeface="Courier New"/>
              </a:rPr>
              <a:t>"text":"Order shipped"}</a:t>
            </a:r>
            <a:endParaRPr b="0" lang="en-US" sz="950" strike="noStrike" u="none">
              <a:solidFill>
                <a:srgbClr val="ffffff"/>
              </a:solidFill>
              <a:uFillTx/>
              <a:latin typeface="Arial"/>
            </a:endParaRPr>
          </a:p>
        </p:txBody>
      </p:sp>
      <p:sp>
        <p:nvSpPr>
          <p:cNvPr id="416" name="Text 27"/>
          <p:cNvSpPr/>
          <p:nvPr/>
        </p:nvSpPr>
        <p:spPr>
          <a:xfrm>
            <a:off x="3420000" y="4215240"/>
            <a:ext cx="25783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Used by: Banks, OTPs, delivery notifications</a:t>
            </a:r>
            <a:endParaRPr b="0" lang="en-US" sz="1000" strike="noStrike" u="none">
              <a:solidFill>
                <a:srgbClr val="ffffff"/>
              </a:solidFill>
              <a:uFillTx/>
              <a:latin typeface="Arial"/>
            </a:endParaRPr>
          </a:p>
        </p:txBody>
      </p:sp>
      <p:sp>
        <p:nvSpPr>
          <p:cNvPr id="417" name="Shape 28"/>
          <p:cNvSpPr/>
          <p:nvPr/>
        </p:nvSpPr>
        <p:spPr>
          <a:xfrm>
            <a:off x="6272640" y="3054240"/>
            <a:ext cx="2761200" cy="1782720"/>
          </a:xfrm>
          <a:prstGeom prst="roundRect">
            <a:avLst>
              <a:gd name="adj" fmla="val 5128"/>
            </a:avLst>
          </a:prstGeom>
          <a:solidFill>
            <a:srgbClr val="13243a"/>
          </a:solidFill>
          <a:ln w="12700">
            <a:solidFill>
              <a:srgbClr val="ff9f1c">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18" name="Text 29"/>
          <p:cNvSpPr/>
          <p:nvPr/>
        </p:nvSpPr>
        <p:spPr>
          <a:xfrm>
            <a:off x="6364080" y="3145680"/>
            <a:ext cx="2578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9f1c"/>
                </a:solidFill>
                <a:uFillTx/>
                <a:latin typeface="Calibri"/>
                <a:ea typeface="Calibri"/>
              </a:rPr>
              <a:t>🌤️ </a:t>
            </a:r>
            <a:r>
              <a:rPr b="1" lang="en-US" sz="1250" strike="noStrike" u="none">
                <a:solidFill>
                  <a:srgbClr val="ff9f1c"/>
                </a:solidFill>
                <a:uFillTx/>
                <a:latin typeface="Calibri"/>
                <a:ea typeface="Calibri"/>
              </a:rPr>
              <a:t>OpenWeatherMap</a:t>
            </a:r>
            <a:endParaRPr b="0" lang="en-US" sz="1250" strike="noStrike" u="none">
              <a:solidFill>
                <a:srgbClr val="ffffff"/>
              </a:solidFill>
              <a:uFillTx/>
              <a:latin typeface="Arial"/>
            </a:endParaRPr>
          </a:p>
        </p:txBody>
      </p:sp>
      <p:sp>
        <p:nvSpPr>
          <p:cNvPr id="419" name="Shape 30"/>
          <p:cNvSpPr/>
          <p:nvPr/>
        </p:nvSpPr>
        <p:spPr>
          <a:xfrm>
            <a:off x="6364080" y="3511440"/>
            <a:ext cx="2578320" cy="658080"/>
          </a:xfrm>
          <a:prstGeom prst="roundRect">
            <a:avLst>
              <a:gd name="adj" fmla="val 8333"/>
            </a:avLst>
          </a:prstGeom>
          <a:solidFill>
            <a:srgbClr val="050e1a"/>
          </a:solidFill>
          <a:ln w="12700">
            <a:solidFill>
              <a:srgbClr val="ff9f1c">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20" name="Text 31"/>
          <p:cNvSpPr/>
          <p:nvPr/>
        </p:nvSpPr>
        <p:spPr>
          <a:xfrm>
            <a:off x="6437520" y="3538800"/>
            <a:ext cx="2422800" cy="603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ff9f1c"/>
                </a:solidFill>
                <a:uFillTx/>
                <a:latin typeface="Courier New"/>
                <a:ea typeface="Courier New"/>
              </a:rPr>
              <a:t>GET /data/2.5/weather</a:t>
            </a:r>
            <a:endParaRPr b="0" lang="en-US" sz="950" strike="noStrike" u="none">
              <a:solidFill>
                <a:srgbClr val="ffffff"/>
              </a:solidFill>
              <a:uFillTx/>
              <a:latin typeface="Arial"/>
            </a:endParaRPr>
          </a:p>
          <a:p>
            <a:pPr defTabSz="914400">
              <a:lnSpc>
                <a:spcPct val="100000"/>
              </a:lnSpc>
              <a:tabLst>
                <a:tab algn="l" pos="0"/>
              </a:tabLst>
            </a:pPr>
            <a:r>
              <a:rPr b="0" lang="en-US" sz="950" strike="noStrike" u="none">
                <a:solidFill>
                  <a:srgbClr val="ff9f1c"/>
                </a:solidFill>
                <a:uFillTx/>
                <a:latin typeface="Courier New"/>
                <a:ea typeface="Courier New"/>
              </a:rPr>
              <a:t>?q=Delhi&amp;appid=KEY</a:t>
            </a:r>
            <a:endParaRPr b="0" lang="en-US" sz="950" strike="noStrike" u="none">
              <a:solidFill>
                <a:srgbClr val="ffffff"/>
              </a:solidFill>
              <a:uFillTx/>
              <a:latin typeface="Arial"/>
            </a:endParaRPr>
          </a:p>
        </p:txBody>
      </p:sp>
      <p:sp>
        <p:nvSpPr>
          <p:cNvPr id="421" name="Text 32"/>
          <p:cNvSpPr/>
          <p:nvPr/>
        </p:nvSpPr>
        <p:spPr>
          <a:xfrm>
            <a:off x="6364080" y="4215240"/>
            <a:ext cx="25783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ee0"/>
                </a:solidFill>
                <a:uFillTx/>
                <a:latin typeface="Calibri"/>
                <a:ea typeface="Calibri"/>
              </a:rPr>
              <a:t>Used by: Weather apps, dashboards, IoT devices</a:t>
            </a:r>
            <a:endParaRPr b="0" lang="en-US" sz="10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422"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API Developer Tools Ecosystem</a:t>
            </a:r>
            <a:endParaRPr b="0" lang="en-US" sz="3400" strike="noStrike" u="none">
              <a:solidFill>
                <a:srgbClr val="ffffff"/>
              </a:solidFill>
              <a:uFillTx/>
              <a:latin typeface="Arial"/>
            </a:endParaRPr>
          </a:p>
        </p:txBody>
      </p:sp>
      <p:sp>
        <p:nvSpPr>
          <p:cNvPr id="423"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The tools every API developer should know</a:t>
            </a:r>
            <a:endParaRPr b="0" lang="en-US" sz="1300" strike="noStrike" u="none">
              <a:solidFill>
                <a:srgbClr val="ffffff"/>
              </a:solidFill>
              <a:uFillTx/>
              <a:latin typeface="Arial"/>
            </a:endParaRPr>
          </a:p>
        </p:txBody>
      </p:sp>
      <p:sp>
        <p:nvSpPr>
          <p:cNvPr id="424"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425" name="Shape 3"/>
          <p:cNvSpPr/>
          <p:nvPr/>
        </p:nvSpPr>
        <p:spPr>
          <a:xfrm>
            <a:off x="384120" y="1115640"/>
            <a:ext cx="2761200" cy="347040"/>
          </a:xfrm>
          <a:prstGeom prst="roundRect">
            <a:avLst>
              <a:gd name="adj" fmla="val 18421"/>
            </a:avLst>
          </a:prstGeom>
          <a:solidFill>
            <a:srgbClr val="00c9e0">
              <a:alpha val="80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26" name="Text 4"/>
          <p:cNvSpPr/>
          <p:nvPr/>
        </p:nvSpPr>
        <p:spPr>
          <a:xfrm>
            <a:off x="384120" y="1115640"/>
            <a:ext cx="276120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Testing &amp; Exploration</a:t>
            </a:r>
            <a:endParaRPr b="0" lang="en-US" sz="1200" strike="noStrike" u="none">
              <a:solidFill>
                <a:srgbClr val="ffffff"/>
              </a:solidFill>
              <a:uFillTx/>
              <a:latin typeface="Arial"/>
            </a:endParaRPr>
          </a:p>
        </p:txBody>
      </p:sp>
      <p:sp>
        <p:nvSpPr>
          <p:cNvPr id="427" name="Shape 5"/>
          <p:cNvSpPr/>
          <p:nvPr/>
        </p:nvSpPr>
        <p:spPr>
          <a:xfrm>
            <a:off x="384120" y="1536120"/>
            <a:ext cx="2761200" cy="804240"/>
          </a:xfrm>
          <a:prstGeom prst="roundRect">
            <a:avLst>
              <a:gd name="adj" fmla="val 7955"/>
            </a:avLst>
          </a:prstGeom>
          <a:solidFill>
            <a:srgbClr val="13243a"/>
          </a:solidFill>
          <a:ln w="12700">
            <a:solidFill>
              <a:srgbClr val="00c9e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28" name="Text 6"/>
          <p:cNvSpPr/>
          <p:nvPr/>
        </p:nvSpPr>
        <p:spPr>
          <a:xfrm>
            <a:off x="493920" y="159120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0c9e0"/>
                </a:solidFill>
                <a:uFillTx/>
                <a:latin typeface="Calibri"/>
                <a:ea typeface="Calibri"/>
              </a:rPr>
              <a:t>Postman</a:t>
            </a:r>
            <a:endParaRPr b="0" lang="en-US" sz="1200" strike="noStrike" u="none">
              <a:solidFill>
                <a:srgbClr val="ffffff"/>
              </a:solidFill>
              <a:uFillTx/>
              <a:latin typeface="Arial"/>
            </a:endParaRPr>
          </a:p>
        </p:txBody>
      </p:sp>
      <p:sp>
        <p:nvSpPr>
          <p:cNvPr id="429" name="Text 7"/>
          <p:cNvSpPr/>
          <p:nvPr/>
        </p:nvSpPr>
        <p:spPr>
          <a:xfrm>
            <a:off x="493920" y="188352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Most popular GUI tool — build, test, document and share API requests. Supports environments, collections, automated tests.</a:t>
            </a:r>
            <a:endParaRPr b="0" lang="en-US" sz="950" strike="noStrike" u="none">
              <a:solidFill>
                <a:srgbClr val="ffffff"/>
              </a:solidFill>
              <a:uFillTx/>
              <a:latin typeface="Arial"/>
            </a:endParaRPr>
          </a:p>
        </p:txBody>
      </p:sp>
      <p:sp>
        <p:nvSpPr>
          <p:cNvPr id="430" name="Shape 8"/>
          <p:cNvSpPr/>
          <p:nvPr/>
        </p:nvSpPr>
        <p:spPr>
          <a:xfrm>
            <a:off x="384120" y="2432160"/>
            <a:ext cx="2761200" cy="804240"/>
          </a:xfrm>
          <a:prstGeom prst="roundRect">
            <a:avLst>
              <a:gd name="adj" fmla="val 7955"/>
            </a:avLst>
          </a:prstGeom>
          <a:solidFill>
            <a:srgbClr val="13243a"/>
          </a:solidFill>
          <a:ln w="12700">
            <a:solidFill>
              <a:srgbClr val="00c9e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31" name="Text 9"/>
          <p:cNvSpPr/>
          <p:nvPr/>
        </p:nvSpPr>
        <p:spPr>
          <a:xfrm>
            <a:off x="493920" y="248724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0c9e0"/>
                </a:solidFill>
                <a:uFillTx/>
                <a:latin typeface="Calibri"/>
                <a:ea typeface="Calibri"/>
              </a:rPr>
              <a:t>Insomnia</a:t>
            </a:r>
            <a:endParaRPr b="0" lang="en-US" sz="1200" strike="noStrike" u="none">
              <a:solidFill>
                <a:srgbClr val="ffffff"/>
              </a:solidFill>
              <a:uFillTx/>
              <a:latin typeface="Arial"/>
            </a:endParaRPr>
          </a:p>
        </p:txBody>
      </p:sp>
      <p:sp>
        <p:nvSpPr>
          <p:cNvPr id="432" name="Text 10"/>
          <p:cNvSpPr/>
          <p:nvPr/>
        </p:nvSpPr>
        <p:spPr>
          <a:xfrm>
            <a:off x="493920" y="277992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Lightweight alternative to Postman. Great for REST and GraphQL. Fast and keyboard-friendly.</a:t>
            </a:r>
            <a:endParaRPr b="0" lang="en-US" sz="950" strike="noStrike" u="none">
              <a:solidFill>
                <a:srgbClr val="ffffff"/>
              </a:solidFill>
              <a:uFillTx/>
              <a:latin typeface="Arial"/>
            </a:endParaRPr>
          </a:p>
        </p:txBody>
      </p:sp>
      <p:sp>
        <p:nvSpPr>
          <p:cNvPr id="433" name="Shape 11"/>
          <p:cNvSpPr/>
          <p:nvPr/>
        </p:nvSpPr>
        <p:spPr>
          <a:xfrm>
            <a:off x="384120" y="3328560"/>
            <a:ext cx="2761200" cy="804240"/>
          </a:xfrm>
          <a:prstGeom prst="roundRect">
            <a:avLst>
              <a:gd name="adj" fmla="val 7955"/>
            </a:avLst>
          </a:prstGeom>
          <a:solidFill>
            <a:srgbClr val="13243a"/>
          </a:solidFill>
          <a:ln w="12700">
            <a:solidFill>
              <a:srgbClr val="00c9e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34" name="Text 12"/>
          <p:cNvSpPr/>
          <p:nvPr/>
        </p:nvSpPr>
        <p:spPr>
          <a:xfrm>
            <a:off x="493920" y="338328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0c9e0"/>
                </a:solidFill>
                <a:uFillTx/>
                <a:latin typeface="Calibri"/>
                <a:ea typeface="Calibri"/>
              </a:rPr>
              <a:t>Thunder Client</a:t>
            </a:r>
            <a:endParaRPr b="0" lang="en-US" sz="1200" strike="noStrike" u="none">
              <a:solidFill>
                <a:srgbClr val="ffffff"/>
              </a:solidFill>
              <a:uFillTx/>
              <a:latin typeface="Arial"/>
            </a:endParaRPr>
          </a:p>
        </p:txBody>
      </p:sp>
      <p:sp>
        <p:nvSpPr>
          <p:cNvPr id="435" name="Text 13"/>
          <p:cNvSpPr/>
          <p:nvPr/>
        </p:nvSpPr>
        <p:spPr>
          <a:xfrm>
            <a:off x="493920" y="367596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VS Code extension for quick API testing without leaving the editor. Lightweight and fast.</a:t>
            </a:r>
            <a:endParaRPr b="0" lang="en-US" sz="950" strike="noStrike" u="none">
              <a:solidFill>
                <a:srgbClr val="ffffff"/>
              </a:solidFill>
              <a:uFillTx/>
              <a:latin typeface="Arial"/>
            </a:endParaRPr>
          </a:p>
        </p:txBody>
      </p:sp>
      <p:sp>
        <p:nvSpPr>
          <p:cNvPr id="436" name="Shape 14"/>
          <p:cNvSpPr/>
          <p:nvPr/>
        </p:nvSpPr>
        <p:spPr>
          <a:xfrm>
            <a:off x="384120" y="4224600"/>
            <a:ext cx="2761200" cy="804240"/>
          </a:xfrm>
          <a:prstGeom prst="roundRect">
            <a:avLst>
              <a:gd name="adj" fmla="val 7955"/>
            </a:avLst>
          </a:prstGeom>
          <a:solidFill>
            <a:srgbClr val="13243a"/>
          </a:solidFill>
          <a:ln w="12700">
            <a:solidFill>
              <a:srgbClr val="00c9e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37" name="Text 15"/>
          <p:cNvSpPr/>
          <p:nvPr/>
        </p:nvSpPr>
        <p:spPr>
          <a:xfrm>
            <a:off x="493920" y="427932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0c9e0"/>
                </a:solidFill>
                <a:uFillTx/>
                <a:latin typeface="Calibri"/>
                <a:ea typeface="Calibri"/>
              </a:rPr>
              <a:t>curl</a:t>
            </a:r>
            <a:endParaRPr b="0" lang="en-US" sz="1200" strike="noStrike" u="none">
              <a:solidFill>
                <a:srgbClr val="ffffff"/>
              </a:solidFill>
              <a:uFillTx/>
              <a:latin typeface="Arial"/>
            </a:endParaRPr>
          </a:p>
        </p:txBody>
      </p:sp>
      <p:sp>
        <p:nvSpPr>
          <p:cNvPr id="438" name="Text 16"/>
          <p:cNvSpPr/>
          <p:nvPr/>
        </p:nvSpPr>
        <p:spPr>
          <a:xfrm>
            <a:off x="493920" y="457200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Command-line tool for API calls. Available everywhere — the ultimate fall-back. curl -X GET https://api.example.com/users</a:t>
            </a:r>
            <a:endParaRPr b="0" lang="en-US" sz="950" strike="noStrike" u="none">
              <a:solidFill>
                <a:srgbClr val="ffffff"/>
              </a:solidFill>
              <a:uFillTx/>
              <a:latin typeface="Arial"/>
            </a:endParaRPr>
          </a:p>
        </p:txBody>
      </p:sp>
      <p:sp>
        <p:nvSpPr>
          <p:cNvPr id="439" name="Shape 17"/>
          <p:cNvSpPr/>
          <p:nvPr/>
        </p:nvSpPr>
        <p:spPr>
          <a:xfrm>
            <a:off x="3328560" y="1115640"/>
            <a:ext cx="2761200" cy="347040"/>
          </a:xfrm>
          <a:prstGeom prst="roundRect">
            <a:avLst>
              <a:gd name="adj" fmla="val 18421"/>
            </a:avLst>
          </a:prstGeom>
          <a:solidFill>
            <a:srgbClr val="06d6a0">
              <a:alpha val="80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40" name="Text 18"/>
          <p:cNvSpPr/>
          <p:nvPr/>
        </p:nvSpPr>
        <p:spPr>
          <a:xfrm>
            <a:off x="3328560" y="1115640"/>
            <a:ext cx="276120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Documentation</a:t>
            </a:r>
            <a:endParaRPr b="0" lang="en-US" sz="1200" strike="noStrike" u="none">
              <a:solidFill>
                <a:srgbClr val="ffffff"/>
              </a:solidFill>
              <a:uFillTx/>
              <a:latin typeface="Arial"/>
            </a:endParaRPr>
          </a:p>
        </p:txBody>
      </p:sp>
      <p:sp>
        <p:nvSpPr>
          <p:cNvPr id="441" name="Shape 19"/>
          <p:cNvSpPr/>
          <p:nvPr/>
        </p:nvSpPr>
        <p:spPr>
          <a:xfrm>
            <a:off x="3328560" y="1536120"/>
            <a:ext cx="2761200" cy="804240"/>
          </a:xfrm>
          <a:prstGeom prst="roundRect">
            <a:avLst>
              <a:gd name="adj" fmla="val 7955"/>
            </a:avLst>
          </a:prstGeom>
          <a:solidFill>
            <a:srgbClr val="13243a"/>
          </a:solidFill>
          <a:ln w="12700">
            <a:solidFill>
              <a:srgbClr val="06d6a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42" name="Text 20"/>
          <p:cNvSpPr/>
          <p:nvPr/>
        </p:nvSpPr>
        <p:spPr>
          <a:xfrm>
            <a:off x="3438000" y="159120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6d6a0"/>
                </a:solidFill>
                <a:uFillTx/>
                <a:latin typeface="Calibri"/>
                <a:ea typeface="Calibri"/>
              </a:rPr>
              <a:t>Swagger UI / OpenAPI</a:t>
            </a:r>
            <a:endParaRPr b="0" lang="en-US" sz="1200" strike="noStrike" u="none">
              <a:solidFill>
                <a:srgbClr val="ffffff"/>
              </a:solidFill>
              <a:uFillTx/>
              <a:latin typeface="Arial"/>
            </a:endParaRPr>
          </a:p>
        </p:txBody>
      </p:sp>
      <p:sp>
        <p:nvSpPr>
          <p:cNvPr id="443" name="Text 21"/>
          <p:cNvSpPr/>
          <p:nvPr/>
        </p:nvSpPr>
        <p:spPr>
          <a:xfrm>
            <a:off x="3438000" y="188352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Write an OpenAPI spec (YAML/JSON) and get free interactive docs, client SDK generation, and server stub generation.</a:t>
            </a:r>
            <a:endParaRPr b="0" lang="en-US" sz="950" strike="noStrike" u="none">
              <a:solidFill>
                <a:srgbClr val="ffffff"/>
              </a:solidFill>
              <a:uFillTx/>
              <a:latin typeface="Arial"/>
            </a:endParaRPr>
          </a:p>
        </p:txBody>
      </p:sp>
      <p:sp>
        <p:nvSpPr>
          <p:cNvPr id="444" name="Shape 22"/>
          <p:cNvSpPr/>
          <p:nvPr/>
        </p:nvSpPr>
        <p:spPr>
          <a:xfrm>
            <a:off x="3328560" y="2432160"/>
            <a:ext cx="2761200" cy="804240"/>
          </a:xfrm>
          <a:prstGeom prst="roundRect">
            <a:avLst>
              <a:gd name="adj" fmla="val 7955"/>
            </a:avLst>
          </a:prstGeom>
          <a:solidFill>
            <a:srgbClr val="13243a"/>
          </a:solidFill>
          <a:ln w="12700">
            <a:solidFill>
              <a:srgbClr val="06d6a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45" name="Text 23"/>
          <p:cNvSpPr/>
          <p:nvPr/>
        </p:nvSpPr>
        <p:spPr>
          <a:xfrm>
            <a:off x="3438000" y="248724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6d6a0"/>
                </a:solidFill>
                <a:uFillTx/>
                <a:latin typeface="Calibri"/>
                <a:ea typeface="Calibri"/>
              </a:rPr>
              <a:t>Postman Collections</a:t>
            </a:r>
            <a:endParaRPr b="0" lang="en-US" sz="1200" strike="noStrike" u="none">
              <a:solidFill>
                <a:srgbClr val="ffffff"/>
              </a:solidFill>
              <a:uFillTx/>
              <a:latin typeface="Arial"/>
            </a:endParaRPr>
          </a:p>
        </p:txBody>
      </p:sp>
      <p:sp>
        <p:nvSpPr>
          <p:cNvPr id="446" name="Text 24"/>
          <p:cNvSpPr/>
          <p:nvPr/>
        </p:nvSpPr>
        <p:spPr>
          <a:xfrm>
            <a:off x="3438000" y="277992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Export your Postman collections as shareable API docs. Can be hosted on Postman's public workspace.</a:t>
            </a:r>
            <a:endParaRPr b="0" lang="en-US" sz="950" strike="noStrike" u="none">
              <a:solidFill>
                <a:srgbClr val="ffffff"/>
              </a:solidFill>
              <a:uFillTx/>
              <a:latin typeface="Arial"/>
            </a:endParaRPr>
          </a:p>
        </p:txBody>
      </p:sp>
      <p:sp>
        <p:nvSpPr>
          <p:cNvPr id="447" name="Shape 25"/>
          <p:cNvSpPr/>
          <p:nvPr/>
        </p:nvSpPr>
        <p:spPr>
          <a:xfrm>
            <a:off x="3328560" y="3328560"/>
            <a:ext cx="2761200" cy="804240"/>
          </a:xfrm>
          <a:prstGeom prst="roundRect">
            <a:avLst>
              <a:gd name="adj" fmla="val 7955"/>
            </a:avLst>
          </a:prstGeom>
          <a:solidFill>
            <a:srgbClr val="13243a"/>
          </a:solidFill>
          <a:ln w="12700">
            <a:solidFill>
              <a:srgbClr val="06d6a0">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48" name="Text 26"/>
          <p:cNvSpPr/>
          <p:nvPr/>
        </p:nvSpPr>
        <p:spPr>
          <a:xfrm>
            <a:off x="3438000" y="338328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06d6a0"/>
                </a:solidFill>
                <a:uFillTx/>
                <a:latin typeface="Calibri"/>
                <a:ea typeface="Calibri"/>
              </a:rPr>
              <a:t>Readme.io</a:t>
            </a:r>
            <a:endParaRPr b="0" lang="en-US" sz="1200" strike="noStrike" u="none">
              <a:solidFill>
                <a:srgbClr val="ffffff"/>
              </a:solidFill>
              <a:uFillTx/>
              <a:latin typeface="Arial"/>
            </a:endParaRPr>
          </a:p>
        </p:txBody>
      </p:sp>
      <p:sp>
        <p:nvSpPr>
          <p:cNvPr id="449" name="Text 27"/>
          <p:cNvSpPr/>
          <p:nvPr/>
        </p:nvSpPr>
        <p:spPr>
          <a:xfrm>
            <a:off x="3438000" y="367596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Developer hub platform for beautiful API documentation with live code samples and changelog.</a:t>
            </a:r>
            <a:endParaRPr b="0" lang="en-US" sz="950" strike="noStrike" u="none">
              <a:solidFill>
                <a:srgbClr val="ffffff"/>
              </a:solidFill>
              <a:uFillTx/>
              <a:latin typeface="Arial"/>
            </a:endParaRPr>
          </a:p>
        </p:txBody>
      </p:sp>
      <p:sp>
        <p:nvSpPr>
          <p:cNvPr id="450" name="Shape 28"/>
          <p:cNvSpPr/>
          <p:nvPr/>
        </p:nvSpPr>
        <p:spPr>
          <a:xfrm>
            <a:off x="6272640" y="1115640"/>
            <a:ext cx="2761200" cy="347040"/>
          </a:xfrm>
          <a:prstGeom prst="roundRect">
            <a:avLst>
              <a:gd name="adj" fmla="val 18421"/>
            </a:avLst>
          </a:prstGeom>
          <a:solidFill>
            <a:srgbClr val="ffd166">
              <a:alpha val="80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451" name="Text 29"/>
          <p:cNvSpPr/>
          <p:nvPr/>
        </p:nvSpPr>
        <p:spPr>
          <a:xfrm>
            <a:off x="6272640" y="1115640"/>
            <a:ext cx="276120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uFillTx/>
                <a:latin typeface="Calibri"/>
                <a:ea typeface="Calibri"/>
              </a:rPr>
              <a:t>Mocking &amp; Simulation</a:t>
            </a:r>
            <a:endParaRPr b="0" lang="en-US" sz="1200" strike="noStrike" u="none">
              <a:solidFill>
                <a:srgbClr val="ffffff"/>
              </a:solidFill>
              <a:uFillTx/>
              <a:latin typeface="Arial"/>
            </a:endParaRPr>
          </a:p>
        </p:txBody>
      </p:sp>
      <p:sp>
        <p:nvSpPr>
          <p:cNvPr id="452" name="Shape 30"/>
          <p:cNvSpPr/>
          <p:nvPr/>
        </p:nvSpPr>
        <p:spPr>
          <a:xfrm>
            <a:off x="6272640" y="1536120"/>
            <a:ext cx="2761200" cy="804240"/>
          </a:xfrm>
          <a:prstGeom prst="roundRect">
            <a:avLst>
              <a:gd name="adj" fmla="val 7955"/>
            </a:avLst>
          </a:prstGeom>
          <a:solidFill>
            <a:srgbClr val="13243a"/>
          </a:solidFill>
          <a:ln w="12700">
            <a:solidFill>
              <a:srgbClr val="ffd166">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53" name="Text 31"/>
          <p:cNvSpPr/>
          <p:nvPr/>
        </p:nvSpPr>
        <p:spPr>
          <a:xfrm>
            <a:off x="6382440" y="159120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fd166"/>
                </a:solidFill>
                <a:uFillTx/>
                <a:latin typeface="Calibri"/>
                <a:ea typeface="Calibri"/>
              </a:rPr>
              <a:t>JSONPlaceholder</a:t>
            </a:r>
            <a:endParaRPr b="0" lang="en-US" sz="1200" strike="noStrike" u="none">
              <a:solidFill>
                <a:srgbClr val="ffffff"/>
              </a:solidFill>
              <a:uFillTx/>
              <a:latin typeface="Arial"/>
            </a:endParaRPr>
          </a:p>
        </p:txBody>
      </p:sp>
      <p:sp>
        <p:nvSpPr>
          <p:cNvPr id="454" name="Text 32"/>
          <p:cNvSpPr/>
          <p:nvPr/>
        </p:nvSpPr>
        <p:spPr>
          <a:xfrm>
            <a:off x="6382440" y="188352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Free public fake REST API. No signup. Perfect for demos and testing. typicode.com</a:t>
            </a:r>
            <a:endParaRPr b="0" lang="en-US" sz="950" strike="noStrike" u="none">
              <a:solidFill>
                <a:srgbClr val="ffffff"/>
              </a:solidFill>
              <a:uFillTx/>
              <a:latin typeface="Arial"/>
            </a:endParaRPr>
          </a:p>
        </p:txBody>
      </p:sp>
      <p:sp>
        <p:nvSpPr>
          <p:cNvPr id="455" name="Shape 33"/>
          <p:cNvSpPr/>
          <p:nvPr/>
        </p:nvSpPr>
        <p:spPr>
          <a:xfrm>
            <a:off x="6272640" y="2432160"/>
            <a:ext cx="2761200" cy="804240"/>
          </a:xfrm>
          <a:prstGeom prst="roundRect">
            <a:avLst>
              <a:gd name="adj" fmla="val 7955"/>
            </a:avLst>
          </a:prstGeom>
          <a:solidFill>
            <a:srgbClr val="13243a"/>
          </a:solidFill>
          <a:ln w="12700">
            <a:solidFill>
              <a:srgbClr val="ffd166">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56" name="Text 34"/>
          <p:cNvSpPr/>
          <p:nvPr/>
        </p:nvSpPr>
        <p:spPr>
          <a:xfrm>
            <a:off x="6382440" y="248724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fd166"/>
                </a:solidFill>
                <a:uFillTx/>
                <a:latin typeface="Calibri"/>
                <a:ea typeface="Calibri"/>
              </a:rPr>
              <a:t>MockAPI.io</a:t>
            </a:r>
            <a:endParaRPr b="0" lang="en-US" sz="1200" strike="noStrike" u="none">
              <a:solidFill>
                <a:srgbClr val="ffffff"/>
              </a:solidFill>
              <a:uFillTx/>
              <a:latin typeface="Arial"/>
            </a:endParaRPr>
          </a:p>
        </p:txBody>
      </p:sp>
      <p:sp>
        <p:nvSpPr>
          <p:cNvPr id="457" name="Text 35"/>
          <p:cNvSpPr/>
          <p:nvPr/>
        </p:nvSpPr>
        <p:spPr>
          <a:xfrm>
            <a:off x="6382440" y="277992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Create custom fake APIs with real endpoints, custom schemas and response delays.</a:t>
            </a:r>
            <a:endParaRPr b="0" lang="en-US" sz="950" strike="noStrike" u="none">
              <a:solidFill>
                <a:srgbClr val="ffffff"/>
              </a:solidFill>
              <a:uFillTx/>
              <a:latin typeface="Arial"/>
            </a:endParaRPr>
          </a:p>
        </p:txBody>
      </p:sp>
      <p:sp>
        <p:nvSpPr>
          <p:cNvPr id="458" name="Shape 36"/>
          <p:cNvSpPr/>
          <p:nvPr/>
        </p:nvSpPr>
        <p:spPr>
          <a:xfrm>
            <a:off x="6272640" y="3328560"/>
            <a:ext cx="2761200" cy="804240"/>
          </a:xfrm>
          <a:prstGeom prst="roundRect">
            <a:avLst>
              <a:gd name="adj" fmla="val 7955"/>
            </a:avLst>
          </a:prstGeom>
          <a:solidFill>
            <a:srgbClr val="13243a"/>
          </a:solidFill>
          <a:ln w="12700">
            <a:solidFill>
              <a:srgbClr val="ffd166">
                <a:alpha val="4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59" name="Text 37"/>
          <p:cNvSpPr/>
          <p:nvPr/>
        </p:nvSpPr>
        <p:spPr>
          <a:xfrm>
            <a:off x="6382440" y="3383280"/>
            <a:ext cx="2541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fd166"/>
                </a:solidFill>
                <a:uFillTx/>
                <a:latin typeface="Calibri"/>
                <a:ea typeface="Calibri"/>
              </a:rPr>
              <a:t>Mockoon</a:t>
            </a:r>
            <a:endParaRPr b="0" lang="en-US" sz="1200" strike="noStrike" u="none">
              <a:solidFill>
                <a:srgbClr val="ffffff"/>
              </a:solidFill>
              <a:uFillTx/>
              <a:latin typeface="Arial"/>
            </a:endParaRPr>
          </a:p>
        </p:txBody>
      </p:sp>
      <p:sp>
        <p:nvSpPr>
          <p:cNvPr id="460" name="Text 38"/>
          <p:cNvSpPr/>
          <p:nvPr/>
        </p:nvSpPr>
        <p:spPr>
          <a:xfrm>
            <a:off x="6382440" y="3675960"/>
            <a:ext cx="2541600" cy="402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b0cee0"/>
                </a:solidFill>
                <a:uFillTx/>
                <a:latin typeface="Calibri"/>
                <a:ea typeface="Calibri"/>
              </a:rPr>
              <a:t>Desktop tool to create mock REST APIs locally. Define routes, status codes, and response bodies.</a:t>
            </a:r>
            <a:endParaRPr b="0" lang="en-US" sz="95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461" name="Text 0"/>
          <p:cNvSpPr/>
          <p:nvPr/>
        </p:nvSpPr>
        <p:spPr>
          <a:xfrm>
            <a:off x="457200" y="201240"/>
            <a:ext cx="82292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fffff"/>
                </a:solidFill>
                <a:uFillTx/>
                <a:latin typeface="Calibri"/>
                <a:ea typeface="Calibri"/>
              </a:rPr>
              <a:t>REST API Design Checklist</a:t>
            </a:r>
            <a:endParaRPr b="0" lang="en-US" sz="3400" strike="noStrike" u="none">
              <a:solidFill>
                <a:srgbClr val="ffffff"/>
              </a:solidFill>
              <a:uFillTx/>
              <a:latin typeface="Arial"/>
            </a:endParaRPr>
          </a:p>
        </p:txBody>
      </p:sp>
      <p:sp>
        <p:nvSpPr>
          <p:cNvPr id="462" name="Text 1"/>
          <p:cNvSpPr/>
          <p:nvPr/>
        </p:nvSpPr>
        <p:spPr>
          <a:xfrm>
            <a:off x="457200" y="749880"/>
            <a:ext cx="8229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00c9e0"/>
                </a:solidFill>
                <a:uFillTx/>
                <a:latin typeface="Calibri"/>
                <a:ea typeface="Calibri"/>
              </a:rPr>
              <a:t>Before you ship — run through this list</a:t>
            </a:r>
            <a:endParaRPr b="0" lang="en-US" sz="1300" strike="noStrike" u="none">
              <a:solidFill>
                <a:srgbClr val="ffffff"/>
              </a:solidFill>
              <a:uFillTx/>
              <a:latin typeface="Arial"/>
            </a:endParaRPr>
          </a:p>
        </p:txBody>
      </p:sp>
      <p:sp>
        <p:nvSpPr>
          <p:cNvPr id="463" name="Shape 2"/>
          <p:cNvSpPr/>
          <p:nvPr/>
        </p:nvSpPr>
        <p:spPr>
          <a:xfrm>
            <a:off x="457200" y="1024200"/>
            <a:ext cx="8229240" cy="27000"/>
          </a:xfrm>
          <a:prstGeom prst="rect">
            <a:avLst/>
          </a:prstGeom>
          <a:solidFill>
            <a:srgbClr val="0077b6">
              <a:alpha val="50000"/>
            </a:srgbClr>
          </a:solidFill>
          <a:ln w="12700">
            <a:solidFill>
              <a:srgbClr val="0077b6">
                <a:alpha val="5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464" name="Shape 3"/>
          <p:cNvSpPr/>
          <p:nvPr/>
        </p:nvSpPr>
        <p:spPr>
          <a:xfrm>
            <a:off x="384120" y="1115640"/>
            <a:ext cx="4132800" cy="1919880"/>
          </a:xfrm>
          <a:prstGeom prst="roundRect">
            <a:avLst>
              <a:gd name="adj" fmla="val 4762"/>
            </a:avLst>
          </a:prstGeom>
          <a:solidFill>
            <a:srgbClr val="13243a"/>
          </a:solidFill>
          <a:ln w="12700">
            <a:solidFill>
              <a:srgbClr val="00c9e0">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65" name="Shape 4"/>
          <p:cNvSpPr/>
          <p:nvPr/>
        </p:nvSpPr>
        <p:spPr>
          <a:xfrm>
            <a:off x="384120" y="1115640"/>
            <a:ext cx="4132800" cy="347040"/>
          </a:xfrm>
          <a:prstGeom prst="roundRect">
            <a:avLst>
              <a:gd name="adj" fmla="val 21053"/>
            </a:avLst>
          </a:prstGeom>
          <a:solidFill>
            <a:srgbClr val="00c9e0">
              <a:alpha val="75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66" name="Text 5"/>
          <p:cNvSpPr/>
          <p:nvPr/>
        </p:nvSpPr>
        <p:spPr>
          <a:xfrm>
            <a:off x="493920" y="1115640"/>
            <a:ext cx="39132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URIs &amp; Resources</a:t>
            </a:r>
            <a:endParaRPr b="0" lang="en-US" sz="1250" strike="noStrike" u="none">
              <a:solidFill>
                <a:srgbClr val="ffffff"/>
              </a:solidFill>
              <a:uFillTx/>
              <a:latin typeface="Arial"/>
            </a:endParaRPr>
          </a:p>
        </p:txBody>
      </p:sp>
      <p:sp>
        <p:nvSpPr>
          <p:cNvPr id="467" name="Shape 6"/>
          <p:cNvSpPr/>
          <p:nvPr/>
        </p:nvSpPr>
        <p:spPr>
          <a:xfrm>
            <a:off x="493920" y="1554480"/>
            <a:ext cx="255600" cy="219240"/>
          </a:xfrm>
          <a:prstGeom prst="roundRect">
            <a:avLst>
              <a:gd name="adj" fmla="val 16667"/>
            </a:avLst>
          </a:prstGeom>
          <a:solidFill>
            <a:srgbClr val="00c9e0">
              <a:alpha val="45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68" name="Text 7"/>
          <p:cNvSpPr/>
          <p:nvPr/>
        </p:nvSpPr>
        <p:spPr>
          <a:xfrm>
            <a:off x="493920" y="155448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69" name="Text 8"/>
          <p:cNvSpPr/>
          <p:nvPr/>
        </p:nvSpPr>
        <p:spPr>
          <a:xfrm>
            <a:off x="841320" y="153612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URIs use nouns, not verbs</a:t>
            </a:r>
            <a:endParaRPr b="0" lang="en-US" sz="1100" strike="noStrike" u="none">
              <a:solidFill>
                <a:srgbClr val="ffffff"/>
              </a:solidFill>
              <a:uFillTx/>
              <a:latin typeface="Arial"/>
            </a:endParaRPr>
          </a:p>
        </p:txBody>
      </p:sp>
      <p:sp>
        <p:nvSpPr>
          <p:cNvPr id="470" name="Shape 9"/>
          <p:cNvSpPr/>
          <p:nvPr/>
        </p:nvSpPr>
        <p:spPr>
          <a:xfrm>
            <a:off x="493920" y="1847160"/>
            <a:ext cx="255600" cy="219240"/>
          </a:xfrm>
          <a:prstGeom prst="roundRect">
            <a:avLst>
              <a:gd name="adj" fmla="val 16667"/>
            </a:avLst>
          </a:prstGeom>
          <a:solidFill>
            <a:srgbClr val="00c9e0">
              <a:alpha val="45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71" name="Text 10"/>
          <p:cNvSpPr/>
          <p:nvPr/>
        </p:nvSpPr>
        <p:spPr>
          <a:xfrm>
            <a:off x="493920" y="184716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72" name="Text 11"/>
          <p:cNvSpPr/>
          <p:nvPr/>
        </p:nvSpPr>
        <p:spPr>
          <a:xfrm>
            <a:off x="841320" y="182880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Collections are plural (/users not /user)</a:t>
            </a:r>
            <a:endParaRPr b="0" lang="en-US" sz="1100" strike="noStrike" u="none">
              <a:solidFill>
                <a:srgbClr val="ffffff"/>
              </a:solidFill>
              <a:uFillTx/>
              <a:latin typeface="Arial"/>
            </a:endParaRPr>
          </a:p>
        </p:txBody>
      </p:sp>
      <p:sp>
        <p:nvSpPr>
          <p:cNvPr id="473" name="Shape 12"/>
          <p:cNvSpPr/>
          <p:nvPr/>
        </p:nvSpPr>
        <p:spPr>
          <a:xfrm>
            <a:off x="493920" y="2139840"/>
            <a:ext cx="255600" cy="219240"/>
          </a:xfrm>
          <a:prstGeom prst="roundRect">
            <a:avLst>
              <a:gd name="adj" fmla="val 16667"/>
            </a:avLst>
          </a:prstGeom>
          <a:solidFill>
            <a:srgbClr val="00c9e0">
              <a:alpha val="45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74" name="Text 13"/>
          <p:cNvSpPr/>
          <p:nvPr/>
        </p:nvSpPr>
        <p:spPr>
          <a:xfrm>
            <a:off x="493920" y="213984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75" name="Text 14"/>
          <p:cNvSpPr/>
          <p:nvPr/>
        </p:nvSpPr>
        <p:spPr>
          <a:xfrm>
            <a:off x="841320" y="212148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Lowercase, hyphens not underscores</a:t>
            </a:r>
            <a:endParaRPr b="0" lang="en-US" sz="1100" strike="noStrike" u="none">
              <a:solidFill>
                <a:srgbClr val="ffffff"/>
              </a:solidFill>
              <a:uFillTx/>
              <a:latin typeface="Arial"/>
            </a:endParaRPr>
          </a:p>
        </p:txBody>
      </p:sp>
      <p:sp>
        <p:nvSpPr>
          <p:cNvPr id="476" name="Shape 15"/>
          <p:cNvSpPr/>
          <p:nvPr/>
        </p:nvSpPr>
        <p:spPr>
          <a:xfrm>
            <a:off x="493920" y="2432160"/>
            <a:ext cx="255600" cy="219240"/>
          </a:xfrm>
          <a:prstGeom prst="roundRect">
            <a:avLst>
              <a:gd name="adj" fmla="val 16667"/>
            </a:avLst>
          </a:prstGeom>
          <a:solidFill>
            <a:srgbClr val="00c9e0">
              <a:alpha val="45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77" name="Text 16"/>
          <p:cNvSpPr/>
          <p:nvPr/>
        </p:nvSpPr>
        <p:spPr>
          <a:xfrm>
            <a:off x="493920" y="243216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78" name="Text 17"/>
          <p:cNvSpPr/>
          <p:nvPr/>
        </p:nvSpPr>
        <p:spPr>
          <a:xfrm>
            <a:off x="841320" y="241416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Nested resources show relationships (/users/5/orders)</a:t>
            </a:r>
            <a:endParaRPr b="0" lang="en-US" sz="1100" strike="noStrike" u="none">
              <a:solidFill>
                <a:srgbClr val="ffffff"/>
              </a:solidFill>
              <a:uFillTx/>
              <a:latin typeface="Arial"/>
            </a:endParaRPr>
          </a:p>
        </p:txBody>
      </p:sp>
      <p:sp>
        <p:nvSpPr>
          <p:cNvPr id="479" name="Shape 18"/>
          <p:cNvSpPr/>
          <p:nvPr/>
        </p:nvSpPr>
        <p:spPr>
          <a:xfrm>
            <a:off x="493920" y="2724840"/>
            <a:ext cx="255600" cy="219240"/>
          </a:xfrm>
          <a:prstGeom prst="roundRect">
            <a:avLst>
              <a:gd name="adj" fmla="val 16667"/>
            </a:avLst>
          </a:prstGeom>
          <a:solidFill>
            <a:srgbClr val="00c9e0">
              <a:alpha val="45000"/>
            </a:srgbClr>
          </a:solidFill>
          <a:ln w="12700">
            <a:solidFill>
              <a:srgbClr val="00c9e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80" name="Text 19"/>
          <p:cNvSpPr/>
          <p:nvPr/>
        </p:nvSpPr>
        <p:spPr>
          <a:xfrm>
            <a:off x="493920" y="272484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81" name="Text 20"/>
          <p:cNvSpPr/>
          <p:nvPr/>
        </p:nvSpPr>
        <p:spPr>
          <a:xfrm>
            <a:off x="841320" y="270648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Query params used for filtering/sorting/searching</a:t>
            </a:r>
            <a:endParaRPr b="0" lang="en-US" sz="1100" strike="noStrike" u="none">
              <a:solidFill>
                <a:srgbClr val="ffffff"/>
              </a:solidFill>
              <a:uFillTx/>
              <a:latin typeface="Arial"/>
            </a:endParaRPr>
          </a:p>
        </p:txBody>
      </p:sp>
      <p:sp>
        <p:nvSpPr>
          <p:cNvPr id="482" name="Shape 21"/>
          <p:cNvSpPr/>
          <p:nvPr/>
        </p:nvSpPr>
        <p:spPr>
          <a:xfrm>
            <a:off x="4700160" y="1115640"/>
            <a:ext cx="4132800" cy="1919880"/>
          </a:xfrm>
          <a:prstGeom prst="roundRect">
            <a:avLst>
              <a:gd name="adj" fmla="val 4762"/>
            </a:avLst>
          </a:prstGeom>
          <a:solidFill>
            <a:srgbClr val="13243a"/>
          </a:solidFill>
          <a:ln w="12700">
            <a:solidFill>
              <a:srgbClr val="06d6a0">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83" name="Shape 22"/>
          <p:cNvSpPr/>
          <p:nvPr/>
        </p:nvSpPr>
        <p:spPr>
          <a:xfrm>
            <a:off x="4700160" y="1115640"/>
            <a:ext cx="4132800" cy="347040"/>
          </a:xfrm>
          <a:prstGeom prst="roundRect">
            <a:avLst>
              <a:gd name="adj" fmla="val 21053"/>
            </a:avLst>
          </a:prstGeom>
          <a:solidFill>
            <a:srgbClr val="06d6a0">
              <a:alpha val="75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84" name="Text 23"/>
          <p:cNvSpPr/>
          <p:nvPr/>
        </p:nvSpPr>
        <p:spPr>
          <a:xfrm>
            <a:off x="4809600" y="1115640"/>
            <a:ext cx="39132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HTTP Methods &amp; Status</a:t>
            </a:r>
            <a:endParaRPr b="0" lang="en-US" sz="1250" strike="noStrike" u="none">
              <a:solidFill>
                <a:srgbClr val="ffffff"/>
              </a:solidFill>
              <a:uFillTx/>
              <a:latin typeface="Arial"/>
            </a:endParaRPr>
          </a:p>
        </p:txBody>
      </p:sp>
      <p:sp>
        <p:nvSpPr>
          <p:cNvPr id="485" name="Shape 24"/>
          <p:cNvSpPr/>
          <p:nvPr/>
        </p:nvSpPr>
        <p:spPr>
          <a:xfrm>
            <a:off x="4809600" y="1554480"/>
            <a:ext cx="255600" cy="219240"/>
          </a:xfrm>
          <a:prstGeom prst="roundRect">
            <a:avLst>
              <a:gd name="adj" fmla="val 16667"/>
            </a:avLst>
          </a:prstGeom>
          <a:solidFill>
            <a:srgbClr val="06d6a0">
              <a:alpha val="45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86" name="Text 25"/>
          <p:cNvSpPr/>
          <p:nvPr/>
        </p:nvSpPr>
        <p:spPr>
          <a:xfrm>
            <a:off x="4809600" y="155448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87" name="Text 26"/>
          <p:cNvSpPr/>
          <p:nvPr/>
        </p:nvSpPr>
        <p:spPr>
          <a:xfrm>
            <a:off x="5157360" y="153612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GET never modifies data</a:t>
            </a:r>
            <a:endParaRPr b="0" lang="en-US" sz="1100" strike="noStrike" u="none">
              <a:solidFill>
                <a:srgbClr val="ffffff"/>
              </a:solidFill>
              <a:uFillTx/>
              <a:latin typeface="Arial"/>
            </a:endParaRPr>
          </a:p>
        </p:txBody>
      </p:sp>
      <p:sp>
        <p:nvSpPr>
          <p:cNvPr id="488" name="Shape 27"/>
          <p:cNvSpPr/>
          <p:nvPr/>
        </p:nvSpPr>
        <p:spPr>
          <a:xfrm>
            <a:off x="4809600" y="1847160"/>
            <a:ext cx="255600" cy="219240"/>
          </a:xfrm>
          <a:prstGeom prst="roundRect">
            <a:avLst>
              <a:gd name="adj" fmla="val 16667"/>
            </a:avLst>
          </a:prstGeom>
          <a:solidFill>
            <a:srgbClr val="06d6a0">
              <a:alpha val="45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89" name="Text 28"/>
          <p:cNvSpPr/>
          <p:nvPr/>
        </p:nvSpPr>
        <p:spPr>
          <a:xfrm>
            <a:off x="4809600" y="184716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90" name="Text 29"/>
          <p:cNvSpPr/>
          <p:nvPr/>
        </p:nvSpPr>
        <p:spPr>
          <a:xfrm>
            <a:off x="5157360" y="182880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POST returns 201 + new resource</a:t>
            </a:r>
            <a:endParaRPr b="0" lang="en-US" sz="1100" strike="noStrike" u="none">
              <a:solidFill>
                <a:srgbClr val="ffffff"/>
              </a:solidFill>
              <a:uFillTx/>
              <a:latin typeface="Arial"/>
            </a:endParaRPr>
          </a:p>
        </p:txBody>
      </p:sp>
      <p:sp>
        <p:nvSpPr>
          <p:cNvPr id="491" name="Shape 30"/>
          <p:cNvSpPr/>
          <p:nvPr/>
        </p:nvSpPr>
        <p:spPr>
          <a:xfrm>
            <a:off x="4809600" y="2139840"/>
            <a:ext cx="255600" cy="219240"/>
          </a:xfrm>
          <a:prstGeom prst="roundRect">
            <a:avLst>
              <a:gd name="adj" fmla="val 16667"/>
            </a:avLst>
          </a:prstGeom>
          <a:solidFill>
            <a:srgbClr val="06d6a0">
              <a:alpha val="45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92" name="Text 31"/>
          <p:cNvSpPr/>
          <p:nvPr/>
        </p:nvSpPr>
        <p:spPr>
          <a:xfrm>
            <a:off x="4809600" y="213984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93" name="Text 32"/>
          <p:cNvSpPr/>
          <p:nvPr/>
        </p:nvSpPr>
        <p:spPr>
          <a:xfrm>
            <a:off x="5157360" y="212148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PUT/PATCH return 200 or 204</a:t>
            </a:r>
            <a:endParaRPr b="0" lang="en-US" sz="1100" strike="noStrike" u="none">
              <a:solidFill>
                <a:srgbClr val="ffffff"/>
              </a:solidFill>
              <a:uFillTx/>
              <a:latin typeface="Arial"/>
            </a:endParaRPr>
          </a:p>
        </p:txBody>
      </p:sp>
      <p:sp>
        <p:nvSpPr>
          <p:cNvPr id="494" name="Shape 33"/>
          <p:cNvSpPr/>
          <p:nvPr/>
        </p:nvSpPr>
        <p:spPr>
          <a:xfrm>
            <a:off x="4809600" y="2432160"/>
            <a:ext cx="255600" cy="219240"/>
          </a:xfrm>
          <a:prstGeom prst="roundRect">
            <a:avLst>
              <a:gd name="adj" fmla="val 16667"/>
            </a:avLst>
          </a:prstGeom>
          <a:solidFill>
            <a:srgbClr val="06d6a0">
              <a:alpha val="45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95" name="Text 34"/>
          <p:cNvSpPr/>
          <p:nvPr/>
        </p:nvSpPr>
        <p:spPr>
          <a:xfrm>
            <a:off x="4809600" y="243216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96" name="Text 35"/>
          <p:cNvSpPr/>
          <p:nvPr/>
        </p:nvSpPr>
        <p:spPr>
          <a:xfrm>
            <a:off x="5157360" y="241416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DELETE returns 204 No Content</a:t>
            </a:r>
            <a:endParaRPr b="0" lang="en-US" sz="1100" strike="noStrike" u="none">
              <a:solidFill>
                <a:srgbClr val="ffffff"/>
              </a:solidFill>
              <a:uFillTx/>
              <a:latin typeface="Arial"/>
            </a:endParaRPr>
          </a:p>
        </p:txBody>
      </p:sp>
      <p:sp>
        <p:nvSpPr>
          <p:cNvPr id="497" name="Shape 36"/>
          <p:cNvSpPr/>
          <p:nvPr/>
        </p:nvSpPr>
        <p:spPr>
          <a:xfrm>
            <a:off x="4809600" y="2724840"/>
            <a:ext cx="255600" cy="219240"/>
          </a:xfrm>
          <a:prstGeom prst="roundRect">
            <a:avLst>
              <a:gd name="adj" fmla="val 16667"/>
            </a:avLst>
          </a:prstGeom>
          <a:solidFill>
            <a:srgbClr val="06d6a0">
              <a:alpha val="45000"/>
            </a:srgbClr>
          </a:solidFill>
          <a:ln w="12700">
            <a:solidFill>
              <a:srgbClr val="06d6a0"/>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498" name="Text 37"/>
          <p:cNvSpPr/>
          <p:nvPr/>
        </p:nvSpPr>
        <p:spPr>
          <a:xfrm>
            <a:off x="4809600" y="272484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499" name="Text 38"/>
          <p:cNvSpPr/>
          <p:nvPr/>
        </p:nvSpPr>
        <p:spPr>
          <a:xfrm>
            <a:off x="5157360" y="270648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Correct 4xx and 5xx codes used</a:t>
            </a:r>
            <a:endParaRPr b="0" lang="en-US" sz="1100" strike="noStrike" u="none">
              <a:solidFill>
                <a:srgbClr val="ffffff"/>
              </a:solidFill>
              <a:uFillTx/>
              <a:latin typeface="Arial"/>
            </a:endParaRPr>
          </a:p>
        </p:txBody>
      </p:sp>
      <p:sp>
        <p:nvSpPr>
          <p:cNvPr id="500" name="Shape 39"/>
          <p:cNvSpPr/>
          <p:nvPr/>
        </p:nvSpPr>
        <p:spPr>
          <a:xfrm>
            <a:off x="384120" y="3108960"/>
            <a:ext cx="4132800" cy="1919880"/>
          </a:xfrm>
          <a:prstGeom prst="roundRect">
            <a:avLst>
              <a:gd name="adj" fmla="val 4762"/>
            </a:avLst>
          </a:prstGeom>
          <a:solidFill>
            <a:srgbClr val="13243a"/>
          </a:solidFill>
          <a:ln w="12700">
            <a:solidFill>
              <a:srgbClr val="ef476f">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01" name="Shape 40"/>
          <p:cNvSpPr/>
          <p:nvPr/>
        </p:nvSpPr>
        <p:spPr>
          <a:xfrm>
            <a:off x="384120" y="3108960"/>
            <a:ext cx="4132800" cy="347040"/>
          </a:xfrm>
          <a:prstGeom prst="roundRect">
            <a:avLst>
              <a:gd name="adj" fmla="val 21053"/>
            </a:avLst>
          </a:prstGeom>
          <a:solidFill>
            <a:srgbClr val="ef476f">
              <a:alpha val="75000"/>
            </a:srgbClr>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02" name="Text 41"/>
          <p:cNvSpPr/>
          <p:nvPr/>
        </p:nvSpPr>
        <p:spPr>
          <a:xfrm>
            <a:off x="493920" y="3108960"/>
            <a:ext cx="39132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Security</a:t>
            </a:r>
            <a:endParaRPr b="0" lang="en-US" sz="1250" strike="noStrike" u="none">
              <a:solidFill>
                <a:srgbClr val="ffffff"/>
              </a:solidFill>
              <a:uFillTx/>
              <a:latin typeface="Arial"/>
            </a:endParaRPr>
          </a:p>
        </p:txBody>
      </p:sp>
      <p:sp>
        <p:nvSpPr>
          <p:cNvPr id="503" name="Shape 42"/>
          <p:cNvSpPr/>
          <p:nvPr/>
        </p:nvSpPr>
        <p:spPr>
          <a:xfrm>
            <a:off x="493920" y="3547800"/>
            <a:ext cx="255600" cy="219240"/>
          </a:xfrm>
          <a:prstGeom prst="roundRect">
            <a:avLst>
              <a:gd name="adj" fmla="val 16667"/>
            </a:avLst>
          </a:prstGeom>
          <a:solidFill>
            <a:srgbClr val="ef476f">
              <a:alpha val="45000"/>
            </a:srgbClr>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04" name="Text 43"/>
          <p:cNvSpPr/>
          <p:nvPr/>
        </p:nvSpPr>
        <p:spPr>
          <a:xfrm>
            <a:off x="493920" y="354780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05" name="Text 44"/>
          <p:cNvSpPr/>
          <p:nvPr/>
        </p:nvSpPr>
        <p:spPr>
          <a:xfrm>
            <a:off x="841320" y="352944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All endpoints over HTTPS only</a:t>
            </a:r>
            <a:endParaRPr b="0" lang="en-US" sz="1100" strike="noStrike" u="none">
              <a:solidFill>
                <a:srgbClr val="ffffff"/>
              </a:solidFill>
              <a:uFillTx/>
              <a:latin typeface="Arial"/>
            </a:endParaRPr>
          </a:p>
        </p:txBody>
      </p:sp>
      <p:sp>
        <p:nvSpPr>
          <p:cNvPr id="506" name="Shape 45"/>
          <p:cNvSpPr/>
          <p:nvPr/>
        </p:nvSpPr>
        <p:spPr>
          <a:xfrm>
            <a:off x="493920" y="3840480"/>
            <a:ext cx="255600" cy="219240"/>
          </a:xfrm>
          <a:prstGeom prst="roundRect">
            <a:avLst>
              <a:gd name="adj" fmla="val 16667"/>
            </a:avLst>
          </a:prstGeom>
          <a:solidFill>
            <a:srgbClr val="ef476f">
              <a:alpha val="45000"/>
            </a:srgbClr>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07" name="Text 46"/>
          <p:cNvSpPr/>
          <p:nvPr/>
        </p:nvSpPr>
        <p:spPr>
          <a:xfrm>
            <a:off x="493920" y="384048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08" name="Text 47"/>
          <p:cNvSpPr/>
          <p:nvPr/>
        </p:nvSpPr>
        <p:spPr>
          <a:xfrm>
            <a:off x="841320" y="382212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Authentication on protected routes</a:t>
            </a:r>
            <a:endParaRPr b="0" lang="en-US" sz="1100" strike="noStrike" u="none">
              <a:solidFill>
                <a:srgbClr val="ffffff"/>
              </a:solidFill>
              <a:uFillTx/>
              <a:latin typeface="Arial"/>
            </a:endParaRPr>
          </a:p>
        </p:txBody>
      </p:sp>
      <p:sp>
        <p:nvSpPr>
          <p:cNvPr id="509" name="Shape 48"/>
          <p:cNvSpPr/>
          <p:nvPr/>
        </p:nvSpPr>
        <p:spPr>
          <a:xfrm>
            <a:off x="493920" y="4133160"/>
            <a:ext cx="255600" cy="219240"/>
          </a:xfrm>
          <a:prstGeom prst="roundRect">
            <a:avLst>
              <a:gd name="adj" fmla="val 16667"/>
            </a:avLst>
          </a:prstGeom>
          <a:solidFill>
            <a:srgbClr val="ef476f">
              <a:alpha val="45000"/>
            </a:srgbClr>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10" name="Text 49"/>
          <p:cNvSpPr/>
          <p:nvPr/>
        </p:nvSpPr>
        <p:spPr>
          <a:xfrm>
            <a:off x="493920" y="413316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11" name="Text 50"/>
          <p:cNvSpPr/>
          <p:nvPr/>
        </p:nvSpPr>
        <p:spPr>
          <a:xfrm>
            <a:off x="841320" y="411480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Authorization checks (user owns resource?)</a:t>
            </a:r>
            <a:endParaRPr b="0" lang="en-US" sz="1100" strike="noStrike" u="none">
              <a:solidFill>
                <a:srgbClr val="ffffff"/>
              </a:solidFill>
              <a:uFillTx/>
              <a:latin typeface="Arial"/>
            </a:endParaRPr>
          </a:p>
        </p:txBody>
      </p:sp>
      <p:sp>
        <p:nvSpPr>
          <p:cNvPr id="512" name="Shape 51"/>
          <p:cNvSpPr/>
          <p:nvPr/>
        </p:nvSpPr>
        <p:spPr>
          <a:xfrm>
            <a:off x="493920" y="4425840"/>
            <a:ext cx="255600" cy="219240"/>
          </a:xfrm>
          <a:prstGeom prst="roundRect">
            <a:avLst>
              <a:gd name="adj" fmla="val 16667"/>
            </a:avLst>
          </a:prstGeom>
          <a:solidFill>
            <a:srgbClr val="ef476f">
              <a:alpha val="45000"/>
            </a:srgbClr>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13" name="Text 52"/>
          <p:cNvSpPr/>
          <p:nvPr/>
        </p:nvSpPr>
        <p:spPr>
          <a:xfrm>
            <a:off x="493920" y="442584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14" name="Text 53"/>
          <p:cNvSpPr/>
          <p:nvPr/>
        </p:nvSpPr>
        <p:spPr>
          <a:xfrm>
            <a:off x="841320" y="440748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Rate limiting implemented</a:t>
            </a:r>
            <a:endParaRPr b="0" lang="en-US" sz="1100" strike="noStrike" u="none">
              <a:solidFill>
                <a:srgbClr val="ffffff"/>
              </a:solidFill>
              <a:uFillTx/>
              <a:latin typeface="Arial"/>
            </a:endParaRPr>
          </a:p>
        </p:txBody>
      </p:sp>
      <p:sp>
        <p:nvSpPr>
          <p:cNvPr id="515" name="Shape 54"/>
          <p:cNvSpPr/>
          <p:nvPr/>
        </p:nvSpPr>
        <p:spPr>
          <a:xfrm>
            <a:off x="493920" y="4718160"/>
            <a:ext cx="255600" cy="219240"/>
          </a:xfrm>
          <a:prstGeom prst="roundRect">
            <a:avLst>
              <a:gd name="adj" fmla="val 16667"/>
            </a:avLst>
          </a:prstGeom>
          <a:solidFill>
            <a:srgbClr val="ef476f">
              <a:alpha val="45000"/>
            </a:srgbClr>
          </a:solidFill>
          <a:ln w="12700">
            <a:solidFill>
              <a:srgbClr val="ef476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16" name="Text 55"/>
          <p:cNvSpPr/>
          <p:nvPr/>
        </p:nvSpPr>
        <p:spPr>
          <a:xfrm>
            <a:off x="493920" y="471816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17" name="Text 56"/>
          <p:cNvSpPr/>
          <p:nvPr/>
        </p:nvSpPr>
        <p:spPr>
          <a:xfrm>
            <a:off x="841320" y="470016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Input validation on all fields</a:t>
            </a:r>
            <a:endParaRPr b="0" lang="en-US" sz="1100" strike="noStrike" u="none">
              <a:solidFill>
                <a:srgbClr val="ffffff"/>
              </a:solidFill>
              <a:uFillTx/>
              <a:latin typeface="Arial"/>
            </a:endParaRPr>
          </a:p>
        </p:txBody>
      </p:sp>
      <p:sp>
        <p:nvSpPr>
          <p:cNvPr id="518" name="Shape 57"/>
          <p:cNvSpPr/>
          <p:nvPr/>
        </p:nvSpPr>
        <p:spPr>
          <a:xfrm>
            <a:off x="4700160" y="3108960"/>
            <a:ext cx="4132800" cy="1919880"/>
          </a:xfrm>
          <a:prstGeom prst="roundRect">
            <a:avLst>
              <a:gd name="adj" fmla="val 4762"/>
            </a:avLst>
          </a:prstGeom>
          <a:solidFill>
            <a:srgbClr val="13243a"/>
          </a:solidFill>
          <a:ln w="12700">
            <a:solidFill>
              <a:srgbClr val="ffd166">
                <a:alpha val="55000"/>
              </a:srgbClr>
            </a:solidFill>
            <a:round/>
          </a:ln>
          <a:effectLst>
            <a:outerShdw algn="bl" blurRad="127080" dir="2700000" dist="37674" rotWithShape="0">
              <a:srgbClr val="000000">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19" name="Shape 58"/>
          <p:cNvSpPr/>
          <p:nvPr/>
        </p:nvSpPr>
        <p:spPr>
          <a:xfrm>
            <a:off x="4700160" y="3108960"/>
            <a:ext cx="4132800" cy="347040"/>
          </a:xfrm>
          <a:prstGeom prst="roundRect">
            <a:avLst>
              <a:gd name="adj" fmla="val 21053"/>
            </a:avLst>
          </a:prstGeom>
          <a:solidFill>
            <a:srgbClr val="ffd166">
              <a:alpha val="75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520" name="Text 59"/>
          <p:cNvSpPr/>
          <p:nvPr/>
        </p:nvSpPr>
        <p:spPr>
          <a:xfrm>
            <a:off x="4809600" y="3108960"/>
            <a:ext cx="391320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fffff"/>
                </a:solidFill>
                <a:uFillTx/>
                <a:latin typeface="Calibri"/>
                <a:ea typeface="Calibri"/>
              </a:rPr>
              <a:t>Developer Experience</a:t>
            </a:r>
            <a:endParaRPr b="0" lang="en-US" sz="1250" strike="noStrike" u="none">
              <a:solidFill>
                <a:srgbClr val="ffffff"/>
              </a:solidFill>
              <a:uFillTx/>
              <a:latin typeface="Arial"/>
            </a:endParaRPr>
          </a:p>
        </p:txBody>
      </p:sp>
      <p:sp>
        <p:nvSpPr>
          <p:cNvPr id="521" name="Shape 60"/>
          <p:cNvSpPr/>
          <p:nvPr/>
        </p:nvSpPr>
        <p:spPr>
          <a:xfrm>
            <a:off x="4809600" y="3547800"/>
            <a:ext cx="255600" cy="219240"/>
          </a:xfrm>
          <a:prstGeom prst="roundRect">
            <a:avLst>
              <a:gd name="adj" fmla="val 16667"/>
            </a:avLst>
          </a:prstGeom>
          <a:solidFill>
            <a:srgbClr val="ffd166">
              <a:alpha val="45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522" name="Text 61"/>
          <p:cNvSpPr/>
          <p:nvPr/>
        </p:nvSpPr>
        <p:spPr>
          <a:xfrm>
            <a:off x="4809600" y="354780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23" name="Text 62"/>
          <p:cNvSpPr/>
          <p:nvPr/>
        </p:nvSpPr>
        <p:spPr>
          <a:xfrm>
            <a:off x="5157360" y="352944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API is versioned from day 1</a:t>
            </a:r>
            <a:endParaRPr b="0" lang="en-US" sz="1100" strike="noStrike" u="none">
              <a:solidFill>
                <a:srgbClr val="ffffff"/>
              </a:solidFill>
              <a:uFillTx/>
              <a:latin typeface="Arial"/>
            </a:endParaRPr>
          </a:p>
        </p:txBody>
      </p:sp>
      <p:sp>
        <p:nvSpPr>
          <p:cNvPr id="524" name="Shape 63"/>
          <p:cNvSpPr/>
          <p:nvPr/>
        </p:nvSpPr>
        <p:spPr>
          <a:xfrm>
            <a:off x="4809600" y="3840480"/>
            <a:ext cx="255600" cy="219240"/>
          </a:xfrm>
          <a:prstGeom prst="roundRect">
            <a:avLst>
              <a:gd name="adj" fmla="val 16667"/>
            </a:avLst>
          </a:prstGeom>
          <a:solidFill>
            <a:srgbClr val="ffd166">
              <a:alpha val="45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525" name="Text 64"/>
          <p:cNvSpPr/>
          <p:nvPr/>
        </p:nvSpPr>
        <p:spPr>
          <a:xfrm>
            <a:off x="4809600" y="384048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26" name="Text 65"/>
          <p:cNvSpPr/>
          <p:nvPr/>
        </p:nvSpPr>
        <p:spPr>
          <a:xfrm>
            <a:off x="5157360" y="382212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Pagination on all list endpoints</a:t>
            </a:r>
            <a:endParaRPr b="0" lang="en-US" sz="1100" strike="noStrike" u="none">
              <a:solidFill>
                <a:srgbClr val="ffffff"/>
              </a:solidFill>
              <a:uFillTx/>
              <a:latin typeface="Arial"/>
            </a:endParaRPr>
          </a:p>
        </p:txBody>
      </p:sp>
      <p:sp>
        <p:nvSpPr>
          <p:cNvPr id="527" name="Shape 66"/>
          <p:cNvSpPr/>
          <p:nvPr/>
        </p:nvSpPr>
        <p:spPr>
          <a:xfrm>
            <a:off x="4809600" y="4133160"/>
            <a:ext cx="255600" cy="219240"/>
          </a:xfrm>
          <a:prstGeom prst="roundRect">
            <a:avLst>
              <a:gd name="adj" fmla="val 16667"/>
            </a:avLst>
          </a:prstGeom>
          <a:solidFill>
            <a:srgbClr val="ffd166">
              <a:alpha val="45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528" name="Text 67"/>
          <p:cNvSpPr/>
          <p:nvPr/>
        </p:nvSpPr>
        <p:spPr>
          <a:xfrm>
            <a:off x="4809600" y="413316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29" name="Text 68"/>
          <p:cNvSpPr/>
          <p:nvPr/>
        </p:nvSpPr>
        <p:spPr>
          <a:xfrm>
            <a:off x="5157360" y="411480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Consistent error response format</a:t>
            </a:r>
            <a:endParaRPr b="0" lang="en-US" sz="1100" strike="noStrike" u="none">
              <a:solidFill>
                <a:srgbClr val="ffffff"/>
              </a:solidFill>
              <a:uFillTx/>
              <a:latin typeface="Arial"/>
            </a:endParaRPr>
          </a:p>
        </p:txBody>
      </p:sp>
      <p:sp>
        <p:nvSpPr>
          <p:cNvPr id="530" name="Shape 69"/>
          <p:cNvSpPr/>
          <p:nvPr/>
        </p:nvSpPr>
        <p:spPr>
          <a:xfrm>
            <a:off x="4809600" y="4425840"/>
            <a:ext cx="255600" cy="219240"/>
          </a:xfrm>
          <a:prstGeom prst="roundRect">
            <a:avLst>
              <a:gd name="adj" fmla="val 16667"/>
            </a:avLst>
          </a:prstGeom>
          <a:solidFill>
            <a:srgbClr val="ffd166">
              <a:alpha val="45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531" name="Text 70"/>
          <p:cNvSpPr/>
          <p:nvPr/>
        </p:nvSpPr>
        <p:spPr>
          <a:xfrm>
            <a:off x="4809600" y="442584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32" name="Text 71"/>
          <p:cNvSpPr/>
          <p:nvPr/>
        </p:nvSpPr>
        <p:spPr>
          <a:xfrm>
            <a:off x="5157360" y="440748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OpenAPI/Swagger docs generated</a:t>
            </a:r>
            <a:endParaRPr b="0" lang="en-US" sz="1100" strike="noStrike" u="none">
              <a:solidFill>
                <a:srgbClr val="ffffff"/>
              </a:solidFill>
              <a:uFillTx/>
              <a:latin typeface="Arial"/>
            </a:endParaRPr>
          </a:p>
        </p:txBody>
      </p:sp>
      <p:sp>
        <p:nvSpPr>
          <p:cNvPr id="533" name="Shape 72"/>
          <p:cNvSpPr/>
          <p:nvPr/>
        </p:nvSpPr>
        <p:spPr>
          <a:xfrm>
            <a:off x="4809600" y="4718160"/>
            <a:ext cx="255600" cy="219240"/>
          </a:xfrm>
          <a:prstGeom prst="roundRect">
            <a:avLst>
              <a:gd name="adj" fmla="val 16667"/>
            </a:avLst>
          </a:prstGeom>
          <a:solidFill>
            <a:srgbClr val="ffd166">
              <a:alpha val="45000"/>
            </a:srgbClr>
          </a:solidFill>
          <a:ln w="12700">
            <a:solidFill>
              <a:srgbClr val="ffd16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uFillTx/>
              <a:latin typeface="Arial"/>
            </a:endParaRPr>
          </a:p>
        </p:txBody>
      </p:sp>
      <p:sp>
        <p:nvSpPr>
          <p:cNvPr id="534" name="Text 73"/>
          <p:cNvSpPr/>
          <p:nvPr/>
        </p:nvSpPr>
        <p:spPr>
          <a:xfrm>
            <a:off x="4809600" y="4718160"/>
            <a:ext cx="25560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uFillTx/>
                <a:latin typeface="Calibri"/>
                <a:ea typeface="Calibri"/>
              </a:rPr>
              <a:t>✓</a:t>
            </a:r>
            <a:endParaRPr b="0" lang="en-US" sz="1000" strike="noStrike" u="none">
              <a:solidFill>
                <a:srgbClr val="ffffff"/>
              </a:solidFill>
              <a:uFillTx/>
              <a:latin typeface="Arial"/>
            </a:endParaRPr>
          </a:p>
        </p:txBody>
      </p:sp>
      <p:sp>
        <p:nvSpPr>
          <p:cNvPr id="535" name="Text 74"/>
          <p:cNvSpPr/>
          <p:nvPr/>
        </p:nvSpPr>
        <p:spPr>
          <a:xfrm>
            <a:off x="5157360" y="4700160"/>
            <a:ext cx="3547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d8eef8"/>
                </a:solidFill>
                <a:uFillTx/>
                <a:latin typeface="Calibri"/>
                <a:ea typeface="Calibri"/>
              </a:rPr>
              <a:t>README with getting-started guide</a:t>
            </a:r>
            <a:endParaRPr b="0" lang="en-US" sz="11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926"/>
        </a:solidFill>
      </p:bgPr>
    </p:bg>
    <p:spTree>
      <p:nvGrpSpPr>
        <p:cNvPr id="1" name=""/>
        <p:cNvGrpSpPr/>
        <p:nvPr/>
      </p:nvGrpSpPr>
      <p:grpSpPr>
        <a:xfrm>
          <a:off x="0" y="0"/>
          <a:ext cx="0" cy="0"/>
          <a:chOff x="0" y="0"/>
          <a:chExt cx="0" cy="0"/>
        </a:xfrm>
      </p:grpSpPr>
      <p:sp>
        <p:nvSpPr>
          <p:cNvPr id="536" name="Shape 0"/>
          <p:cNvSpPr/>
          <p:nvPr/>
        </p:nvSpPr>
        <p:spPr>
          <a:xfrm>
            <a:off x="6400800" y="-914400"/>
            <a:ext cx="5028840" cy="5028840"/>
          </a:xfrm>
          <a:prstGeom prst="ellipse">
            <a:avLst/>
          </a:prstGeom>
          <a:solidFill>
            <a:srgbClr val="0077b6">
              <a:alpha val="18000"/>
            </a:srgbClr>
          </a:solidFill>
          <a:ln w="12700">
            <a:solidFill>
              <a:srgbClr val="0077b6">
                <a:alpha val="18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uFillTx/>
              <a:latin typeface="Arial"/>
            </a:endParaRPr>
          </a:p>
        </p:txBody>
      </p:sp>
      <p:sp>
        <p:nvSpPr>
          <p:cNvPr id="537" name="Text 2"/>
          <p:cNvSpPr/>
          <p:nvPr/>
        </p:nvSpPr>
        <p:spPr>
          <a:xfrm>
            <a:off x="2823840" y="179460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trike="noStrike" u="none">
                <a:solidFill>
                  <a:srgbClr val="ffffff"/>
                </a:solidFill>
                <a:uFillTx/>
                <a:latin typeface="Calibri"/>
                <a:ea typeface="Calibri"/>
              </a:rPr>
              <a:t>Thank You! 🙏</a:t>
            </a:r>
            <a:endParaRPr b="0" lang="en-US" sz="4400" strike="noStrike" u="none">
              <a:solidFill>
                <a:srgbClr val="ffffff"/>
              </a:solidFill>
              <a:uFillTx/>
              <a:latin typeface="Arial"/>
            </a:endParaRPr>
          </a:p>
        </p:txBody>
      </p:sp>
      <p:sp>
        <p:nvSpPr>
          <p:cNvPr id="538" name="Text 3"/>
          <p:cNvSpPr/>
          <p:nvPr/>
        </p:nvSpPr>
        <p:spPr>
          <a:xfrm>
            <a:off x="2353320" y="271116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400" strike="noStrike" u="none">
                <a:solidFill>
                  <a:srgbClr val="00c9e0"/>
                </a:solidFill>
                <a:uFillTx/>
                <a:latin typeface="Calibri"/>
                <a:ea typeface="Calibri"/>
              </a:rPr>
              <a:t>"APIs are the language computers use to talk to each other."</a:t>
            </a:r>
            <a:endParaRPr b="0" lang="en-US" sz="1400" strike="noStrike" u="none">
              <a:solidFill>
                <a:srgbClr val="ffffff"/>
              </a:solidFill>
              <a:uFillTx/>
              <a:latin typeface="Arial"/>
            </a:endParaRPr>
          </a:p>
        </p:txBody>
      </p:sp>
      <p:sp>
        <p:nvSpPr>
          <p:cNvPr id="539" name="Shape 4"/>
          <p:cNvSpPr/>
          <p:nvPr/>
        </p:nvSpPr>
        <p:spPr>
          <a:xfrm>
            <a:off x="457200" y="3063240"/>
            <a:ext cx="8229240" cy="27000"/>
          </a:xfrm>
          <a:prstGeom prst="rect">
            <a:avLst/>
          </a:prstGeom>
          <a:solidFill>
            <a:srgbClr val="0077b6">
              <a:alpha val="60000"/>
            </a:srgbClr>
          </a:solidFill>
          <a:ln w="12700">
            <a:solidFill>
              <a:srgbClr val="0077b6">
                <a:alpha val="60000"/>
              </a:srgbClr>
            </a:solidFill>
            <a:round/>
          </a:ln>
        </p:spPr>
        <p:style>
          <a:lnRef idx="0"/>
          <a:fillRef idx="0"/>
          <a:effectRef idx="0"/>
          <a:fontRef idx="minor"/>
        </p:style>
        <p:txBody>
          <a:bodyPr lIns="90000" rIns="90000" tIns="-17640" bIns="-17640" anchor="t">
            <a:noAutofit/>
          </a:bodyPr>
          <a:p>
            <a:endParaRPr b="0" lang="en-US" sz="1800" strike="noStrike" u="none">
              <a:solidFill>
                <a:srgbClr val="ffffff"/>
              </a:solidFill>
              <a:uFillTx/>
              <a:latin typeface="Arial"/>
            </a:endParaRPr>
          </a:p>
        </p:txBody>
      </p:sp>
      <p:sp>
        <p:nvSpPr>
          <p:cNvPr id="540" name="Text 49"/>
          <p:cNvSpPr/>
          <p:nvPr/>
        </p:nvSpPr>
        <p:spPr>
          <a:xfrm>
            <a:off x="548640" y="3461040"/>
            <a:ext cx="804636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00c9e0"/>
                </a:solidFill>
                <a:uFillTx/>
                <a:latin typeface="Calibri"/>
                <a:ea typeface="Calibri"/>
              </a:rPr>
              <a:t>If u have Any Questions. Feel free to google it</a:t>
            </a:r>
            <a:endParaRPr b="0" lang="en-US" sz="13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54</TotalTime>
  <Application>LibreOfficeDev/24.8.7.2.0$Android_AARCH64 LibreOffice_project/</Application>
  <AppVersion>15.0000</AppVersion>
  <Words>2360</Words>
  <Paragraphs>410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2026-06-15T06:25:42Z</dcterms:created>
  <dc:creator>PptxGenJS</dc:creator>
  <dc:description/>
  <dc:language>en-US</dc:language>
  <cp:lastModifiedBy>Abhishek Pandey</cp:lastModifiedBy>
  <dcterms:modified xsi:type="dcterms:W3CDTF">2026-06-16T15:05:18Z</dcterms:modified>
  <cp:revision>2</cp:revision>
  <dc:subject>PptxGenJS Presentation</dc:subject>
  <dc:title>REST APIs: Demystified</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(16:9)</vt:lpwstr>
  </property>
  <property fmtid="{D5CDD505-2E9C-101B-9397-08002B2CF9AE}" pid="4" name="Slides">
    <vt:i4>16</vt:i4>
  </property>
</Properties>
</file>